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Bienvenida. Encuadrar el proyecto: clasificación de sentimiento (positivo/negativo/neutral) sobre tweets, usando Sentiment140, comparando modelos clásicos de NLP entrenados por el equipo contra un modelo pre-entrenado (TextBlob). Adelantar que la presentación no sólo muestra resultados sino que justifica cada decisión metodológica, porque eso es lo que normalmente indagan los profesores.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Recorrido rápido de la agenda. Mencionar que la última sección (Preguntas y respuestas) queda como material de apoyo para la ronda de preguntas, no para presentar en el tiempo asignado.</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objetivo no es sólo 'lograr accuracy alto', sino demostrar la comparación metodológica: modelos propios entrenados en clase vs. un modelo pre-entrenado, y usar al menos una métrica de similitud semántica (requisito explícito de la consigna). Estas tres clases (positivo/neutral/negativo) son el eje de todo el análisis posterior.</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es la diapositiva más importante para anticipar preguntas de profesores: el train NUNCA tiene clase neutral, así que cualquier modelo entrenado sólo con ese archivo estructuralmente no puede aprender a reconocer la clase 2. El test manual es la única fuente con las 3 clases, por eso se usa como evaluación final. Esta asimetría es la causa raíz de casi todos los resultados que se muestran después, especialmente por qué TextBlob (que no depende de este train) termina generalizando mejor a la clase neutral.</a:t>
            </a:r>
            <a:endParaRPr/>
          </a:p>
        </p:txBody>
      </p:sp>
      <p:sp>
        <p:nvSpPr>
          <p:cNvPr id="85" name="Google Shape;8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EDA hecho antes de modelar: isna().sum(), duplicated().sum(), value_counts(). El balance 50/50 en el train es un dato de diseño del propio dataset (Sentiment140 fue armado balanceado), no una casualidad ni una decisión nuestra.</a:t>
            </a:r>
            <a:endParaRPr/>
          </a:p>
        </p:txBody>
      </p:sp>
      <p:sp>
        <p:nvSpPr>
          <p:cNvPr id="121" name="Google Shape;12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Decisión de performance clave que puede preguntarse: se usó regex + NLTK en vez de spaCy token por token, porque aplicar el pipeline completo de spaCy (tokenizer+tagger+parser) 1.6M de veces con .apply() es mucho más lento. spaCy quedó reservado para una lematización opcional en batch (nlp.pipe) o sobre una muestra. El símbolo de hashtag se quita pero la palabra se conserva a propósito, porque suele llevar carga de sentimiento.</a:t>
            </a:r>
            <a:endParaRPr/>
          </a:p>
        </p:txBody>
      </p:sp>
      <p:sp>
        <p:nvSpPr>
          <p:cNvPr id="145" name="Google Shape;14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stratify=y: sin esto, por azar el split podría desbalancear las clases entre train y validación. random_state=42 es sólo una convención (viene de 'la respuesta a la vida, el universo y todo lo demás' de Los autoestopistas galácticos) — lo importante no es el valor sino fijarlo, para que todos los modelos se entrenen y evalúen sobre el mismo split y la comparación sea justa.</a:t>
            </a:r>
            <a:endParaRPr/>
          </a:p>
        </p:txBody>
      </p:sp>
      <p:sp>
        <p:nvSpPr>
          <p:cNvPr id="174" name="Google Shape;17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Los cuatro se evalúan exactamente sobre el mismo test manual de 498 tweets, lo que hace la comparación justa. Notar que sólo TextBlob no depende del train (por eso puede reconocer la clase neutral); los otros tres aprenden únicamente de tweets 0/4.</a:t>
            </a:r>
            <a:endParaRPr/>
          </a:p>
        </p:txBody>
      </p:sp>
      <p:sp>
        <p:nvSpPr>
          <p:cNvPr id="195" name="Google Shape;19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TextBlob NO es un modelo que entrenamos: usa un diccionario de polaridad genérico. Por eso puede predecir la clase neutral sin problema, mientras que nuestros modelos entrenados nunca vieron esa clase. Esta es la explicación central de por qué termina siendo, paradójicamente, el mejor resultado en accuracy sobre el test manual.</a:t>
            </a:r>
            <a:endParaRPr/>
          </a:p>
        </p:txBody>
      </p:sp>
      <p:sp>
        <p:nvSpPr>
          <p:cNvPr id="228" name="Google Shape;22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Entrenado únicamente con clases 0/4 del set de 1.6M. El F1 macro (0.455) es notablemente más bajo que el accuracy (0.584) porque el reporte incluye la clase neutral, donde precision y recall dan 0.00 — el modelo nunca aprendió a reconocerla.</a:t>
            </a:r>
            <a:endParaRPr/>
          </a:p>
        </p:txBody>
      </p:sp>
      <p:sp>
        <p:nvSpPr>
          <p:cNvPr id="248" name="Google Shape;2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Fue el modelo más 'sofisticado' de los tres en términos de features (bigramas + ponderación TF-IDF), pero terminó siendo el de menor accuracy en el test manual — un buen disparador de preguntas ('¿por qué el modelo con más features no ganó?'). Ver slide de hallazgo clave y la sección de Q&amp;A.</a:t>
            </a:r>
            <a:endParaRPr/>
          </a:p>
        </p:txBody>
      </p:sp>
      <p:sp>
        <p:nvSpPr>
          <p:cNvPr id="268" name="Google Shape;26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 el modelo que además se reutiliza en la sección de métricas de embeddings (similitud coseno, analogías, PPMI) — por eso el Word2Vec se entrena sobre el corpus completo de tweets, más allá del clasificador que se construye encima.</a:t>
            </a:r>
            <a:endParaRPr/>
          </a:p>
        </p:txBody>
      </p:sp>
      <p:sp>
        <p:nvSpPr>
          <p:cNvPr id="288" name="Google Shape;28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Hallazgo central de todo el trabajo: TextBlob, que NO se entrenó con nuestros datos, superó a los tres modelos propios tanto en accuracy como en F1 macro. La brecha es más marcada en F1 macro (0.61 vs ~0.45) que en accuracy, precisamente porque F1 macro castiga con fuerza el desempeño nulo en la clase neutral. Pasar a la siguiente slide para la explicación completa.</a:t>
            </a:r>
            <a:endParaRPr/>
          </a:p>
        </p:txBody>
      </p:sp>
      <p:sp>
        <p:nvSpPr>
          <p:cNvPr id="308" name="Google Shape;30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Este es el resultado más 'contraintuitivo' del trabajo y el que más probablemente indague la cátedra: un modelo simple no entrenado por nosotros supera a modelos entrenados con 1.6M de ejemplos. La explicación no es que TextBlob sea 'mejor NLP' en general, sino que el diseño del experimento (train sin neutral, evaluación con neutral) estructuralmente favorece a cualquier enfoque que no dependa de ese train. Ver también la sección de Q&amp;A para la pregunta sobre si el accuracy general (56-62%) es más bajo de lo esperado para este dataset.</a:t>
            </a:r>
            <a:endParaRPr/>
          </a:p>
        </p:txBody>
      </p:sp>
      <p:sp>
        <p:nvSpPr>
          <p:cNvPr id="318" name="Google Shape;31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similarity() calcula el coseno del ángulo entre dos vectores: 1 = misma dirección, 0 = sin relación. Los tres pares muestran un espacio de embeddings coherente: sinónimos más cerca que antónimos, y antónimos emocionalmente más 'fuertes' (love/hate) aún más lejos que antónimos simples (good/bad).</a:t>
            </a:r>
            <a:endParaRPr/>
          </a:p>
        </p:txBody>
      </p:sp>
      <p:sp>
        <p:nvSpPr>
          <p:cNvPr id="340" name="Google Shape;34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most_similar(positive=['good','sad'], negative=['happy']) replica la lógica de las analogías vectoriales vistas en clase. Notar que 'saaaaad' (con letras repetidas, típico de tweets) aparece primero — evidencia de que el vocabulario aprendido es específico del lenguaje informal de Twitter, no un corpus genérico.</a:t>
            </a:r>
            <a:endParaRPr/>
          </a:p>
        </p:txBody>
      </p:sp>
      <p:sp>
        <p:nvSpPr>
          <p:cNvPr id="368" name="Google Shape;36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Punto de atención para preguntas: PPMI alto entre antónimos NO es un error del modelo. PPMI = log2(frecuencia observada conjunta / frecuencia esperada bajo independencia), recortado a 0 si da negativo. No captura dirección semántica, sólo frecuencia de aparición conjunta. Por eso en la guía se pidió usar coseno Y/O PPMI como métricas complementarias.</a:t>
            </a:r>
            <a:endParaRPr/>
          </a:p>
        </p:txBody>
      </p:sp>
      <p:sp>
        <p:nvSpPr>
          <p:cNvPr id="393" name="Google Shape;39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Estos tres ejemplos vienen de errores_mal (tweets del test manual mal clasificados por el mejor modelo, TextBlob). Sirven para mostrar limitaciones concretas: sarcasmo/contraste implícito, tweets puramente informativos, y polaridad léxica débil en palabras coloquiales.</a:t>
            </a:r>
            <a:endParaRPr/>
          </a:p>
        </p:txBody>
      </p:sp>
      <p:sp>
        <p:nvSpPr>
          <p:cNvPr id="412" name="Google Shape;41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Patrón que se repite en los 5 ejemplos: sarcasmo, negación implícita, sentimiento mixto/progresivo y polaridad léxica débil son los cuatro tipos de error más comunes. Ningún modelo de los cuatro (ni siquiera TextBlob) maneja bien estos casos — es una limitación de todo el enfoque léxico/estadístico, no de una implementación puntual.</a:t>
            </a:r>
            <a:endParaRPr/>
          </a:p>
        </p:txBody>
      </p:sp>
      <p:sp>
        <p:nvSpPr>
          <p:cNvPr id="451" name="Google Shape;45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Reconocer limitaciones explícitamente es parte de la evaluación académica: mostrar que las decisiones de muestreo fueron conscientes y justificadas por cómputo, no atajos ocultos.</a:t>
            </a:r>
            <a:endParaRPr/>
          </a:p>
        </p:txBody>
      </p:sp>
      <p:sp>
        <p:nvSpPr>
          <p:cNvPr id="480" name="Google Shape;48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Estos próximos pasos responden directamente a las limitaciones de la slide anterior: transformers y embeddings alternativos atacan la calidad semántica; clasificación multiclase ataca el problema estructural de la clase neutral; tuning de hiperparámetros es la mejora incremental más barata de probar primero.</a:t>
            </a:r>
            <a:endParaRPr/>
          </a:p>
        </p:txBody>
      </p:sp>
      <p:sp>
        <p:nvSpPr>
          <p:cNvPr id="504" name="Google Shape;50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Cierre de la sección de contenido. Recapitular estos 4 puntos en voz alta antes de pasar a la sección de preguntas y respuestas anticipadas.</a:t>
            </a:r>
            <a:endParaRPr/>
          </a:p>
        </p:txBody>
      </p:sp>
      <p:sp>
        <p:nvSpPr>
          <p:cNvPr id="533" name="Google Shape;53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divisoria. A partir de acá, cada slide tiene una pregunta probable + la respuesta ya armada, para usar como referencia rápida durante la ronda de preguntas.</a:t>
            </a:r>
            <a:endParaRPr/>
          </a:p>
        </p:txBody>
      </p:sp>
      <p:sp>
        <p:nvSpPr>
          <p:cNvPr id="550" name="Google Shape;55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Pregunta más incómoda y más probable. Responder con seguridad: reconocer el gap, explicar las dos causas plausibles, y mostrar que ya se identificó una acción concreta de verificación. Eso demuestra pensamiento crítico, que es lo que se evalúa.</a:t>
            </a:r>
            <a:endParaRPr/>
          </a:p>
        </p:txBody>
      </p:sp>
      <p:sp>
        <p:nvSpPr>
          <p:cNvPr id="559" name="Google Shape;55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Enfatizar: es un resultado esperable y explicable, no un fallo del proyecto. Mostrar la slide de 'Hallazgo clave' si preguntan esto en vivo.</a:t>
            </a:r>
            <a:endParaRPr/>
          </a:p>
        </p:txBody>
      </p:sp>
      <p:sp>
        <p:nvSpPr>
          <p:cNvPr id="574" name="Google Shape;57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Dejar claro que se identificó el problema y se documentó como limitación (sección de Limitaciones), no que se lo ignoró.</a:t>
            </a:r>
            <a:endParaRPr/>
          </a:p>
        </p:txBody>
      </p:sp>
      <p:sp>
        <p:nvSpPr>
          <p:cNvPr id="589" name="Google Shape;58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Buena oportunidad para mostrar que se entendió la diferencia conceptual entre ambas métricas, no sólo que se calcularon.</a:t>
            </a:r>
            <a:endParaRPr/>
          </a:p>
        </p:txBody>
      </p:sp>
      <p:sp>
        <p:nvSpPr>
          <p:cNvPr id="604" name="Google Shape;60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Mostrar que la distinción entre 'modelos que se entrenan' y 'métricas de inspección' fue una decisión consciente, documentada en la guía de resolución del trabajo.</a:t>
            </a:r>
            <a:endParaRPr/>
          </a:p>
        </p:txBody>
      </p:sp>
      <p:sp>
        <p:nvSpPr>
          <p:cNvPr id="619" name="Google Shape;61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Responde también indirectamente por qué el Word2Vec (no el clasificador que se le puso encima) funcionó bien en las métricas de embeddings de la sección 4.</a:t>
            </a:r>
            <a:endParaRPr/>
          </a:p>
        </p:txBody>
      </p:sp>
      <p:sp>
        <p:nvSpPr>
          <p:cNvPr id="634" name="Google Shape;63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Dejar claro que no es 'otro modelo', es la misma familia de modelo (regresión logística) con un optimizador distinto, elegido por motivos de escala.</a:t>
            </a:r>
            <a:endParaRPr/>
          </a:p>
        </p:txBody>
      </p:sp>
      <p:sp>
        <p:nvSpPr>
          <p:cNvPr id="649" name="Google Shape;64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Cierre fuerte: mostrar que el equipo ya tiene un plan concreto y priorizado, no una lista genérica de 'cosas que se podrían hacer'.</a:t>
            </a:r>
            <a:endParaRPr/>
          </a:p>
        </p:txBody>
      </p:sp>
      <p:sp>
        <p:nvSpPr>
          <p:cNvPr id="664" name="Google Shape;66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A"/>
        </a:solidFill>
      </p:bgPr>
    </p:bg>
    <p:spTree>
      <p:nvGrpSpPr>
        <p:cNvPr id="15" name="Shape 15"/>
        <p:cNvGrpSpPr/>
        <p:nvPr/>
      </p:nvGrpSpPr>
      <p:grpSpPr>
        <a:xfrm>
          <a:off x="0" y="0"/>
          <a:ext cx="0" cy="0"/>
          <a:chOff x="0" y="0"/>
          <a:chExt cx="0" cy="0"/>
        </a:xfrm>
      </p:grpSpPr>
      <p:sp>
        <p:nvSpPr>
          <p:cNvPr id="16" name="Google Shape;16;p3"/>
          <p:cNvSpPr/>
          <p:nvPr/>
        </p:nvSpPr>
        <p:spPr>
          <a:xfrm>
            <a:off x="9692640" y="-1463040"/>
            <a:ext cx="4754880" cy="4754880"/>
          </a:xfrm>
          <a:prstGeom prst="ellipse">
            <a:avLst/>
          </a:prstGeom>
          <a:solidFill>
            <a:srgbClr val="13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789920" y="4206240"/>
            <a:ext cx="2926080" cy="2926080"/>
          </a:xfrm>
          <a:prstGeom prst="ellipse">
            <a:avLst/>
          </a:prstGeom>
          <a:solidFill>
            <a:srgbClr val="13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640080" y="640080"/>
            <a:ext cx="384048" cy="384048"/>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94360" y="640080"/>
            <a:ext cx="4754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0" name="Google Shape;20;p3"/>
          <p:cNvSpPr/>
          <p:nvPr/>
        </p:nvSpPr>
        <p:spPr>
          <a:xfrm>
            <a:off x="1143000" y="640080"/>
            <a:ext cx="384048" cy="384048"/>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097280" y="640080"/>
            <a:ext cx="4754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2" name="Google Shape;22;p3"/>
          <p:cNvSpPr/>
          <p:nvPr/>
        </p:nvSpPr>
        <p:spPr>
          <a:xfrm>
            <a:off x="1645920" y="640080"/>
            <a:ext cx="384048" cy="384048"/>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1600200" y="640080"/>
            <a:ext cx="4754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4" name="Google Shape;24;p3"/>
          <p:cNvSpPr/>
          <p:nvPr/>
        </p:nvSpPr>
        <p:spPr>
          <a:xfrm>
            <a:off x="640080" y="233172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400"/>
              <a:buFont typeface="Calibri"/>
              <a:buNone/>
            </a:pPr>
            <a:r>
              <a:rPr b="1" i="0" lang="en-US" sz="1400" u="none" cap="none" strike="noStrike">
                <a:solidFill>
                  <a:srgbClr val="1D9BF0"/>
                </a:solidFill>
                <a:latin typeface="Calibri"/>
                <a:ea typeface="Calibri"/>
                <a:cs typeface="Calibri"/>
                <a:sym typeface="Calibri"/>
              </a:rPr>
              <a:t>SEGUNDO SPRINT · PROYECTO NLP</a:t>
            </a:r>
            <a:endParaRPr b="0" i="0" sz="1400" u="none" cap="none" strike="noStrike">
              <a:solidFill>
                <a:schemeClr val="dk1"/>
              </a:solidFill>
              <a:latin typeface="Calibri"/>
              <a:ea typeface="Calibri"/>
              <a:cs typeface="Calibri"/>
              <a:sym typeface="Calibri"/>
            </a:endParaRPr>
          </a:p>
        </p:txBody>
      </p:sp>
      <p:sp>
        <p:nvSpPr>
          <p:cNvPr id="25" name="Google Shape;25;p3"/>
          <p:cNvSpPr/>
          <p:nvPr/>
        </p:nvSpPr>
        <p:spPr>
          <a:xfrm>
            <a:off x="640080" y="2743200"/>
            <a:ext cx="105156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Análisis de Sentimiento en Tweets</a:t>
            </a:r>
            <a:endParaRPr b="0" i="0" sz="4400" u="none" cap="none" strike="noStrike">
              <a:solidFill>
                <a:schemeClr val="dk1"/>
              </a:solidFill>
              <a:latin typeface="Calibri"/>
              <a:ea typeface="Calibri"/>
              <a:cs typeface="Calibri"/>
              <a:sym typeface="Calibri"/>
            </a:endParaRPr>
          </a:p>
        </p:txBody>
      </p:sp>
      <p:sp>
        <p:nvSpPr>
          <p:cNvPr id="26" name="Google Shape;26;p3"/>
          <p:cNvSpPr/>
          <p:nvPr/>
        </p:nvSpPr>
        <p:spPr>
          <a:xfrm>
            <a:off x="640080" y="3794760"/>
            <a:ext cx="9601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700"/>
              <a:buFont typeface="Calibri"/>
              <a:buNone/>
            </a:pPr>
            <a:r>
              <a:rPr b="0" i="0" lang="en-US" sz="1700" u="none" cap="none" strike="noStrike">
                <a:solidFill>
                  <a:srgbClr val="C7D6E5"/>
                </a:solidFill>
                <a:latin typeface="Calibri"/>
                <a:ea typeface="Calibri"/>
                <a:cs typeface="Calibri"/>
                <a:sym typeface="Calibri"/>
              </a:rPr>
              <a:t>Dataset Sentiment140 — decisiones de diseño, modelos entrenados y resultados</a:t>
            </a:r>
            <a:endParaRPr b="0" i="0" sz="1700" u="none" cap="none" strike="noStrike">
              <a:solidFill>
                <a:schemeClr val="dk1"/>
              </a:solidFill>
              <a:latin typeface="Calibri"/>
              <a:ea typeface="Calibri"/>
              <a:cs typeface="Calibri"/>
              <a:sym typeface="Calibri"/>
            </a:endParaRPr>
          </a:p>
        </p:txBody>
      </p:sp>
      <p:sp>
        <p:nvSpPr>
          <p:cNvPr id="27" name="Google Shape;27;p3"/>
          <p:cNvSpPr/>
          <p:nvPr/>
        </p:nvSpPr>
        <p:spPr>
          <a:xfrm>
            <a:off x="640080" y="612648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200"/>
              <a:buFont typeface="Calibri"/>
              <a:buNone/>
            </a:pPr>
            <a:r>
              <a:rPr b="0" i="1" lang="en-US" sz="1200" u="none" cap="none" strike="noStrike">
                <a:solidFill>
                  <a:srgbClr val="8CA0B3"/>
                </a:solidFill>
                <a:latin typeface="Calibri"/>
                <a:ea typeface="Calibri"/>
                <a:cs typeface="Calibri"/>
                <a:sym typeface="Calibri"/>
              </a:rPr>
              <a:t>Presentación de resultados  ·  Preparada para defensa oral ante el cuerpo docente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A"/>
        </a:solidFill>
      </p:bgPr>
    </p:bg>
    <p:spTree>
      <p:nvGrpSpPr>
        <p:cNvPr id="32" name="Shape 32"/>
        <p:cNvGrpSpPr/>
        <p:nvPr/>
      </p:nvGrpSpPr>
      <p:grpSpPr>
        <a:xfrm>
          <a:off x="0" y="0"/>
          <a:ext cx="0" cy="0"/>
          <a:chOff x="0" y="0"/>
          <a:chExt cx="0" cy="0"/>
        </a:xfrm>
      </p:grpSpPr>
      <p:sp>
        <p:nvSpPr>
          <p:cNvPr id="33" name="Google Shape;33;p4"/>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AGENDA</a:t>
            </a:r>
            <a:endParaRPr b="0" i="0" sz="1200" u="none" cap="none" strike="noStrike">
              <a:solidFill>
                <a:schemeClr val="dk1"/>
              </a:solidFill>
              <a:latin typeface="Calibri"/>
              <a:ea typeface="Calibri"/>
              <a:cs typeface="Calibri"/>
              <a:sym typeface="Calibri"/>
            </a:endParaRPr>
          </a:p>
        </p:txBody>
      </p:sp>
      <p:sp>
        <p:nvSpPr>
          <p:cNvPr id="34" name="Google Shape;34;p4"/>
          <p:cNvSpPr/>
          <p:nvPr/>
        </p:nvSpPr>
        <p:spPr>
          <a:xfrm>
            <a:off x="548640" y="731520"/>
            <a:ext cx="9144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Qué vamos a recorrer</a:t>
            </a:r>
            <a:endParaRPr b="0" i="0" sz="3000" u="none" cap="none" strike="noStrike">
              <a:solidFill>
                <a:schemeClr val="dk1"/>
              </a:solidFill>
              <a:latin typeface="Calibri"/>
              <a:ea typeface="Calibri"/>
              <a:cs typeface="Calibri"/>
              <a:sym typeface="Calibri"/>
            </a:endParaRPr>
          </a:p>
        </p:txBody>
      </p:sp>
      <p:sp>
        <p:nvSpPr>
          <p:cNvPr id="35" name="Google Shape;35;p4"/>
          <p:cNvSpPr/>
          <p:nvPr/>
        </p:nvSpPr>
        <p:spPr>
          <a:xfrm>
            <a:off x="548640" y="1783080"/>
            <a:ext cx="8229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2600"/>
              <a:buFont typeface="Cambria"/>
              <a:buNone/>
            </a:pPr>
            <a:r>
              <a:rPr b="1" i="0" lang="en-US" sz="2600" u="none" cap="none" strike="noStrike">
                <a:solidFill>
                  <a:srgbClr val="1D9BF0"/>
                </a:solidFill>
                <a:latin typeface="Cambria"/>
                <a:ea typeface="Cambria"/>
                <a:cs typeface="Cambria"/>
                <a:sym typeface="Cambria"/>
              </a:rPr>
              <a:t>01</a:t>
            </a:r>
            <a:endParaRPr b="0" i="0" sz="2600" u="none" cap="none" strike="noStrike">
              <a:solidFill>
                <a:schemeClr val="dk1"/>
              </a:solidFill>
              <a:latin typeface="Calibri"/>
              <a:ea typeface="Calibri"/>
              <a:cs typeface="Calibri"/>
              <a:sym typeface="Calibri"/>
            </a:endParaRPr>
          </a:p>
        </p:txBody>
      </p:sp>
      <p:sp>
        <p:nvSpPr>
          <p:cNvPr id="36" name="Google Shape;36;p4"/>
          <p:cNvSpPr/>
          <p:nvPr/>
        </p:nvSpPr>
        <p:spPr>
          <a:xfrm>
            <a:off x="1325880" y="1755648"/>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Problema y dataset</a:t>
            </a:r>
            <a:endParaRPr b="0" i="0" sz="1500" u="none" cap="none" strike="noStrike">
              <a:solidFill>
                <a:schemeClr val="dk1"/>
              </a:solidFill>
              <a:latin typeface="Calibri"/>
              <a:ea typeface="Calibri"/>
              <a:cs typeface="Calibri"/>
              <a:sym typeface="Calibri"/>
            </a:endParaRPr>
          </a:p>
        </p:txBody>
      </p:sp>
      <p:sp>
        <p:nvSpPr>
          <p:cNvPr id="37" name="Google Shape;37;p4"/>
          <p:cNvSpPr/>
          <p:nvPr/>
        </p:nvSpPr>
        <p:spPr>
          <a:xfrm>
            <a:off x="1325880" y="2103120"/>
            <a:ext cx="4572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150"/>
              <a:buFont typeface="Calibri"/>
              <a:buNone/>
            </a:pPr>
            <a:r>
              <a:rPr b="0" i="0" lang="en-US" sz="1150" u="none" cap="none" strike="noStrike">
                <a:solidFill>
                  <a:srgbClr val="9FB3C8"/>
                </a:solidFill>
                <a:latin typeface="Calibri"/>
                <a:ea typeface="Calibri"/>
                <a:cs typeface="Calibri"/>
                <a:sym typeface="Calibri"/>
              </a:rPr>
              <a:t>Qué se pidió resolver y las dos fuentes de datos (train vs. test manual)</a:t>
            </a:r>
            <a:endParaRPr b="0" i="0" sz="1150" u="none" cap="none" strike="noStrike">
              <a:solidFill>
                <a:schemeClr val="dk1"/>
              </a:solidFill>
              <a:latin typeface="Calibri"/>
              <a:ea typeface="Calibri"/>
              <a:cs typeface="Calibri"/>
              <a:sym typeface="Calibri"/>
            </a:endParaRPr>
          </a:p>
        </p:txBody>
      </p:sp>
      <p:sp>
        <p:nvSpPr>
          <p:cNvPr id="38" name="Google Shape;38;p4"/>
          <p:cNvSpPr/>
          <p:nvPr/>
        </p:nvSpPr>
        <p:spPr>
          <a:xfrm>
            <a:off x="6172200" y="1783080"/>
            <a:ext cx="8229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2600"/>
              <a:buFont typeface="Cambria"/>
              <a:buNone/>
            </a:pPr>
            <a:r>
              <a:rPr b="1" i="0" lang="en-US" sz="2600" u="none" cap="none" strike="noStrike">
                <a:solidFill>
                  <a:srgbClr val="1D9BF0"/>
                </a:solidFill>
                <a:latin typeface="Cambria"/>
                <a:ea typeface="Cambria"/>
                <a:cs typeface="Cambria"/>
                <a:sym typeface="Cambria"/>
              </a:rPr>
              <a:t>02</a:t>
            </a:r>
            <a:endParaRPr b="0" i="0" sz="2600" u="none" cap="none" strike="noStrike">
              <a:solidFill>
                <a:schemeClr val="dk1"/>
              </a:solidFill>
              <a:latin typeface="Calibri"/>
              <a:ea typeface="Calibri"/>
              <a:cs typeface="Calibri"/>
              <a:sym typeface="Calibri"/>
            </a:endParaRPr>
          </a:p>
        </p:txBody>
      </p:sp>
      <p:sp>
        <p:nvSpPr>
          <p:cNvPr id="39" name="Google Shape;39;p4"/>
          <p:cNvSpPr/>
          <p:nvPr/>
        </p:nvSpPr>
        <p:spPr>
          <a:xfrm>
            <a:off x="6949440" y="1755648"/>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Metodología y decisiones</a:t>
            </a:r>
            <a:endParaRPr b="0" i="0" sz="1500" u="none" cap="none" strike="noStrike">
              <a:solidFill>
                <a:schemeClr val="dk1"/>
              </a:solidFill>
              <a:latin typeface="Calibri"/>
              <a:ea typeface="Calibri"/>
              <a:cs typeface="Calibri"/>
              <a:sym typeface="Calibri"/>
            </a:endParaRPr>
          </a:p>
        </p:txBody>
      </p:sp>
      <p:sp>
        <p:nvSpPr>
          <p:cNvPr id="40" name="Google Shape;40;p4"/>
          <p:cNvSpPr/>
          <p:nvPr/>
        </p:nvSpPr>
        <p:spPr>
          <a:xfrm>
            <a:off x="6949440" y="2103120"/>
            <a:ext cx="4572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150"/>
              <a:buFont typeface="Calibri"/>
              <a:buNone/>
            </a:pPr>
            <a:r>
              <a:rPr b="0" i="0" lang="en-US" sz="1150" u="none" cap="none" strike="noStrike">
                <a:solidFill>
                  <a:srgbClr val="9FB3C8"/>
                </a:solidFill>
                <a:latin typeface="Calibri"/>
                <a:ea typeface="Calibri"/>
                <a:cs typeface="Calibri"/>
                <a:sym typeface="Calibri"/>
              </a:rPr>
              <a:t>EDA, preprocesamiento y división de datos — y por qué</a:t>
            </a:r>
            <a:endParaRPr b="0" i="0" sz="1150" u="none" cap="none" strike="noStrike">
              <a:solidFill>
                <a:schemeClr val="dk1"/>
              </a:solidFill>
              <a:latin typeface="Calibri"/>
              <a:ea typeface="Calibri"/>
              <a:cs typeface="Calibri"/>
              <a:sym typeface="Calibri"/>
            </a:endParaRPr>
          </a:p>
        </p:txBody>
      </p:sp>
      <p:sp>
        <p:nvSpPr>
          <p:cNvPr id="41" name="Google Shape;41;p4"/>
          <p:cNvSpPr/>
          <p:nvPr/>
        </p:nvSpPr>
        <p:spPr>
          <a:xfrm>
            <a:off x="548640" y="3200400"/>
            <a:ext cx="8229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2600"/>
              <a:buFont typeface="Cambria"/>
              <a:buNone/>
            </a:pPr>
            <a:r>
              <a:rPr b="1" i="0" lang="en-US" sz="2600" u="none" cap="none" strike="noStrike">
                <a:solidFill>
                  <a:srgbClr val="1D9BF0"/>
                </a:solidFill>
                <a:latin typeface="Cambria"/>
                <a:ea typeface="Cambria"/>
                <a:cs typeface="Cambria"/>
                <a:sym typeface="Cambria"/>
              </a:rPr>
              <a:t>03</a:t>
            </a:r>
            <a:endParaRPr b="0" i="0" sz="2600" u="none" cap="none" strike="noStrike">
              <a:solidFill>
                <a:schemeClr val="dk1"/>
              </a:solidFill>
              <a:latin typeface="Calibri"/>
              <a:ea typeface="Calibri"/>
              <a:cs typeface="Calibri"/>
              <a:sym typeface="Calibri"/>
            </a:endParaRPr>
          </a:p>
        </p:txBody>
      </p:sp>
      <p:sp>
        <p:nvSpPr>
          <p:cNvPr id="42" name="Google Shape;42;p4"/>
          <p:cNvSpPr/>
          <p:nvPr/>
        </p:nvSpPr>
        <p:spPr>
          <a:xfrm>
            <a:off x="1325880" y="3172968"/>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Modelos y resultados</a:t>
            </a:r>
            <a:endParaRPr b="0" i="0" sz="1500" u="none" cap="none" strike="noStrike">
              <a:solidFill>
                <a:schemeClr val="dk1"/>
              </a:solidFill>
              <a:latin typeface="Calibri"/>
              <a:ea typeface="Calibri"/>
              <a:cs typeface="Calibri"/>
              <a:sym typeface="Calibri"/>
            </a:endParaRPr>
          </a:p>
        </p:txBody>
      </p:sp>
      <p:sp>
        <p:nvSpPr>
          <p:cNvPr id="43" name="Google Shape;43;p4"/>
          <p:cNvSpPr/>
          <p:nvPr/>
        </p:nvSpPr>
        <p:spPr>
          <a:xfrm>
            <a:off x="1325880" y="3520440"/>
            <a:ext cx="4572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150"/>
              <a:buFont typeface="Calibri"/>
              <a:buNone/>
            </a:pPr>
            <a:r>
              <a:rPr b="0" i="0" lang="en-US" sz="1150" u="none" cap="none" strike="noStrike">
                <a:solidFill>
                  <a:srgbClr val="9FB3C8"/>
                </a:solidFill>
                <a:latin typeface="Calibri"/>
                <a:ea typeface="Calibri"/>
                <a:cs typeface="Calibri"/>
                <a:sym typeface="Calibri"/>
              </a:rPr>
              <a:t>Baseline pre-entrenado + 3 modelos propios, comparados</a:t>
            </a:r>
            <a:endParaRPr b="0" i="0" sz="1150" u="none" cap="none" strike="noStrike">
              <a:solidFill>
                <a:schemeClr val="dk1"/>
              </a:solidFill>
              <a:latin typeface="Calibri"/>
              <a:ea typeface="Calibri"/>
              <a:cs typeface="Calibri"/>
              <a:sym typeface="Calibri"/>
            </a:endParaRPr>
          </a:p>
        </p:txBody>
      </p:sp>
      <p:sp>
        <p:nvSpPr>
          <p:cNvPr id="44" name="Google Shape;44;p4"/>
          <p:cNvSpPr/>
          <p:nvPr/>
        </p:nvSpPr>
        <p:spPr>
          <a:xfrm>
            <a:off x="6172200" y="3200400"/>
            <a:ext cx="8229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2600"/>
              <a:buFont typeface="Cambria"/>
              <a:buNone/>
            </a:pPr>
            <a:r>
              <a:rPr b="1" i="0" lang="en-US" sz="2600" u="none" cap="none" strike="noStrike">
                <a:solidFill>
                  <a:srgbClr val="1D9BF0"/>
                </a:solidFill>
                <a:latin typeface="Cambria"/>
                <a:ea typeface="Cambria"/>
                <a:cs typeface="Cambria"/>
                <a:sym typeface="Cambria"/>
              </a:rPr>
              <a:t>04</a:t>
            </a:r>
            <a:endParaRPr b="0" i="0" sz="2600" u="none" cap="none" strike="noStrike">
              <a:solidFill>
                <a:schemeClr val="dk1"/>
              </a:solidFill>
              <a:latin typeface="Calibri"/>
              <a:ea typeface="Calibri"/>
              <a:cs typeface="Calibri"/>
              <a:sym typeface="Calibri"/>
            </a:endParaRPr>
          </a:p>
        </p:txBody>
      </p:sp>
      <p:sp>
        <p:nvSpPr>
          <p:cNvPr id="45" name="Google Shape;45;p4"/>
          <p:cNvSpPr/>
          <p:nvPr/>
        </p:nvSpPr>
        <p:spPr>
          <a:xfrm>
            <a:off x="6949440" y="3172968"/>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Métricas de embeddings</a:t>
            </a:r>
            <a:endParaRPr b="0" i="0" sz="1500" u="none" cap="none" strike="noStrike">
              <a:solidFill>
                <a:schemeClr val="dk1"/>
              </a:solidFill>
              <a:latin typeface="Calibri"/>
              <a:ea typeface="Calibri"/>
              <a:cs typeface="Calibri"/>
              <a:sym typeface="Calibri"/>
            </a:endParaRPr>
          </a:p>
        </p:txBody>
      </p:sp>
      <p:sp>
        <p:nvSpPr>
          <p:cNvPr id="46" name="Google Shape;46;p4"/>
          <p:cNvSpPr/>
          <p:nvPr/>
        </p:nvSpPr>
        <p:spPr>
          <a:xfrm>
            <a:off x="6949440" y="3520440"/>
            <a:ext cx="4572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150"/>
              <a:buFont typeface="Calibri"/>
              <a:buNone/>
            </a:pPr>
            <a:r>
              <a:rPr b="0" i="0" lang="en-US" sz="1150" u="none" cap="none" strike="noStrike">
                <a:solidFill>
                  <a:srgbClr val="9FB3C8"/>
                </a:solidFill>
                <a:latin typeface="Calibri"/>
                <a:ea typeface="Calibri"/>
                <a:cs typeface="Calibri"/>
                <a:sym typeface="Calibri"/>
              </a:rPr>
              <a:t>Similitud coseno, analogías y PPMI sobre Word2Vec</a:t>
            </a:r>
            <a:endParaRPr b="0" i="0" sz="1150" u="none" cap="none" strike="noStrike">
              <a:solidFill>
                <a:schemeClr val="dk1"/>
              </a:solidFill>
              <a:latin typeface="Calibri"/>
              <a:ea typeface="Calibri"/>
              <a:cs typeface="Calibri"/>
              <a:sym typeface="Calibri"/>
            </a:endParaRPr>
          </a:p>
        </p:txBody>
      </p:sp>
      <p:sp>
        <p:nvSpPr>
          <p:cNvPr id="47" name="Google Shape;47;p4"/>
          <p:cNvSpPr/>
          <p:nvPr/>
        </p:nvSpPr>
        <p:spPr>
          <a:xfrm>
            <a:off x="548640" y="4617720"/>
            <a:ext cx="8229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2600"/>
              <a:buFont typeface="Cambria"/>
              <a:buNone/>
            </a:pPr>
            <a:r>
              <a:rPr b="1" i="0" lang="en-US" sz="2600" u="none" cap="none" strike="noStrike">
                <a:solidFill>
                  <a:srgbClr val="1D9BF0"/>
                </a:solidFill>
                <a:latin typeface="Cambria"/>
                <a:ea typeface="Cambria"/>
                <a:cs typeface="Cambria"/>
                <a:sym typeface="Cambria"/>
              </a:rPr>
              <a:t>05</a:t>
            </a:r>
            <a:endParaRPr b="0" i="0" sz="2600" u="none" cap="none" strike="noStrike">
              <a:solidFill>
                <a:schemeClr val="dk1"/>
              </a:solidFill>
              <a:latin typeface="Calibri"/>
              <a:ea typeface="Calibri"/>
              <a:cs typeface="Calibri"/>
              <a:sym typeface="Calibri"/>
            </a:endParaRPr>
          </a:p>
        </p:txBody>
      </p:sp>
      <p:sp>
        <p:nvSpPr>
          <p:cNvPr id="48" name="Google Shape;48;p4"/>
          <p:cNvSpPr/>
          <p:nvPr/>
        </p:nvSpPr>
        <p:spPr>
          <a:xfrm>
            <a:off x="1325880" y="4590288"/>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Errores, límites y próximos pasos</a:t>
            </a:r>
            <a:endParaRPr b="0" i="0" sz="1500" u="none" cap="none" strike="noStrike">
              <a:solidFill>
                <a:schemeClr val="dk1"/>
              </a:solidFill>
              <a:latin typeface="Calibri"/>
              <a:ea typeface="Calibri"/>
              <a:cs typeface="Calibri"/>
              <a:sym typeface="Calibri"/>
            </a:endParaRPr>
          </a:p>
        </p:txBody>
      </p:sp>
      <p:sp>
        <p:nvSpPr>
          <p:cNvPr id="49" name="Google Shape;49;p4"/>
          <p:cNvSpPr/>
          <p:nvPr/>
        </p:nvSpPr>
        <p:spPr>
          <a:xfrm>
            <a:off x="1325880" y="4937760"/>
            <a:ext cx="4572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150"/>
              <a:buFont typeface="Calibri"/>
              <a:buNone/>
            </a:pPr>
            <a:r>
              <a:rPr b="0" i="0" lang="en-US" sz="1150" u="none" cap="none" strike="noStrike">
                <a:solidFill>
                  <a:srgbClr val="9FB3C8"/>
                </a:solidFill>
                <a:latin typeface="Calibri"/>
                <a:ea typeface="Calibri"/>
                <a:cs typeface="Calibri"/>
                <a:sym typeface="Calibri"/>
              </a:rPr>
              <a:t>Qué falló, por qué, y qué seguiría</a:t>
            </a:r>
            <a:endParaRPr b="0" i="0" sz="1150" u="none" cap="none" strike="noStrike">
              <a:solidFill>
                <a:schemeClr val="dk1"/>
              </a:solidFill>
              <a:latin typeface="Calibri"/>
              <a:ea typeface="Calibri"/>
              <a:cs typeface="Calibri"/>
              <a:sym typeface="Calibri"/>
            </a:endParaRPr>
          </a:p>
        </p:txBody>
      </p:sp>
      <p:sp>
        <p:nvSpPr>
          <p:cNvPr id="50" name="Google Shape;50;p4"/>
          <p:cNvSpPr/>
          <p:nvPr/>
        </p:nvSpPr>
        <p:spPr>
          <a:xfrm>
            <a:off x="6172200" y="4617720"/>
            <a:ext cx="8229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2600"/>
              <a:buFont typeface="Cambria"/>
              <a:buNone/>
            </a:pPr>
            <a:r>
              <a:rPr b="1" i="0" lang="en-US" sz="2600" u="none" cap="none" strike="noStrike">
                <a:solidFill>
                  <a:srgbClr val="1D9BF0"/>
                </a:solidFill>
                <a:latin typeface="Cambria"/>
                <a:ea typeface="Cambria"/>
                <a:cs typeface="Cambria"/>
                <a:sym typeface="Cambria"/>
              </a:rPr>
              <a:t>06</a:t>
            </a:r>
            <a:endParaRPr b="0" i="0" sz="2600" u="none" cap="none" strike="noStrike">
              <a:solidFill>
                <a:schemeClr val="dk1"/>
              </a:solidFill>
              <a:latin typeface="Calibri"/>
              <a:ea typeface="Calibri"/>
              <a:cs typeface="Calibri"/>
              <a:sym typeface="Calibri"/>
            </a:endParaRPr>
          </a:p>
        </p:txBody>
      </p:sp>
      <p:sp>
        <p:nvSpPr>
          <p:cNvPr id="51" name="Google Shape;51;p4"/>
          <p:cNvSpPr/>
          <p:nvPr/>
        </p:nvSpPr>
        <p:spPr>
          <a:xfrm>
            <a:off x="6949440" y="4590288"/>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Preguntas y respuestas</a:t>
            </a:r>
            <a:endParaRPr b="0" i="0" sz="1500" u="none" cap="none" strike="noStrike">
              <a:solidFill>
                <a:schemeClr val="dk1"/>
              </a:solidFill>
              <a:latin typeface="Calibri"/>
              <a:ea typeface="Calibri"/>
              <a:cs typeface="Calibri"/>
              <a:sym typeface="Calibri"/>
            </a:endParaRPr>
          </a:p>
        </p:txBody>
      </p:sp>
      <p:sp>
        <p:nvSpPr>
          <p:cNvPr id="52" name="Google Shape;52;p4"/>
          <p:cNvSpPr/>
          <p:nvPr/>
        </p:nvSpPr>
        <p:spPr>
          <a:xfrm>
            <a:off x="6949440" y="4937760"/>
            <a:ext cx="4572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150"/>
              <a:buFont typeface="Calibri"/>
              <a:buNone/>
            </a:pPr>
            <a:r>
              <a:rPr b="0" i="0" lang="en-US" sz="1150" u="none" cap="none" strike="noStrike">
                <a:solidFill>
                  <a:srgbClr val="9FB3C8"/>
                </a:solidFill>
                <a:latin typeface="Calibri"/>
                <a:ea typeface="Calibri"/>
                <a:cs typeface="Calibri"/>
                <a:sym typeface="Calibri"/>
              </a:rPr>
              <a:t>Anticipando lo que puede preguntar la cátedra</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57" name="Shape 57"/>
        <p:cNvGrpSpPr/>
        <p:nvPr/>
      </p:nvGrpSpPr>
      <p:grpSpPr>
        <a:xfrm>
          <a:off x="0" y="0"/>
          <a:ext cx="0" cy="0"/>
          <a:chOff x="0" y="0"/>
          <a:chExt cx="0" cy="0"/>
        </a:xfrm>
      </p:grpSpPr>
      <p:sp>
        <p:nvSpPr>
          <p:cNvPr id="58" name="Google Shape;58;p5"/>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01 · PROBLEMA Y DATASET</a:t>
            </a:r>
            <a:endParaRPr b="0" i="0" sz="1200" u="none" cap="none" strike="noStrike">
              <a:solidFill>
                <a:schemeClr val="dk1"/>
              </a:solidFill>
              <a:latin typeface="Calibri"/>
              <a:ea typeface="Calibri"/>
              <a:cs typeface="Calibri"/>
              <a:sym typeface="Calibri"/>
            </a:endParaRPr>
          </a:p>
        </p:txBody>
      </p:sp>
      <p:sp>
        <p:nvSpPr>
          <p:cNvPr id="59" name="Google Shape;59;p5"/>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Objetivo del proyecto</a:t>
            </a:r>
            <a:endParaRPr b="0" i="0" sz="3000" u="none" cap="none" strike="noStrike">
              <a:solidFill>
                <a:schemeClr val="dk1"/>
              </a:solidFill>
              <a:latin typeface="Calibri"/>
              <a:ea typeface="Calibri"/>
              <a:cs typeface="Calibri"/>
              <a:sym typeface="Calibri"/>
            </a:endParaRPr>
          </a:p>
        </p:txBody>
      </p:sp>
      <p:sp>
        <p:nvSpPr>
          <p:cNvPr id="60" name="Google Shape;60;p5"/>
          <p:cNvSpPr/>
          <p:nvPr/>
        </p:nvSpPr>
        <p:spPr>
          <a:xfrm>
            <a:off x="548640" y="1737360"/>
            <a:ext cx="11064240" cy="1554480"/>
          </a:xfrm>
          <a:prstGeom prst="roundRect">
            <a:avLst>
              <a:gd fmla="val 4706"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868680" y="1920240"/>
            <a:ext cx="104241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600"/>
              <a:buFont typeface="Calibri"/>
              <a:buNone/>
            </a:pPr>
            <a:r>
              <a:rPr b="0" i="0" lang="en-US" sz="1600" u="none" cap="none" strike="noStrike">
                <a:solidFill>
                  <a:srgbClr val="16202B"/>
                </a:solidFill>
                <a:latin typeface="Calibri"/>
                <a:ea typeface="Calibri"/>
                <a:cs typeface="Calibri"/>
                <a:sym typeface="Calibri"/>
              </a:rPr>
              <a:t>Clasificar el sentimiento de un tweet como positivo, negativo o neutral, comparando distintos enfoques de NLP vistos en clase (bolsa de palabras, TF-IDF, embeddings) contra un modelo de sentimiento pre-entrenado, y usando al menos una métrica de similitud semántica (coseno / PPMI).</a:t>
            </a:r>
            <a:endParaRPr b="0" i="0" sz="1600" u="none" cap="none" strike="noStrike">
              <a:solidFill>
                <a:schemeClr val="dk1"/>
              </a:solidFill>
              <a:latin typeface="Calibri"/>
              <a:ea typeface="Calibri"/>
              <a:cs typeface="Calibri"/>
              <a:sym typeface="Calibri"/>
            </a:endParaRPr>
          </a:p>
        </p:txBody>
      </p:sp>
      <p:sp>
        <p:nvSpPr>
          <p:cNvPr id="62" name="Google Shape;62;p5"/>
          <p:cNvSpPr/>
          <p:nvPr/>
        </p:nvSpPr>
        <p:spPr>
          <a:xfrm>
            <a:off x="548640" y="3657600"/>
            <a:ext cx="3520440" cy="1737360"/>
          </a:xfrm>
          <a:prstGeom prst="roundRect">
            <a:avLst>
              <a:gd fmla="val 421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822960" y="3931920"/>
            <a:ext cx="548640" cy="54864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777240" y="3931920"/>
            <a:ext cx="640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65" name="Google Shape;65;p5"/>
          <p:cNvSpPr/>
          <p:nvPr/>
        </p:nvSpPr>
        <p:spPr>
          <a:xfrm>
            <a:off x="1554480" y="3913632"/>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600"/>
              <a:buFont typeface="Calibri"/>
              <a:buNone/>
            </a:pPr>
            <a:r>
              <a:rPr b="1" i="0" lang="en-US" sz="1600" u="none" cap="none" strike="noStrike">
                <a:solidFill>
                  <a:srgbClr val="16202B"/>
                </a:solidFill>
                <a:latin typeface="Calibri"/>
                <a:ea typeface="Calibri"/>
                <a:cs typeface="Calibri"/>
                <a:sym typeface="Calibri"/>
              </a:rPr>
              <a:t>Positivo</a:t>
            </a:r>
            <a:endParaRPr b="0" i="0" sz="1600" u="none" cap="none" strike="noStrike">
              <a:solidFill>
                <a:schemeClr val="dk1"/>
              </a:solidFill>
              <a:latin typeface="Calibri"/>
              <a:ea typeface="Calibri"/>
              <a:cs typeface="Calibri"/>
              <a:sym typeface="Calibri"/>
            </a:endParaRPr>
          </a:p>
        </p:txBody>
      </p:sp>
      <p:sp>
        <p:nvSpPr>
          <p:cNvPr id="66" name="Google Shape;66;p5"/>
          <p:cNvSpPr/>
          <p:nvPr/>
        </p:nvSpPr>
        <p:spPr>
          <a:xfrm>
            <a:off x="1554480" y="425196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0" lang="en-US" sz="1200" u="none" cap="none" strike="noStrike">
                <a:solidFill>
                  <a:srgbClr val="5B7083"/>
                </a:solidFill>
                <a:latin typeface="Calibri"/>
                <a:ea typeface="Calibri"/>
                <a:cs typeface="Calibri"/>
                <a:sym typeface="Calibri"/>
              </a:rPr>
              <a:t>target = 4</a:t>
            </a:r>
            <a:endParaRPr b="0" i="0" sz="1200" u="none" cap="none" strike="noStrike">
              <a:solidFill>
                <a:schemeClr val="dk1"/>
              </a:solidFill>
              <a:latin typeface="Calibri"/>
              <a:ea typeface="Calibri"/>
              <a:cs typeface="Calibri"/>
              <a:sym typeface="Calibri"/>
            </a:endParaRPr>
          </a:p>
        </p:txBody>
      </p:sp>
      <p:sp>
        <p:nvSpPr>
          <p:cNvPr id="67" name="Google Shape;67;p5"/>
          <p:cNvSpPr/>
          <p:nvPr/>
        </p:nvSpPr>
        <p:spPr>
          <a:xfrm>
            <a:off x="822960" y="4709160"/>
            <a:ext cx="3017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100"/>
              <a:buFont typeface="Calibri"/>
              <a:buNone/>
            </a:pPr>
            <a:r>
              <a:rPr b="0" i="1" lang="en-US" sz="1100" u="none" cap="none" strike="noStrike">
                <a:solidFill>
                  <a:srgbClr val="5B7083"/>
                </a:solidFill>
                <a:latin typeface="Calibri"/>
                <a:ea typeface="Calibri"/>
                <a:cs typeface="Calibri"/>
                <a:sym typeface="Calibri"/>
              </a:rPr>
              <a:t>Clase del dataset Sentiment140</a:t>
            </a:r>
            <a:endParaRPr b="0" i="0" sz="1100" u="none" cap="none" strike="noStrike">
              <a:solidFill>
                <a:schemeClr val="dk1"/>
              </a:solidFill>
              <a:latin typeface="Calibri"/>
              <a:ea typeface="Calibri"/>
              <a:cs typeface="Calibri"/>
              <a:sym typeface="Calibri"/>
            </a:endParaRPr>
          </a:p>
        </p:txBody>
      </p:sp>
      <p:sp>
        <p:nvSpPr>
          <p:cNvPr id="68" name="Google Shape;68;p5"/>
          <p:cNvSpPr/>
          <p:nvPr/>
        </p:nvSpPr>
        <p:spPr>
          <a:xfrm>
            <a:off x="4297680" y="3657600"/>
            <a:ext cx="3520440" cy="1737360"/>
          </a:xfrm>
          <a:prstGeom prst="roundRect">
            <a:avLst>
              <a:gd fmla="val 421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4572000" y="3931920"/>
            <a:ext cx="548640" cy="548640"/>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4526280" y="3931920"/>
            <a:ext cx="640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71" name="Google Shape;71;p5"/>
          <p:cNvSpPr/>
          <p:nvPr/>
        </p:nvSpPr>
        <p:spPr>
          <a:xfrm>
            <a:off x="5303520" y="3913632"/>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600"/>
              <a:buFont typeface="Calibri"/>
              <a:buNone/>
            </a:pPr>
            <a:r>
              <a:rPr b="1" i="0" lang="en-US" sz="1600" u="none" cap="none" strike="noStrike">
                <a:solidFill>
                  <a:srgbClr val="16202B"/>
                </a:solidFill>
                <a:latin typeface="Calibri"/>
                <a:ea typeface="Calibri"/>
                <a:cs typeface="Calibri"/>
                <a:sym typeface="Calibri"/>
              </a:rPr>
              <a:t>Neutral</a:t>
            </a:r>
            <a:endParaRPr b="0" i="0" sz="1600" u="none" cap="none" strike="noStrike">
              <a:solidFill>
                <a:schemeClr val="dk1"/>
              </a:solidFill>
              <a:latin typeface="Calibri"/>
              <a:ea typeface="Calibri"/>
              <a:cs typeface="Calibri"/>
              <a:sym typeface="Calibri"/>
            </a:endParaRPr>
          </a:p>
        </p:txBody>
      </p:sp>
      <p:sp>
        <p:nvSpPr>
          <p:cNvPr id="72" name="Google Shape;72;p5"/>
          <p:cNvSpPr/>
          <p:nvPr/>
        </p:nvSpPr>
        <p:spPr>
          <a:xfrm>
            <a:off x="5303520" y="425196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0" lang="en-US" sz="1200" u="none" cap="none" strike="noStrike">
                <a:solidFill>
                  <a:srgbClr val="5B7083"/>
                </a:solidFill>
                <a:latin typeface="Calibri"/>
                <a:ea typeface="Calibri"/>
                <a:cs typeface="Calibri"/>
                <a:sym typeface="Calibri"/>
              </a:rPr>
              <a:t>target = 2</a:t>
            </a:r>
            <a:endParaRPr b="0" i="0" sz="1200" u="none" cap="none" strike="noStrike">
              <a:solidFill>
                <a:schemeClr val="dk1"/>
              </a:solidFill>
              <a:latin typeface="Calibri"/>
              <a:ea typeface="Calibri"/>
              <a:cs typeface="Calibri"/>
              <a:sym typeface="Calibri"/>
            </a:endParaRPr>
          </a:p>
        </p:txBody>
      </p:sp>
      <p:sp>
        <p:nvSpPr>
          <p:cNvPr id="73" name="Google Shape;73;p5"/>
          <p:cNvSpPr/>
          <p:nvPr/>
        </p:nvSpPr>
        <p:spPr>
          <a:xfrm>
            <a:off x="4572000" y="4709160"/>
            <a:ext cx="3017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100"/>
              <a:buFont typeface="Calibri"/>
              <a:buNone/>
            </a:pPr>
            <a:r>
              <a:rPr b="0" i="1" lang="en-US" sz="1100" u="none" cap="none" strike="noStrike">
                <a:solidFill>
                  <a:srgbClr val="5B7083"/>
                </a:solidFill>
                <a:latin typeface="Calibri"/>
                <a:ea typeface="Calibri"/>
                <a:cs typeface="Calibri"/>
                <a:sym typeface="Calibri"/>
              </a:rPr>
              <a:t>Clase del dataset Sentiment140</a:t>
            </a:r>
            <a:endParaRPr b="0" i="0" sz="1100" u="none" cap="none" strike="noStrike">
              <a:solidFill>
                <a:schemeClr val="dk1"/>
              </a:solidFill>
              <a:latin typeface="Calibri"/>
              <a:ea typeface="Calibri"/>
              <a:cs typeface="Calibri"/>
              <a:sym typeface="Calibri"/>
            </a:endParaRPr>
          </a:p>
        </p:txBody>
      </p:sp>
      <p:sp>
        <p:nvSpPr>
          <p:cNvPr id="74" name="Google Shape;74;p5"/>
          <p:cNvSpPr/>
          <p:nvPr/>
        </p:nvSpPr>
        <p:spPr>
          <a:xfrm>
            <a:off x="8046720" y="3657600"/>
            <a:ext cx="3520440" cy="1737360"/>
          </a:xfrm>
          <a:prstGeom prst="roundRect">
            <a:avLst>
              <a:gd fmla="val 421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8321040" y="3931920"/>
            <a:ext cx="548640" cy="54864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8275320" y="3931920"/>
            <a:ext cx="640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77" name="Google Shape;77;p5"/>
          <p:cNvSpPr/>
          <p:nvPr/>
        </p:nvSpPr>
        <p:spPr>
          <a:xfrm>
            <a:off x="9052560" y="3913632"/>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600"/>
              <a:buFont typeface="Calibri"/>
              <a:buNone/>
            </a:pPr>
            <a:r>
              <a:rPr b="1" i="0" lang="en-US" sz="1600" u="none" cap="none" strike="noStrike">
                <a:solidFill>
                  <a:srgbClr val="16202B"/>
                </a:solidFill>
                <a:latin typeface="Calibri"/>
                <a:ea typeface="Calibri"/>
                <a:cs typeface="Calibri"/>
                <a:sym typeface="Calibri"/>
              </a:rPr>
              <a:t>Negativo</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9052560" y="425196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0" lang="en-US" sz="1200" u="none" cap="none" strike="noStrike">
                <a:solidFill>
                  <a:srgbClr val="5B7083"/>
                </a:solidFill>
                <a:latin typeface="Calibri"/>
                <a:ea typeface="Calibri"/>
                <a:cs typeface="Calibri"/>
                <a:sym typeface="Calibri"/>
              </a:rPr>
              <a:t>target = 0</a:t>
            </a:r>
            <a:endParaRPr b="0" i="0" sz="1200" u="none" cap="none" strike="noStrike">
              <a:solidFill>
                <a:schemeClr val="dk1"/>
              </a:solidFill>
              <a:latin typeface="Calibri"/>
              <a:ea typeface="Calibri"/>
              <a:cs typeface="Calibri"/>
              <a:sym typeface="Calibri"/>
            </a:endParaRPr>
          </a:p>
        </p:txBody>
      </p:sp>
      <p:sp>
        <p:nvSpPr>
          <p:cNvPr id="79" name="Google Shape;79;p5"/>
          <p:cNvSpPr/>
          <p:nvPr/>
        </p:nvSpPr>
        <p:spPr>
          <a:xfrm>
            <a:off x="8321040" y="4709160"/>
            <a:ext cx="3017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100"/>
              <a:buFont typeface="Calibri"/>
              <a:buNone/>
            </a:pPr>
            <a:r>
              <a:rPr b="0" i="1" lang="en-US" sz="1100" u="none" cap="none" strike="noStrike">
                <a:solidFill>
                  <a:srgbClr val="5B7083"/>
                </a:solidFill>
                <a:latin typeface="Calibri"/>
                <a:ea typeface="Calibri"/>
                <a:cs typeface="Calibri"/>
                <a:sym typeface="Calibri"/>
              </a:rPr>
              <a:t>Clase del dataset Sentiment140</a:t>
            </a:r>
            <a:endParaRPr b="0" i="0" sz="1100" u="none" cap="none" strike="noStrike">
              <a:solidFill>
                <a:schemeClr val="dk1"/>
              </a:solidFill>
              <a:latin typeface="Calibri"/>
              <a:ea typeface="Calibri"/>
              <a:cs typeface="Calibri"/>
              <a:sym typeface="Calibri"/>
            </a:endParaRPr>
          </a:p>
        </p:txBody>
      </p:sp>
      <p:sp>
        <p:nvSpPr>
          <p:cNvPr id="80" name="Google Shape;80;p5"/>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01</a:t>
            </a:r>
            <a:endParaRPr b="0" i="0" sz="1000" u="none" cap="none" strike="noStrike">
              <a:solidFill>
                <a:schemeClr val="dk1"/>
              </a:solidFill>
              <a:latin typeface="Calibri"/>
              <a:ea typeface="Calibri"/>
              <a:cs typeface="Calibri"/>
              <a:sym typeface="Calibri"/>
            </a:endParaRPr>
          </a:p>
        </p:txBody>
      </p:sp>
      <p:sp>
        <p:nvSpPr>
          <p:cNvPr id="81" name="Google Shape;81;p5"/>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86" name="Shape 86"/>
        <p:cNvGrpSpPr/>
        <p:nvPr/>
      </p:nvGrpSpPr>
      <p:grpSpPr>
        <a:xfrm>
          <a:off x="0" y="0"/>
          <a:ext cx="0" cy="0"/>
          <a:chOff x="0" y="0"/>
          <a:chExt cx="0" cy="0"/>
        </a:xfrm>
      </p:grpSpPr>
      <p:sp>
        <p:nvSpPr>
          <p:cNvPr id="87" name="Google Shape;87;p6"/>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01 · PROBLEMA Y DATASET</a:t>
            </a:r>
            <a:endParaRPr b="0" i="0" sz="1200" u="none" cap="none" strike="noStrike">
              <a:solidFill>
                <a:schemeClr val="dk1"/>
              </a:solidFill>
              <a:latin typeface="Calibri"/>
              <a:ea typeface="Calibri"/>
              <a:cs typeface="Calibri"/>
              <a:sym typeface="Calibri"/>
            </a:endParaRPr>
          </a:p>
        </p:txBody>
      </p:sp>
      <p:sp>
        <p:nvSpPr>
          <p:cNvPr id="88" name="Google Shape;88;p6"/>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El dataset: dos archivos, no uno</a:t>
            </a:r>
            <a:endParaRPr b="0" i="0" sz="3000" u="none" cap="none" strike="noStrike">
              <a:solidFill>
                <a:schemeClr val="dk1"/>
              </a:solidFill>
              <a:latin typeface="Calibri"/>
              <a:ea typeface="Calibri"/>
              <a:cs typeface="Calibri"/>
              <a:sym typeface="Calibri"/>
            </a:endParaRPr>
          </a:p>
        </p:txBody>
      </p:sp>
      <p:sp>
        <p:nvSpPr>
          <p:cNvPr id="89" name="Google Shape;89;p6"/>
          <p:cNvSpPr/>
          <p:nvPr/>
        </p:nvSpPr>
        <p:spPr>
          <a:xfrm>
            <a:off x="548640" y="1417320"/>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350"/>
              <a:buFont typeface="Calibri"/>
              <a:buNone/>
            </a:pPr>
            <a:r>
              <a:rPr b="0" i="1" lang="en-US" sz="1350" u="none" cap="none" strike="noStrike">
                <a:solidFill>
                  <a:srgbClr val="5B7083"/>
                </a:solidFill>
                <a:latin typeface="Calibri"/>
                <a:ea typeface="Calibri"/>
                <a:cs typeface="Calibri"/>
                <a:sym typeface="Calibri"/>
              </a:rPr>
              <a:t>Sentiment140 se compone de dos fuentes con roles distintos — la asimetría entre ambas explica gran parte de los resultados que vienen más adelante.</a:t>
            </a:r>
            <a:endParaRPr b="0" i="0" sz="1350" u="none" cap="none" strike="noStrike">
              <a:solidFill>
                <a:schemeClr val="dk1"/>
              </a:solidFill>
              <a:latin typeface="Calibri"/>
              <a:ea typeface="Calibri"/>
              <a:cs typeface="Calibri"/>
              <a:sym typeface="Calibri"/>
            </a:endParaRPr>
          </a:p>
        </p:txBody>
      </p:sp>
      <p:sp>
        <p:nvSpPr>
          <p:cNvPr id="90" name="Google Shape;90;p6"/>
          <p:cNvSpPr/>
          <p:nvPr/>
        </p:nvSpPr>
        <p:spPr>
          <a:xfrm>
            <a:off x="548640" y="2057400"/>
            <a:ext cx="5394960" cy="4114800"/>
          </a:xfrm>
          <a:prstGeom prst="roundRect">
            <a:avLst>
              <a:gd fmla="val 177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868680" y="2286000"/>
            <a:ext cx="4572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800"/>
              <a:buFont typeface="Calibri"/>
              <a:buNone/>
            </a:pPr>
            <a:r>
              <a:rPr b="1" i="0" lang="en-US" sz="1800" u="none" cap="none" strike="noStrike">
                <a:solidFill>
                  <a:srgbClr val="16202B"/>
                </a:solidFill>
                <a:latin typeface="Calibri"/>
                <a:ea typeface="Calibri"/>
                <a:cs typeface="Calibri"/>
                <a:sym typeface="Calibri"/>
              </a:rPr>
              <a:t>Entrenamiento</a:t>
            </a:r>
            <a:endParaRPr b="0" i="0" sz="1800" u="none" cap="none" strike="noStrike">
              <a:solidFill>
                <a:schemeClr val="dk1"/>
              </a:solidFill>
              <a:latin typeface="Calibri"/>
              <a:ea typeface="Calibri"/>
              <a:cs typeface="Calibri"/>
              <a:sym typeface="Calibri"/>
            </a:endParaRPr>
          </a:p>
        </p:txBody>
      </p:sp>
      <p:sp>
        <p:nvSpPr>
          <p:cNvPr id="92" name="Google Shape;92;p6"/>
          <p:cNvSpPr/>
          <p:nvPr/>
        </p:nvSpPr>
        <p:spPr>
          <a:xfrm>
            <a:off x="868680" y="267004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050"/>
              <a:buFont typeface="Courier New"/>
              <a:buNone/>
            </a:pPr>
            <a:r>
              <a:rPr b="0" i="0" lang="en-US" sz="1050" u="none" cap="none" strike="noStrike">
                <a:solidFill>
                  <a:srgbClr val="5B7083"/>
                </a:solidFill>
                <a:latin typeface="Courier New"/>
                <a:ea typeface="Courier New"/>
                <a:cs typeface="Courier New"/>
                <a:sym typeface="Courier New"/>
              </a:rPr>
              <a:t>training.1600000.processed.noemoticon.csv</a:t>
            </a:r>
            <a:endParaRPr b="0" i="0" sz="1050" u="none" cap="none" strike="noStrike">
              <a:solidFill>
                <a:schemeClr val="dk1"/>
              </a:solidFill>
              <a:latin typeface="Calibri"/>
              <a:ea typeface="Calibri"/>
              <a:cs typeface="Calibri"/>
              <a:sym typeface="Calibri"/>
            </a:endParaRPr>
          </a:p>
        </p:txBody>
      </p:sp>
      <p:sp>
        <p:nvSpPr>
          <p:cNvPr id="93" name="Google Shape;93;p6"/>
          <p:cNvSpPr/>
          <p:nvPr/>
        </p:nvSpPr>
        <p:spPr>
          <a:xfrm>
            <a:off x="868680" y="3063240"/>
            <a:ext cx="2743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4400"/>
              <a:buFont typeface="Cambria"/>
              <a:buNone/>
            </a:pPr>
            <a:r>
              <a:rPr b="1" i="0" lang="en-US" sz="4400" u="none" cap="none" strike="noStrike">
                <a:solidFill>
                  <a:srgbClr val="1D9BF0"/>
                </a:solidFill>
                <a:latin typeface="Cambria"/>
                <a:ea typeface="Cambria"/>
                <a:cs typeface="Cambria"/>
                <a:sym typeface="Cambria"/>
              </a:rPr>
              <a:t>1.6M</a:t>
            </a:r>
            <a:endParaRPr b="0" i="0" sz="4400" u="none" cap="none" strike="noStrike">
              <a:solidFill>
                <a:schemeClr val="dk1"/>
              </a:solidFill>
              <a:latin typeface="Calibri"/>
              <a:ea typeface="Calibri"/>
              <a:cs typeface="Calibri"/>
              <a:sym typeface="Calibri"/>
            </a:endParaRPr>
          </a:p>
        </p:txBody>
      </p:sp>
      <p:sp>
        <p:nvSpPr>
          <p:cNvPr id="94" name="Google Shape;94;p6"/>
          <p:cNvSpPr/>
          <p:nvPr/>
        </p:nvSpPr>
        <p:spPr>
          <a:xfrm>
            <a:off x="868680" y="37947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300"/>
              <a:buFont typeface="Calibri"/>
              <a:buNone/>
            </a:pPr>
            <a:r>
              <a:rPr b="0" i="0" lang="en-US" sz="1300" u="none" cap="none" strike="noStrike">
                <a:solidFill>
                  <a:srgbClr val="5B7083"/>
                </a:solidFill>
                <a:latin typeface="Calibri"/>
                <a:ea typeface="Calibri"/>
                <a:cs typeface="Calibri"/>
                <a:sym typeface="Calibri"/>
              </a:rPr>
              <a:t>tweets</a:t>
            </a:r>
            <a:endParaRPr b="0" i="0" sz="1300" u="none" cap="none" strike="noStrike">
              <a:solidFill>
                <a:schemeClr val="dk1"/>
              </a:solidFill>
              <a:latin typeface="Calibri"/>
              <a:ea typeface="Calibri"/>
              <a:cs typeface="Calibri"/>
              <a:sym typeface="Calibri"/>
            </a:endParaRPr>
          </a:p>
        </p:txBody>
      </p:sp>
      <p:sp>
        <p:nvSpPr>
          <p:cNvPr id="95" name="Google Shape;95;p6"/>
          <p:cNvSpPr/>
          <p:nvPr/>
        </p:nvSpPr>
        <p:spPr>
          <a:xfrm>
            <a:off x="868680" y="4251960"/>
            <a:ext cx="365760" cy="36576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822960" y="4251960"/>
            <a:ext cx="457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97" name="Google Shape;97;p6"/>
          <p:cNvSpPr/>
          <p:nvPr/>
        </p:nvSpPr>
        <p:spPr>
          <a:xfrm>
            <a:off x="1325880" y="4251960"/>
            <a:ext cx="365760" cy="36576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1280160" y="4251960"/>
            <a:ext cx="457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99" name="Google Shape;99;p6"/>
          <p:cNvSpPr/>
          <p:nvPr/>
        </p:nvSpPr>
        <p:spPr>
          <a:xfrm>
            <a:off x="1783080" y="4251960"/>
            <a:ext cx="3566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250"/>
              <a:buFont typeface="Calibri"/>
              <a:buNone/>
            </a:pPr>
            <a:r>
              <a:rPr b="1" i="0" lang="en-US" sz="1250" u="none" cap="none" strike="noStrike">
                <a:solidFill>
                  <a:srgbClr val="16202B"/>
                </a:solidFill>
                <a:latin typeface="Calibri"/>
                <a:ea typeface="Calibri"/>
                <a:cs typeface="Calibri"/>
                <a:sym typeface="Calibri"/>
              </a:rPr>
              <a:t>SOLO 2 clases (positivo / negativo).</a:t>
            </a:r>
            <a:endParaRPr b="0" i="0" sz="1250" u="none" cap="none" strike="noStrike">
              <a:solidFill>
                <a:schemeClr val="dk1"/>
              </a:solidFill>
              <a:latin typeface="Calibri"/>
              <a:ea typeface="Calibri"/>
              <a:cs typeface="Calibri"/>
              <a:sym typeface="Calibri"/>
            </a:endParaRPr>
          </a:p>
        </p:txBody>
      </p:sp>
      <p:sp>
        <p:nvSpPr>
          <p:cNvPr id="100" name="Google Shape;100;p6"/>
          <p:cNvSpPr/>
          <p:nvPr/>
        </p:nvSpPr>
        <p:spPr>
          <a:xfrm>
            <a:off x="868680" y="4800600"/>
            <a:ext cx="47548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1" lang="en-US" sz="1200" u="none" cap="none" strike="noStrike">
                <a:solidFill>
                  <a:srgbClr val="5B7083"/>
                </a:solidFill>
                <a:latin typeface="Calibri"/>
                <a:ea typeface="Calibri"/>
                <a:cs typeface="Calibri"/>
                <a:sym typeface="Calibri"/>
              </a:rPr>
              <a:t>No existe ni un solo ejemplo neutral en el set con el que se entrena.</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868680" y="5486400"/>
            <a:ext cx="4754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200"/>
              <a:buFont typeface="Calibri"/>
              <a:buNone/>
            </a:pPr>
            <a:r>
              <a:rPr b="0" i="0" lang="en-US" sz="1200" u="none" cap="none" strike="noStrike">
                <a:solidFill>
                  <a:srgbClr val="16202B"/>
                </a:solidFill>
                <a:latin typeface="Calibri"/>
                <a:ea typeface="Calibri"/>
                <a:cs typeface="Calibri"/>
                <a:sym typeface="Calibri"/>
              </a:rPr>
              <a:t>Se usa para entrenar los 3 modelos propios (BoW+NB, TF-IDF+SGD, Word2Vec+LogReg).</a:t>
            </a:r>
            <a:endParaRPr b="0" i="0" sz="1200" u="none" cap="none" strike="noStrike">
              <a:solidFill>
                <a:schemeClr val="dk1"/>
              </a:solidFill>
              <a:latin typeface="Calibri"/>
              <a:ea typeface="Calibri"/>
              <a:cs typeface="Calibri"/>
              <a:sym typeface="Calibri"/>
            </a:endParaRPr>
          </a:p>
        </p:txBody>
      </p:sp>
      <p:sp>
        <p:nvSpPr>
          <p:cNvPr id="102" name="Google Shape;102;p6"/>
          <p:cNvSpPr/>
          <p:nvPr/>
        </p:nvSpPr>
        <p:spPr>
          <a:xfrm>
            <a:off x="6217920" y="2057400"/>
            <a:ext cx="5394960" cy="4114800"/>
          </a:xfrm>
          <a:prstGeom prst="roundRect">
            <a:avLst>
              <a:gd fmla="val 177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6537960" y="2286000"/>
            <a:ext cx="4572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800"/>
              <a:buFont typeface="Calibri"/>
              <a:buNone/>
            </a:pPr>
            <a:r>
              <a:rPr b="1" i="0" lang="en-US" sz="1800" u="none" cap="none" strike="noStrike">
                <a:solidFill>
                  <a:srgbClr val="16202B"/>
                </a:solidFill>
                <a:latin typeface="Calibri"/>
                <a:ea typeface="Calibri"/>
                <a:cs typeface="Calibri"/>
                <a:sym typeface="Calibri"/>
              </a:rPr>
              <a:t>Test manual</a:t>
            </a:r>
            <a:endParaRPr b="0" i="0" sz="1800" u="none" cap="none" strike="noStrike">
              <a:solidFill>
                <a:schemeClr val="dk1"/>
              </a:solidFill>
              <a:latin typeface="Calibri"/>
              <a:ea typeface="Calibri"/>
              <a:cs typeface="Calibri"/>
              <a:sym typeface="Calibri"/>
            </a:endParaRPr>
          </a:p>
        </p:txBody>
      </p:sp>
      <p:sp>
        <p:nvSpPr>
          <p:cNvPr id="104" name="Google Shape;104;p6"/>
          <p:cNvSpPr/>
          <p:nvPr/>
        </p:nvSpPr>
        <p:spPr>
          <a:xfrm>
            <a:off x="6537960" y="267004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050"/>
              <a:buFont typeface="Courier New"/>
              <a:buNone/>
            </a:pPr>
            <a:r>
              <a:rPr b="0" i="0" lang="en-US" sz="1050" u="none" cap="none" strike="noStrike">
                <a:solidFill>
                  <a:srgbClr val="5B7083"/>
                </a:solidFill>
                <a:latin typeface="Courier New"/>
                <a:ea typeface="Courier New"/>
                <a:cs typeface="Courier New"/>
                <a:sym typeface="Courier New"/>
              </a:rPr>
              <a:t>testdata.manual.2009.06.14.csv</a:t>
            </a:r>
            <a:endParaRPr b="0" i="0" sz="1050" u="none" cap="none" strike="noStrike">
              <a:solidFill>
                <a:schemeClr val="dk1"/>
              </a:solidFill>
              <a:latin typeface="Calibri"/>
              <a:ea typeface="Calibri"/>
              <a:cs typeface="Calibri"/>
              <a:sym typeface="Calibri"/>
            </a:endParaRPr>
          </a:p>
        </p:txBody>
      </p:sp>
      <p:sp>
        <p:nvSpPr>
          <p:cNvPr id="105" name="Google Shape;105;p6"/>
          <p:cNvSpPr/>
          <p:nvPr/>
        </p:nvSpPr>
        <p:spPr>
          <a:xfrm>
            <a:off x="6537960" y="3063240"/>
            <a:ext cx="2743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4400"/>
              <a:buFont typeface="Cambria"/>
              <a:buNone/>
            </a:pPr>
            <a:r>
              <a:rPr b="1" i="0" lang="en-US" sz="4400" u="none" cap="none" strike="noStrike">
                <a:solidFill>
                  <a:srgbClr val="1D9BF0"/>
                </a:solidFill>
                <a:latin typeface="Cambria"/>
                <a:ea typeface="Cambria"/>
                <a:cs typeface="Cambria"/>
                <a:sym typeface="Cambria"/>
              </a:rPr>
              <a:t>498</a:t>
            </a:r>
            <a:endParaRPr b="0" i="0" sz="4400" u="none" cap="none" strike="noStrike">
              <a:solidFill>
                <a:schemeClr val="dk1"/>
              </a:solidFill>
              <a:latin typeface="Calibri"/>
              <a:ea typeface="Calibri"/>
              <a:cs typeface="Calibri"/>
              <a:sym typeface="Calibri"/>
            </a:endParaRPr>
          </a:p>
        </p:txBody>
      </p:sp>
      <p:sp>
        <p:nvSpPr>
          <p:cNvPr id="106" name="Google Shape;106;p6"/>
          <p:cNvSpPr/>
          <p:nvPr/>
        </p:nvSpPr>
        <p:spPr>
          <a:xfrm>
            <a:off x="6537960" y="379476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300"/>
              <a:buFont typeface="Calibri"/>
              <a:buNone/>
            </a:pPr>
            <a:r>
              <a:rPr b="0" i="0" lang="en-US" sz="1300" u="none" cap="none" strike="noStrike">
                <a:solidFill>
                  <a:srgbClr val="5B7083"/>
                </a:solidFill>
                <a:latin typeface="Calibri"/>
                <a:ea typeface="Calibri"/>
                <a:cs typeface="Calibri"/>
                <a:sym typeface="Calibri"/>
              </a:rPr>
              <a:t>tweets etiquetados a mano</a:t>
            </a:r>
            <a:endParaRPr b="0" i="0" sz="1300" u="none" cap="none" strike="noStrike">
              <a:solidFill>
                <a:schemeClr val="dk1"/>
              </a:solidFill>
              <a:latin typeface="Calibri"/>
              <a:ea typeface="Calibri"/>
              <a:cs typeface="Calibri"/>
              <a:sym typeface="Calibri"/>
            </a:endParaRPr>
          </a:p>
        </p:txBody>
      </p:sp>
      <p:sp>
        <p:nvSpPr>
          <p:cNvPr id="107" name="Google Shape;107;p6"/>
          <p:cNvSpPr/>
          <p:nvPr/>
        </p:nvSpPr>
        <p:spPr>
          <a:xfrm>
            <a:off x="6537960" y="4251960"/>
            <a:ext cx="365760" cy="36576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6492240" y="4251960"/>
            <a:ext cx="457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09" name="Google Shape;109;p6"/>
          <p:cNvSpPr/>
          <p:nvPr/>
        </p:nvSpPr>
        <p:spPr>
          <a:xfrm>
            <a:off x="6995160" y="4251960"/>
            <a:ext cx="365760" cy="365760"/>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6949440" y="4251960"/>
            <a:ext cx="457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11" name="Google Shape;111;p6"/>
          <p:cNvSpPr/>
          <p:nvPr/>
        </p:nvSpPr>
        <p:spPr>
          <a:xfrm>
            <a:off x="7452360" y="4251960"/>
            <a:ext cx="365760" cy="36576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7406640" y="4251960"/>
            <a:ext cx="457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13" name="Google Shape;113;p6"/>
          <p:cNvSpPr/>
          <p:nvPr/>
        </p:nvSpPr>
        <p:spPr>
          <a:xfrm>
            <a:off x="7909560" y="425196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250"/>
              <a:buFont typeface="Calibri"/>
              <a:buNone/>
            </a:pPr>
            <a:r>
              <a:rPr b="1" i="0" lang="en-US" sz="1250" u="none" cap="none" strike="noStrike">
                <a:solidFill>
                  <a:srgbClr val="16202B"/>
                </a:solidFill>
                <a:latin typeface="Calibri"/>
                <a:ea typeface="Calibri"/>
                <a:cs typeface="Calibri"/>
                <a:sym typeface="Calibri"/>
              </a:rPr>
              <a:t>Las 3 clases, incluida la neutral.</a:t>
            </a:r>
            <a:endParaRPr b="0" i="0" sz="1250" u="none" cap="none" strike="noStrike">
              <a:solidFill>
                <a:schemeClr val="dk1"/>
              </a:solidFill>
              <a:latin typeface="Calibri"/>
              <a:ea typeface="Calibri"/>
              <a:cs typeface="Calibri"/>
              <a:sym typeface="Calibri"/>
            </a:endParaRPr>
          </a:p>
        </p:txBody>
      </p:sp>
      <p:sp>
        <p:nvSpPr>
          <p:cNvPr id="114" name="Google Shape;114;p6"/>
          <p:cNvSpPr/>
          <p:nvPr/>
        </p:nvSpPr>
        <p:spPr>
          <a:xfrm>
            <a:off x="6537960" y="4800600"/>
            <a:ext cx="47548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1" lang="en-US" sz="1200" u="none" cap="none" strike="noStrike">
                <a:solidFill>
                  <a:srgbClr val="5B7083"/>
                </a:solidFill>
                <a:latin typeface="Calibri"/>
                <a:ea typeface="Calibri"/>
                <a:cs typeface="Calibri"/>
                <a:sym typeface="Calibri"/>
              </a:rPr>
              <a:t>Es el único set donde se puede medir si el modelo reconoce lo neutral.</a:t>
            </a:r>
            <a:endParaRPr b="0" i="0" sz="1200" u="none" cap="none" strike="noStrike">
              <a:solidFill>
                <a:schemeClr val="dk1"/>
              </a:solidFill>
              <a:latin typeface="Calibri"/>
              <a:ea typeface="Calibri"/>
              <a:cs typeface="Calibri"/>
              <a:sym typeface="Calibri"/>
            </a:endParaRPr>
          </a:p>
        </p:txBody>
      </p:sp>
      <p:sp>
        <p:nvSpPr>
          <p:cNvPr id="115" name="Google Shape;115;p6"/>
          <p:cNvSpPr/>
          <p:nvPr/>
        </p:nvSpPr>
        <p:spPr>
          <a:xfrm>
            <a:off x="6537960" y="5486400"/>
            <a:ext cx="4754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200"/>
              <a:buFont typeface="Calibri"/>
              <a:buNone/>
            </a:pPr>
            <a:r>
              <a:rPr b="0" i="0" lang="en-US" sz="1200" u="none" cap="none" strike="noStrike">
                <a:solidFill>
                  <a:srgbClr val="16202B"/>
                </a:solidFill>
                <a:latin typeface="Calibri"/>
                <a:ea typeface="Calibri"/>
                <a:cs typeface="Calibri"/>
                <a:sym typeface="Calibri"/>
              </a:rPr>
              <a:t>Se usa como evaluación final — nunca se entrena con él.</a:t>
            </a:r>
            <a:endParaRPr b="0" i="0" sz="1200" u="none" cap="none" strike="noStrike">
              <a:solidFill>
                <a:schemeClr val="dk1"/>
              </a:solidFill>
              <a:latin typeface="Calibri"/>
              <a:ea typeface="Calibri"/>
              <a:cs typeface="Calibri"/>
              <a:sym typeface="Calibri"/>
            </a:endParaRPr>
          </a:p>
        </p:txBody>
      </p:sp>
      <p:sp>
        <p:nvSpPr>
          <p:cNvPr id="116" name="Google Shape;116;p6"/>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
        <p:nvSpPr>
          <p:cNvPr id="117" name="Google Shape;117;p6"/>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22" name="Shape 122"/>
        <p:cNvGrpSpPr/>
        <p:nvPr/>
      </p:nvGrpSpPr>
      <p:grpSpPr>
        <a:xfrm>
          <a:off x="0" y="0"/>
          <a:ext cx="0" cy="0"/>
          <a:chOff x="0" y="0"/>
          <a:chExt cx="0" cy="0"/>
        </a:xfrm>
      </p:grpSpPr>
      <p:sp>
        <p:nvSpPr>
          <p:cNvPr id="123" name="Google Shape;123;p7"/>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01 · PROBLEMA Y DATASET</a:t>
            </a:r>
            <a:endParaRPr b="0" i="0" sz="1200" u="none" cap="none" strike="noStrike">
              <a:solidFill>
                <a:schemeClr val="dk1"/>
              </a:solidFill>
              <a:latin typeface="Calibri"/>
              <a:ea typeface="Calibri"/>
              <a:cs typeface="Calibri"/>
              <a:sym typeface="Calibri"/>
            </a:endParaRPr>
          </a:p>
        </p:txBody>
      </p:sp>
      <p:sp>
        <p:nvSpPr>
          <p:cNvPr id="124" name="Google Shape;124;p7"/>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Qué mostró la exploración (EDA)</a:t>
            </a:r>
            <a:endParaRPr b="0" i="0" sz="3000" u="none" cap="none" strike="noStrike">
              <a:solidFill>
                <a:schemeClr val="dk1"/>
              </a:solidFill>
              <a:latin typeface="Calibri"/>
              <a:ea typeface="Calibri"/>
              <a:cs typeface="Calibri"/>
              <a:sym typeface="Calibri"/>
            </a:endParaRPr>
          </a:p>
        </p:txBody>
      </p:sp>
      <p:sp>
        <p:nvSpPr>
          <p:cNvPr id="125" name="Google Shape;125;p7"/>
          <p:cNvSpPr/>
          <p:nvPr/>
        </p:nvSpPr>
        <p:spPr>
          <a:xfrm>
            <a:off x="548640" y="1920240"/>
            <a:ext cx="2606040" cy="2103120"/>
          </a:xfrm>
          <a:prstGeom prst="roundRect">
            <a:avLst>
              <a:gd fmla="val 347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548640" y="2148840"/>
            <a:ext cx="2606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A7C"/>
              </a:buClr>
              <a:buSzPts val="3400"/>
              <a:buFont typeface="Cambria"/>
              <a:buNone/>
            </a:pPr>
            <a:r>
              <a:rPr b="1" i="0" lang="en-US" sz="3400" u="none" cap="none" strike="noStrike">
                <a:solidFill>
                  <a:srgbClr val="00BA7C"/>
                </a:solidFill>
                <a:latin typeface="Cambria"/>
                <a:ea typeface="Cambria"/>
                <a:cs typeface="Cambria"/>
                <a:sym typeface="Cambria"/>
              </a:rPr>
              <a:t>0</a:t>
            </a:r>
            <a:endParaRPr b="0" i="0" sz="3400" u="none" cap="none" strike="noStrike">
              <a:solidFill>
                <a:schemeClr val="dk1"/>
              </a:solidFill>
              <a:latin typeface="Calibri"/>
              <a:ea typeface="Calibri"/>
              <a:cs typeface="Calibri"/>
              <a:sym typeface="Calibri"/>
            </a:endParaRPr>
          </a:p>
        </p:txBody>
      </p:sp>
      <p:sp>
        <p:nvSpPr>
          <p:cNvPr id="127" name="Google Shape;127;p7"/>
          <p:cNvSpPr/>
          <p:nvPr/>
        </p:nvSpPr>
        <p:spPr>
          <a:xfrm>
            <a:off x="685800" y="3108960"/>
            <a:ext cx="23317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B"/>
              </a:buClr>
              <a:buSzPts val="1250"/>
              <a:buFont typeface="Calibri"/>
              <a:buNone/>
            </a:pPr>
            <a:r>
              <a:rPr b="0" i="0" lang="en-US" sz="1250" u="none" cap="none" strike="noStrike">
                <a:solidFill>
                  <a:srgbClr val="16202B"/>
                </a:solidFill>
                <a:latin typeface="Calibri"/>
                <a:ea typeface="Calibri"/>
                <a:cs typeface="Calibri"/>
                <a:sym typeface="Calibri"/>
              </a:rPr>
              <a:t>valores nulos</a:t>
            </a:r>
            <a:endParaRPr b="0" i="0" sz="1250" u="none" cap="none" strike="noStrike">
              <a:solidFill>
                <a:schemeClr val="dk1"/>
              </a:solidFill>
              <a:latin typeface="Calibri"/>
              <a:ea typeface="Calibri"/>
              <a:cs typeface="Calibri"/>
              <a:sym typeface="Calibri"/>
            </a:endParaRPr>
          </a:p>
        </p:txBody>
      </p:sp>
      <p:sp>
        <p:nvSpPr>
          <p:cNvPr id="128" name="Google Shape;128;p7"/>
          <p:cNvSpPr/>
          <p:nvPr/>
        </p:nvSpPr>
        <p:spPr>
          <a:xfrm>
            <a:off x="3337560" y="1920240"/>
            <a:ext cx="2606040" cy="2103120"/>
          </a:xfrm>
          <a:prstGeom prst="roundRect">
            <a:avLst>
              <a:gd fmla="val 347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3337560" y="2148840"/>
            <a:ext cx="2606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A7C"/>
              </a:buClr>
              <a:buSzPts val="3400"/>
              <a:buFont typeface="Cambria"/>
              <a:buNone/>
            </a:pPr>
            <a:r>
              <a:rPr b="1" i="0" lang="en-US" sz="3400" u="none" cap="none" strike="noStrike">
                <a:solidFill>
                  <a:srgbClr val="00BA7C"/>
                </a:solidFill>
                <a:latin typeface="Cambria"/>
                <a:ea typeface="Cambria"/>
                <a:cs typeface="Cambria"/>
                <a:sym typeface="Cambria"/>
              </a:rPr>
              <a:t>0</a:t>
            </a:r>
            <a:endParaRPr b="0" i="0" sz="3400" u="none" cap="none" strike="noStrike">
              <a:solidFill>
                <a:schemeClr val="dk1"/>
              </a:solidFill>
              <a:latin typeface="Calibri"/>
              <a:ea typeface="Calibri"/>
              <a:cs typeface="Calibri"/>
              <a:sym typeface="Calibri"/>
            </a:endParaRPr>
          </a:p>
        </p:txBody>
      </p:sp>
      <p:sp>
        <p:nvSpPr>
          <p:cNvPr id="130" name="Google Shape;130;p7"/>
          <p:cNvSpPr/>
          <p:nvPr/>
        </p:nvSpPr>
        <p:spPr>
          <a:xfrm>
            <a:off x="3474720" y="3108960"/>
            <a:ext cx="23317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B"/>
              </a:buClr>
              <a:buSzPts val="1250"/>
              <a:buFont typeface="Calibri"/>
              <a:buNone/>
            </a:pPr>
            <a:r>
              <a:rPr b="0" i="0" lang="en-US" sz="1250" u="none" cap="none" strike="noStrike">
                <a:solidFill>
                  <a:srgbClr val="16202B"/>
                </a:solidFill>
                <a:latin typeface="Calibri"/>
                <a:ea typeface="Calibri"/>
                <a:cs typeface="Calibri"/>
                <a:sym typeface="Calibri"/>
              </a:rPr>
              <a:t>tweets duplicados</a:t>
            </a:r>
            <a:endParaRPr b="0" i="0" sz="1250" u="none" cap="none" strike="noStrike">
              <a:solidFill>
                <a:schemeClr val="dk1"/>
              </a:solidFill>
              <a:latin typeface="Calibri"/>
              <a:ea typeface="Calibri"/>
              <a:cs typeface="Calibri"/>
              <a:sym typeface="Calibri"/>
            </a:endParaRPr>
          </a:p>
        </p:txBody>
      </p:sp>
      <p:sp>
        <p:nvSpPr>
          <p:cNvPr id="131" name="Google Shape;131;p7"/>
          <p:cNvSpPr/>
          <p:nvPr/>
        </p:nvSpPr>
        <p:spPr>
          <a:xfrm>
            <a:off x="6126480" y="1920240"/>
            <a:ext cx="2606040" cy="2103120"/>
          </a:xfrm>
          <a:prstGeom prst="roundRect">
            <a:avLst>
              <a:gd fmla="val 347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6126480" y="2148840"/>
            <a:ext cx="2606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9BF0"/>
              </a:buClr>
              <a:buSzPts val="3400"/>
              <a:buFont typeface="Cambria"/>
              <a:buNone/>
            </a:pPr>
            <a:r>
              <a:rPr b="1" i="0" lang="en-US" sz="3400" u="none" cap="none" strike="noStrike">
                <a:solidFill>
                  <a:srgbClr val="1D9BF0"/>
                </a:solidFill>
                <a:latin typeface="Cambria"/>
                <a:ea typeface="Cambria"/>
                <a:cs typeface="Cambria"/>
                <a:sym typeface="Cambria"/>
              </a:rPr>
              <a:t>50 / 50</a:t>
            </a:r>
            <a:endParaRPr b="0" i="0" sz="3400" u="none" cap="none" strike="noStrike">
              <a:solidFill>
                <a:schemeClr val="dk1"/>
              </a:solidFill>
              <a:latin typeface="Calibri"/>
              <a:ea typeface="Calibri"/>
              <a:cs typeface="Calibri"/>
              <a:sym typeface="Calibri"/>
            </a:endParaRPr>
          </a:p>
        </p:txBody>
      </p:sp>
      <p:sp>
        <p:nvSpPr>
          <p:cNvPr id="133" name="Google Shape;133;p7"/>
          <p:cNvSpPr/>
          <p:nvPr/>
        </p:nvSpPr>
        <p:spPr>
          <a:xfrm>
            <a:off x="6263640" y="3108960"/>
            <a:ext cx="23317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B"/>
              </a:buClr>
              <a:buSzPts val="1250"/>
              <a:buFont typeface="Calibri"/>
              <a:buNone/>
            </a:pPr>
            <a:r>
              <a:rPr b="0" i="0" lang="en-US" sz="1250" u="none" cap="none" strike="noStrike">
                <a:solidFill>
                  <a:srgbClr val="16202B"/>
                </a:solidFill>
                <a:latin typeface="Calibri"/>
                <a:ea typeface="Calibri"/>
                <a:cs typeface="Calibri"/>
                <a:sym typeface="Calibri"/>
              </a:rPr>
              <a:t>balance pos. / neg. en train</a:t>
            </a:r>
            <a:endParaRPr b="0" i="0" sz="1250" u="none" cap="none" strike="noStrike">
              <a:solidFill>
                <a:schemeClr val="dk1"/>
              </a:solidFill>
              <a:latin typeface="Calibri"/>
              <a:ea typeface="Calibri"/>
              <a:cs typeface="Calibri"/>
              <a:sym typeface="Calibri"/>
            </a:endParaRPr>
          </a:p>
        </p:txBody>
      </p:sp>
      <p:sp>
        <p:nvSpPr>
          <p:cNvPr id="134" name="Google Shape;134;p7"/>
          <p:cNvSpPr/>
          <p:nvPr/>
        </p:nvSpPr>
        <p:spPr>
          <a:xfrm>
            <a:off x="8915400" y="1920240"/>
            <a:ext cx="2606040" cy="2103120"/>
          </a:xfrm>
          <a:prstGeom prst="roundRect">
            <a:avLst>
              <a:gd fmla="val 347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8915400" y="2148840"/>
            <a:ext cx="2606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3400"/>
              <a:buFont typeface="Cambria"/>
              <a:buNone/>
            </a:pPr>
            <a:r>
              <a:rPr b="1" i="0" lang="en-US" sz="3400" u="none" cap="none" strike="noStrike">
                <a:solidFill>
                  <a:srgbClr val="F5A623"/>
                </a:solidFill>
                <a:latin typeface="Cambria"/>
                <a:ea typeface="Cambria"/>
                <a:cs typeface="Cambria"/>
                <a:sym typeface="Cambria"/>
              </a:rPr>
              <a:t>~74</a:t>
            </a:r>
            <a:endParaRPr b="0" i="0" sz="3400" u="none" cap="none" strike="noStrike">
              <a:solidFill>
                <a:schemeClr val="dk1"/>
              </a:solidFill>
              <a:latin typeface="Calibri"/>
              <a:ea typeface="Calibri"/>
              <a:cs typeface="Calibri"/>
              <a:sym typeface="Calibri"/>
            </a:endParaRPr>
          </a:p>
        </p:txBody>
      </p:sp>
      <p:sp>
        <p:nvSpPr>
          <p:cNvPr id="136" name="Google Shape;136;p7"/>
          <p:cNvSpPr/>
          <p:nvPr/>
        </p:nvSpPr>
        <p:spPr>
          <a:xfrm>
            <a:off x="9052560" y="3108960"/>
            <a:ext cx="23317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B"/>
              </a:buClr>
              <a:buSzPts val="1250"/>
              <a:buFont typeface="Calibri"/>
              <a:buNone/>
            </a:pPr>
            <a:r>
              <a:rPr b="0" i="0" lang="en-US" sz="1250" u="none" cap="none" strike="noStrike">
                <a:solidFill>
                  <a:srgbClr val="16202B"/>
                </a:solidFill>
                <a:latin typeface="Calibri"/>
                <a:ea typeface="Calibri"/>
                <a:cs typeface="Calibri"/>
                <a:sym typeface="Calibri"/>
              </a:rPr>
              <a:t>caracteres en promedio por tweet</a:t>
            </a:r>
            <a:endParaRPr b="0" i="0" sz="1250" u="none" cap="none" strike="noStrike">
              <a:solidFill>
                <a:schemeClr val="dk1"/>
              </a:solidFill>
              <a:latin typeface="Calibri"/>
              <a:ea typeface="Calibri"/>
              <a:cs typeface="Calibri"/>
              <a:sym typeface="Calibri"/>
            </a:endParaRPr>
          </a:p>
        </p:txBody>
      </p:sp>
      <p:sp>
        <p:nvSpPr>
          <p:cNvPr id="137" name="Google Shape;137;p7"/>
          <p:cNvSpPr/>
          <p:nvPr/>
        </p:nvSpPr>
        <p:spPr>
          <a:xfrm>
            <a:off x="548640" y="4297680"/>
            <a:ext cx="11064240" cy="1874520"/>
          </a:xfrm>
          <a:prstGeom prst="roundRect">
            <a:avLst>
              <a:gd fmla="val 3902"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a:off x="868680" y="448056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00"/>
              <a:buFont typeface="Calibri"/>
              <a:buNone/>
            </a:pPr>
            <a:r>
              <a:rPr b="1" i="0" lang="en-US" sz="1400" u="none" cap="none" strike="noStrike">
                <a:solidFill>
                  <a:srgbClr val="16202B"/>
                </a:solidFill>
                <a:latin typeface="Calibri"/>
                <a:ea typeface="Calibri"/>
                <a:cs typeface="Calibri"/>
                <a:sym typeface="Calibri"/>
              </a:rPr>
              <a:t>Por qué importa cada uno</a:t>
            </a:r>
            <a:endParaRPr b="0" i="0" sz="1400" u="none" cap="none" strike="noStrike">
              <a:solidFill>
                <a:schemeClr val="dk1"/>
              </a:solidFill>
              <a:latin typeface="Calibri"/>
              <a:ea typeface="Calibri"/>
              <a:cs typeface="Calibri"/>
              <a:sym typeface="Calibri"/>
            </a:endParaRPr>
          </a:p>
        </p:txBody>
      </p:sp>
      <p:sp>
        <p:nvSpPr>
          <p:cNvPr id="139" name="Google Shape;139;p7"/>
          <p:cNvSpPr/>
          <p:nvPr/>
        </p:nvSpPr>
        <p:spPr>
          <a:xfrm>
            <a:off x="868680" y="4846320"/>
            <a:ext cx="10424160" cy="1234440"/>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Clr>
                <a:srgbClr val="16202B"/>
              </a:buClr>
              <a:buSzPts val="1250"/>
              <a:buFont typeface="Calibri"/>
              <a:buNone/>
            </a:pPr>
            <a:r>
              <a:rPr b="1" i="0" lang="en-US" sz="1250" u="none" cap="none" strike="noStrike">
                <a:solidFill>
                  <a:srgbClr val="16202B"/>
                </a:solidFill>
                <a:latin typeface="Calibri"/>
                <a:ea typeface="Calibri"/>
                <a:cs typeface="Calibri"/>
                <a:sym typeface="Calibri"/>
              </a:rPr>
              <a:t>Sin nulos/duplicados: </a:t>
            </a:r>
            <a:r>
              <a:rPr b="0" i="0" lang="en-US" sz="1250" u="none" cap="none" strike="noStrike">
                <a:solidFill>
                  <a:srgbClr val="5B7083"/>
                </a:solidFill>
                <a:latin typeface="Calibri"/>
                <a:ea typeface="Calibri"/>
                <a:cs typeface="Calibri"/>
                <a:sym typeface="Calibri"/>
              </a:rPr>
              <a:t>el pipeline de texto no se rompe y no hay tweets repetidos sesgando el aprendizaje.</a:t>
            </a:r>
            <a:br>
              <a:rPr b="0" i="0" lang="en-US" sz="1250" u="none" cap="none" strike="noStrike">
                <a:solidFill>
                  <a:srgbClr val="5B7083"/>
                </a:solidFill>
                <a:latin typeface="Calibri"/>
                <a:ea typeface="Calibri"/>
                <a:cs typeface="Calibri"/>
                <a:sym typeface="Calibri"/>
              </a:rPr>
            </a:br>
            <a:r>
              <a:rPr b="1" i="0" lang="en-US" sz="1250" u="none" cap="none" strike="noStrike">
                <a:solidFill>
                  <a:srgbClr val="16202B"/>
                </a:solidFill>
                <a:latin typeface="Calibri"/>
                <a:ea typeface="Calibri"/>
                <a:cs typeface="Calibri"/>
                <a:sym typeface="Calibri"/>
              </a:rPr>
              <a:t>Balance 50/50: </a:t>
            </a:r>
            <a:r>
              <a:rPr b="0" i="0" lang="en-US" sz="1250" u="none" cap="none" strike="noStrike">
                <a:solidFill>
                  <a:srgbClr val="5B7083"/>
                </a:solidFill>
                <a:latin typeface="Calibri"/>
                <a:ea typeface="Calibri"/>
                <a:cs typeface="Calibri"/>
                <a:sym typeface="Calibri"/>
              </a:rPr>
              <a:t>es un diseño del dataset original — habilita usar accuracy como métrica razonable en el split interno (no así, necesariamente, en el test manual).</a:t>
            </a:r>
            <a:br>
              <a:rPr b="0" i="0" lang="en-US" sz="1250" u="none" cap="none" strike="noStrike">
                <a:solidFill>
                  <a:srgbClr val="5B7083"/>
                </a:solidFill>
                <a:latin typeface="Calibri"/>
                <a:ea typeface="Calibri"/>
                <a:cs typeface="Calibri"/>
                <a:sym typeface="Calibri"/>
              </a:rPr>
            </a:br>
            <a:r>
              <a:rPr b="1" i="0" lang="en-US" sz="1250" u="none" cap="none" strike="noStrike">
                <a:solidFill>
                  <a:srgbClr val="16202B"/>
                </a:solidFill>
                <a:latin typeface="Calibri"/>
                <a:ea typeface="Calibri"/>
                <a:cs typeface="Calibri"/>
                <a:sym typeface="Calibri"/>
              </a:rPr>
              <a:t>Longitud ~74 caracteres: </a:t>
            </a:r>
            <a:r>
              <a:rPr b="0" i="0" lang="en-US" sz="1250" u="none" cap="none" strike="noStrike">
                <a:solidFill>
                  <a:srgbClr val="5B7083"/>
                </a:solidFill>
                <a:latin typeface="Calibri"/>
                <a:ea typeface="Calibri"/>
                <a:cs typeface="Calibri"/>
                <a:sym typeface="Calibri"/>
              </a:rPr>
              <a:t>define cuánto contexto hay por tweet — insumo para decidir el largo máximo de secuencia si se usara una red neuronal.</a:t>
            </a:r>
            <a:endParaRPr b="0" i="0" sz="1250" u="none" cap="none" strike="noStrike">
              <a:solidFill>
                <a:schemeClr val="dk1"/>
              </a:solidFill>
              <a:latin typeface="Calibri"/>
              <a:ea typeface="Calibri"/>
              <a:cs typeface="Calibri"/>
              <a:sym typeface="Calibri"/>
            </a:endParaRPr>
          </a:p>
        </p:txBody>
      </p:sp>
      <p:sp>
        <p:nvSpPr>
          <p:cNvPr id="140" name="Google Shape;140;p7"/>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
        <p:nvSpPr>
          <p:cNvPr id="141" name="Google Shape;141;p7"/>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46" name="Shape 146"/>
        <p:cNvGrpSpPr/>
        <p:nvPr/>
      </p:nvGrpSpPr>
      <p:grpSpPr>
        <a:xfrm>
          <a:off x="0" y="0"/>
          <a:ext cx="0" cy="0"/>
          <a:chOff x="0" y="0"/>
          <a:chExt cx="0" cy="0"/>
        </a:xfrm>
      </p:grpSpPr>
      <p:sp>
        <p:nvSpPr>
          <p:cNvPr id="147" name="Google Shape;147;p8"/>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02 · METODOLOGÍA Y DECISIONES</a:t>
            </a:r>
            <a:endParaRPr b="0" i="0" sz="1200" u="none" cap="none" strike="noStrike">
              <a:solidFill>
                <a:schemeClr val="dk1"/>
              </a:solidFill>
              <a:latin typeface="Calibri"/>
              <a:ea typeface="Calibri"/>
              <a:cs typeface="Calibri"/>
              <a:sym typeface="Calibri"/>
            </a:endParaRPr>
          </a:p>
        </p:txBody>
      </p:sp>
      <p:sp>
        <p:nvSpPr>
          <p:cNvPr id="148" name="Google Shape;148;p8"/>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Preprocesamiento: qué se limpió y por qué</a:t>
            </a:r>
            <a:endParaRPr b="0" i="0" sz="3000" u="none" cap="none" strike="noStrike">
              <a:solidFill>
                <a:schemeClr val="dk1"/>
              </a:solidFill>
              <a:latin typeface="Calibri"/>
              <a:ea typeface="Calibri"/>
              <a:cs typeface="Calibri"/>
              <a:sym typeface="Calibri"/>
            </a:endParaRPr>
          </a:p>
        </p:txBody>
      </p:sp>
      <p:sp>
        <p:nvSpPr>
          <p:cNvPr id="149" name="Google Shape;149;p8"/>
          <p:cNvSpPr/>
          <p:nvPr/>
        </p:nvSpPr>
        <p:spPr>
          <a:xfrm>
            <a:off x="548640" y="1783080"/>
            <a:ext cx="11064240" cy="914400"/>
          </a:xfrm>
          <a:prstGeom prst="roundRect">
            <a:avLst>
              <a:gd fmla="val 8000"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822960" y="1984248"/>
            <a:ext cx="502920" cy="50292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777240" y="1984248"/>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152" name="Google Shape;152;p8"/>
          <p:cNvSpPr/>
          <p:nvPr/>
        </p:nvSpPr>
        <p:spPr>
          <a:xfrm>
            <a:off x="1600200" y="1874520"/>
            <a:ext cx="3108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00"/>
              <a:buFont typeface="Calibri"/>
              <a:buNone/>
            </a:pPr>
            <a:r>
              <a:rPr b="1" i="0" lang="en-US" sz="1400" u="none" cap="none" strike="noStrike">
                <a:solidFill>
                  <a:srgbClr val="16202B"/>
                </a:solidFill>
                <a:latin typeface="Calibri"/>
                <a:ea typeface="Calibri"/>
                <a:cs typeface="Calibri"/>
                <a:sym typeface="Calibri"/>
              </a:rPr>
              <a:t>Minúsculas</a:t>
            </a:r>
            <a:endParaRPr b="0" i="0" sz="1400" u="none" cap="none" strike="noStrike">
              <a:solidFill>
                <a:schemeClr val="dk1"/>
              </a:solidFill>
              <a:latin typeface="Calibri"/>
              <a:ea typeface="Calibri"/>
              <a:cs typeface="Calibri"/>
              <a:sym typeface="Calibri"/>
            </a:endParaRPr>
          </a:p>
        </p:txBody>
      </p:sp>
      <p:sp>
        <p:nvSpPr>
          <p:cNvPr id="153" name="Google Shape;153;p8"/>
          <p:cNvSpPr/>
          <p:nvPr/>
        </p:nvSpPr>
        <p:spPr>
          <a:xfrm>
            <a:off x="4846320" y="1874520"/>
            <a:ext cx="6537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50"/>
              <a:buFont typeface="Calibri"/>
              <a:buNone/>
            </a:pPr>
            <a:r>
              <a:rPr b="0" i="0" lang="en-US" sz="1250" u="none" cap="none" strike="noStrike">
                <a:solidFill>
                  <a:srgbClr val="5B7083"/>
                </a:solidFill>
                <a:latin typeface="Calibri"/>
                <a:ea typeface="Calibri"/>
                <a:cs typeface="Calibri"/>
                <a:sym typeface="Calibri"/>
              </a:rPr>
              <a:t>"GOOD" y "good" deben contar como el mismo token.</a:t>
            </a:r>
            <a:endParaRPr b="0" i="0" sz="1250" u="none" cap="none" strike="noStrike">
              <a:solidFill>
                <a:schemeClr val="dk1"/>
              </a:solidFill>
              <a:latin typeface="Calibri"/>
              <a:ea typeface="Calibri"/>
              <a:cs typeface="Calibri"/>
              <a:sym typeface="Calibri"/>
            </a:endParaRPr>
          </a:p>
        </p:txBody>
      </p:sp>
      <p:sp>
        <p:nvSpPr>
          <p:cNvPr id="154" name="Google Shape;154;p8"/>
          <p:cNvSpPr/>
          <p:nvPr/>
        </p:nvSpPr>
        <p:spPr>
          <a:xfrm>
            <a:off x="548640" y="2862072"/>
            <a:ext cx="11064240" cy="914400"/>
          </a:xfrm>
          <a:prstGeom prst="roundRect">
            <a:avLst>
              <a:gd fmla="val 8000"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
          <p:cNvSpPr/>
          <p:nvPr/>
        </p:nvSpPr>
        <p:spPr>
          <a:xfrm>
            <a:off x="822960" y="3063240"/>
            <a:ext cx="502920" cy="50292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777240" y="3063240"/>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157" name="Google Shape;157;p8"/>
          <p:cNvSpPr/>
          <p:nvPr/>
        </p:nvSpPr>
        <p:spPr>
          <a:xfrm>
            <a:off x="1600200" y="2953512"/>
            <a:ext cx="3108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00"/>
              <a:buFont typeface="Calibri"/>
              <a:buNone/>
            </a:pPr>
            <a:r>
              <a:rPr b="1" i="0" lang="en-US" sz="1400" u="none" cap="none" strike="noStrike">
                <a:solidFill>
                  <a:srgbClr val="16202B"/>
                </a:solidFill>
                <a:latin typeface="Calibri"/>
                <a:ea typeface="Calibri"/>
                <a:cs typeface="Calibri"/>
                <a:sym typeface="Calibri"/>
              </a:rPr>
              <a:t>URLs y menciones fuera</a:t>
            </a:r>
            <a:endParaRPr b="0" i="0" sz="1400" u="none" cap="none" strike="noStrike">
              <a:solidFill>
                <a:schemeClr val="dk1"/>
              </a:solidFill>
              <a:latin typeface="Calibri"/>
              <a:ea typeface="Calibri"/>
              <a:cs typeface="Calibri"/>
              <a:sym typeface="Calibri"/>
            </a:endParaRPr>
          </a:p>
        </p:txBody>
      </p:sp>
      <p:sp>
        <p:nvSpPr>
          <p:cNvPr id="158" name="Google Shape;158;p8"/>
          <p:cNvSpPr/>
          <p:nvPr/>
        </p:nvSpPr>
        <p:spPr>
          <a:xfrm>
            <a:off x="4846320" y="2953512"/>
            <a:ext cx="6537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50"/>
              <a:buFont typeface="Calibri"/>
              <a:buNone/>
            </a:pPr>
            <a:r>
              <a:rPr b="0" i="0" lang="en-US" sz="1250" u="none" cap="none" strike="noStrike">
                <a:solidFill>
                  <a:srgbClr val="5B7083"/>
                </a:solidFill>
                <a:latin typeface="Calibri"/>
                <a:ea typeface="Calibri"/>
                <a:cs typeface="Calibri"/>
                <a:sym typeface="Calibri"/>
              </a:rPr>
              <a:t>Regex para links (https?://\S+) y @usuario: ruido de Twitter sin señal de sentimiento.</a:t>
            </a:r>
            <a:endParaRPr b="0" i="0" sz="1250" u="none" cap="none" strike="noStrike">
              <a:solidFill>
                <a:schemeClr val="dk1"/>
              </a:solidFill>
              <a:latin typeface="Calibri"/>
              <a:ea typeface="Calibri"/>
              <a:cs typeface="Calibri"/>
              <a:sym typeface="Calibri"/>
            </a:endParaRPr>
          </a:p>
        </p:txBody>
      </p:sp>
      <p:sp>
        <p:nvSpPr>
          <p:cNvPr id="159" name="Google Shape;159;p8"/>
          <p:cNvSpPr/>
          <p:nvPr/>
        </p:nvSpPr>
        <p:spPr>
          <a:xfrm>
            <a:off x="548640" y="3941064"/>
            <a:ext cx="11064240" cy="914400"/>
          </a:xfrm>
          <a:prstGeom prst="roundRect">
            <a:avLst>
              <a:gd fmla="val 8000"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822960" y="4142232"/>
            <a:ext cx="502920" cy="502920"/>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a:off x="777240" y="4142232"/>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162" name="Google Shape;162;p8"/>
          <p:cNvSpPr/>
          <p:nvPr/>
        </p:nvSpPr>
        <p:spPr>
          <a:xfrm>
            <a:off x="1600200" y="4032504"/>
            <a:ext cx="3108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00"/>
              <a:buFont typeface="Calibri"/>
              <a:buNone/>
            </a:pPr>
            <a:r>
              <a:rPr b="1" i="0" lang="en-US" sz="1400" u="none" cap="none" strike="noStrike">
                <a:solidFill>
                  <a:srgbClr val="16202B"/>
                </a:solidFill>
                <a:latin typeface="Calibri"/>
                <a:ea typeface="Calibri"/>
                <a:cs typeface="Calibri"/>
                <a:sym typeface="Calibri"/>
              </a:rPr>
              <a:t>Hashtag: símbolo fuera, palabra dentro</a:t>
            </a:r>
            <a:endParaRPr b="0" i="0" sz="1400" u="none" cap="none" strike="noStrike">
              <a:solidFill>
                <a:schemeClr val="dk1"/>
              </a:solidFill>
              <a:latin typeface="Calibri"/>
              <a:ea typeface="Calibri"/>
              <a:cs typeface="Calibri"/>
              <a:sym typeface="Calibri"/>
            </a:endParaRPr>
          </a:p>
        </p:txBody>
      </p:sp>
      <p:sp>
        <p:nvSpPr>
          <p:cNvPr id="163" name="Google Shape;163;p8"/>
          <p:cNvSpPr/>
          <p:nvPr/>
        </p:nvSpPr>
        <p:spPr>
          <a:xfrm>
            <a:off x="4846320" y="4032504"/>
            <a:ext cx="6537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50"/>
              <a:buFont typeface="Calibri"/>
              <a:buNone/>
            </a:pPr>
            <a:r>
              <a:rPr b="0" i="0" lang="en-US" sz="1250" u="none" cap="none" strike="noStrike">
                <a:solidFill>
                  <a:srgbClr val="5B7083"/>
                </a:solidFill>
                <a:latin typeface="Calibri"/>
                <a:ea typeface="Calibri"/>
                <a:cs typeface="Calibri"/>
                <a:sym typeface="Calibri"/>
              </a:rPr>
              <a:t>"#loveit" aporta señal de sentimiento; sólo se descarta el "#".</a:t>
            </a:r>
            <a:endParaRPr b="0" i="0" sz="1250" u="none" cap="none" strike="noStrike">
              <a:solidFill>
                <a:schemeClr val="dk1"/>
              </a:solidFill>
              <a:latin typeface="Calibri"/>
              <a:ea typeface="Calibri"/>
              <a:cs typeface="Calibri"/>
              <a:sym typeface="Calibri"/>
            </a:endParaRPr>
          </a:p>
        </p:txBody>
      </p:sp>
      <p:sp>
        <p:nvSpPr>
          <p:cNvPr id="164" name="Google Shape;164;p8"/>
          <p:cNvSpPr/>
          <p:nvPr/>
        </p:nvSpPr>
        <p:spPr>
          <a:xfrm>
            <a:off x="548640" y="5020056"/>
            <a:ext cx="11064240" cy="914400"/>
          </a:xfrm>
          <a:prstGeom prst="roundRect">
            <a:avLst>
              <a:gd fmla="val 8000"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822960" y="5221224"/>
            <a:ext cx="502920" cy="50292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777240" y="5221224"/>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167" name="Google Shape;167;p8"/>
          <p:cNvSpPr/>
          <p:nvPr/>
        </p:nvSpPr>
        <p:spPr>
          <a:xfrm>
            <a:off x="1600200" y="5111496"/>
            <a:ext cx="3108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00"/>
              <a:buFont typeface="Calibri"/>
              <a:buNone/>
            </a:pPr>
            <a:r>
              <a:rPr b="1" i="0" lang="en-US" sz="1400" u="none" cap="none" strike="noStrike">
                <a:solidFill>
                  <a:srgbClr val="16202B"/>
                </a:solidFill>
                <a:latin typeface="Calibri"/>
                <a:ea typeface="Calibri"/>
                <a:cs typeface="Calibri"/>
                <a:sym typeface="Calibri"/>
              </a:rPr>
              <a:t>Stopwords + tokens de 1 letra</a:t>
            </a:r>
            <a:endParaRPr b="0" i="0" sz="1400" u="none" cap="none" strike="noStrike">
              <a:solidFill>
                <a:schemeClr val="dk1"/>
              </a:solidFill>
              <a:latin typeface="Calibri"/>
              <a:ea typeface="Calibri"/>
              <a:cs typeface="Calibri"/>
              <a:sym typeface="Calibri"/>
            </a:endParaRPr>
          </a:p>
        </p:txBody>
      </p:sp>
      <p:sp>
        <p:nvSpPr>
          <p:cNvPr id="168" name="Google Shape;168;p8"/>
          <p:cNvSpPr/>
          <p:nvPr/>
        </p:nvSpPr>
        <p:spPr>
          <a:xfrm>
            <a:off x="4846320" y="5111496"/>
            <a:ext cx="6537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50"/>
              <a:buFont typeface="Calibri"/>
              <a:buNone/>
            </a:pPr>
            <a:r>
              <a:rPr b="0" i="0" lang="en-US" sz="1250" u="none" cap="none" strike="noStrike">
                <a:solidFill>
                  <a:srgbClr val="5B7083"/>
                </a:solidFill>
                <a:latin typeface="Calibri"/>
                <a:ea typeface="Calibri"/>
                <a:cs typeface="Calibri"/>
                <a:sym typeface="Calibri"/>
              </a:rPr>
              <a:t>nltk stopwords en inglés; reduce el vocabulario a palabras con carga semántica.</a:t>
            </a:r>
            <a:endParaRPr b="0" i="0" sz="1250" u="none" cap="none" strike="noStrike">
              <a:solidFill>
                <a:schemeClr val="dk1"/>
              </a:solidFill>
              <a:latin typeface="Calibri"/>
              <a:ea typeface="Calibri"/>
              <a:cs typeface="Calibri"/>
              <a:sym typeface="Calibri"/>
            </a:endParaRPr>
          </a:p>
        </p:txBody>
      </p:sp>
      <p:sp>
        <p:nvSpPr>
          <p:cNvPr id="169" name="Google Shape;169;p8"/>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04</a:t>
            </a:r>
            <a:endParaRPr b="0" i="0" sz="1000" u="none" cap="none" strike="noStrike">
              <a:solidFill>
                <a:schemeClr val="dk1"/>
              </a:solidFill>
              <a:latin typeface="Calibri"/>
              <a:ea typeface="Calibri"/>
              <a:cs typeface="Calibri"/>
              <a:sym typeface="Calibri"/>
            </a:endParaRPr>
          </a:p>
        </p:txBody>
      </p:sp>
      <p:sp>
        <p:nvSpPr>
          <p:cNvPr id="170" name="Google Shape;170;p8"/>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75" name="Shape 175"/>
        <p:cNvGrpSpPr/>
        <p:nvPr/>
      </p:nvGrpSpPr>
      <p:grpSpPr>
        <a:xfrm>
          <a:off x="0" y="0"/>
          <a:ext cx="0" cy="0"/>
          <a:chOff x="0" y="0"/>
          <a:chExt cx="0" cy="0"/>
        </a:xfrm>
      </p:grpSpPr>
      <p:sp>
        <p:nvSpPr>
          <p:cNvPr id="176" name="Google Shape;176;p9"/>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02 · METODOLOGÍA Y DECISIONES</a:t>
            </a:r>
            <a:endParaRPr b="0" i="0" sz="1200" u="none" cap="none" strike="noStrike">
              <a:solidFill>
                <a:schemeClr val="dk1"/>
              </a:solidFill>
              <a:latin typeface="Calibri"/>
              <a:ea typeface="Calibri"/>
              <a:cs typeface="Calibri"/>
              <a:sym typeface="Calibri"/>
            </a:endParaRPr>
          </a:p>
        </p:txBody>
      </p:sp>
      <p:sp>
        <p:nvSpPr>
          <p:cNvPr id="177" name="Google Shape;177;p9"/>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División de datos</a:t>
            </a:r>
            <a:endParaRPr b="0" i="0" sz="3000" u="none" cap="none" strike="noStrike">
              <a:solidFill>
                <a:schemeClr val="dk1"/>
              </a:solidFill>
              <a:latin typeface="Calibri"/>
              <a:ea typeface="Calibri"/>
              <a:cs typeface="Calibri"/>
              <a:sym typeface="Calibri"/>
            </a:endParaRPr>
          </a:p>
        </p:txBody>
      </p:sp>
      <p:sp>
        <p:nvSpPr>
          <p:cNvPr id="178" name="Google Shape;178;p9"/>
          <p:cNvSpPr/>
          <p:nvPr/>
        </p:nvSpPr>
        <p:spPr>
          <a:xfrm>
            <a:off x="548640" y="1828800"/>
            <a:ext cx="11064240" cy="1965960"/>
          </a:xfrm>
          <a:prstGeom prst="roundRect">
            <a:avLst>
              <a:gd fmla="val 372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a:off x="868680" y="2011680"/>
            <a:ext cx="10424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300"/>
              <a:buFont typeface="Calibri"/>
              <a:buNone/>
            </a:pPr>
            <a:r>
              <a:rPr b="1" i="0" lang="en-US" sz="1300" u="none" cap="none" strike="noStrike">
                <a:solidFill>
                  <a:srgbClr val="16202B"/>
                </a:solidFill>
                <a:latin typeface="Calibri"/>
                <a:ea typeface="Calibri"/>
                <a:cs typeface="Calibri"/>
                <a:sym typeface="Calibri"/>
              </a:rPr>
              <a:t>Set de entrenamiento (1.6M)</a:t>
            </a:r>
            <a:endParaRPr b="0" i="0" sz="1300" u="none" cap="none" strike="noStrike">
              <a:solidFill>
                <a:schemeClr val="dk1"/>
              </a:solidFill>
              <a:latin typeface="Calibri"/>
              <a:ea typeface="Calibri"/>
              <a:cs typeface="Calibri"/>
              <a:sym typeface="Calibri"/>
            </a:endParaRPr>
          </a:p>
        </p:txBody>
      </p:sp>
      <p:sp>
        <p:nvSpPr>
          <p:cNvPr id="180" name="Google Shape;180;p9"/>
          <p:cNvSpPr/>
          <p:nvPr/>
        </p:nvSpPr>
        <p:spPr>
          <a:xfrm>
            <a:off x="868680" y="2395728"/>
            <a:ext cx="8778240" cy="731520"/>
          </a:xfrm>
          <a:prstGeom prst="roundRect">
            <a:avLst>
              <a:gd fmla="val 7500" name="adj"/>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868680" y="2395728"/>
            <a:ext cx="87782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90% — entrenamiento (X_train, y_train)</a:t>
            </a:r>
            <a:endParaRPr b="0" i="0" sz="1300" u="none" cap="none" strike="noStrike">
              <a:solidFill>
                <a:schemeClr val="dk1"/>
              </a:solidFill>
              <a:latin typeface="Calibri"/>
              <a:ea typeface="Calibri"/>
              <a:cs typeface="Calibri"/>
              <a:sym typeface="Calibri"/>
            </a:endParaRPr>
          </a:p>
        </p:txBody>
      </p:sp>
      <p:sp>
        <p:nvSpPr>
          <p:cNvPr id="182" name="Google Shape;182;p9"/>
          <p:cNvSpPr/>
          <p:nvPr/>
        </p:nvSpPr>
        <p:spPr>
          <a:xfrm>
            <a:off x="9738360" y="2395728"/>
            <a:ext cx="1417320" cy="731520"/>
          </a:xfrm>
          <a:prstGeom prst="roundRect">
            <a:avLst>
              <a:gd fmla="val 7500" name="adj"/>
            </a:avLst>
          </a:prstGeom>
          <a:solidFill>
            <a:srgbClr val="13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9738360" y="2395728"/>
            <a:ext cx="14173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val.</a:t>
            </a:r>
            <a:endParaRPr b="0" i="0" sz="1100" u="none" cap="none" strike="noStrike">
              <a:solidFill>
                <a:schemeClr val="dk1"/>
              </a:solidFill>
              <a:latin typeface="Calibri"/>
              <a:ea typeface="Calibri"/>
              <a:cs typeface="Calibri"/>
              <a:sym typeface="Calibri"/>
            </a:endParaRPr>
          </a:p>
        </p:txBody>
      </p:sp>
      <p:sp>
        <p:nvSpPr>
          <p:cNvPr id="184" name="Google Shape;184;p9"/>
          <p:cNvSpPr/>
          <p:nvPr/>
        </p:nvSpPr>
        <p:spPr>
          <a:xfrm>
            <a:off x="868680" y="3273552"/>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050"/>
              <a:buFont typeface="Courier New"/>
              <a:buNone/>
            </a:pPr>
            <a:r>
              <a:rPr b="0" i="0" lang="en-US" sz="1050" u="none" cap="none" strike="noStrike">
                <a:solidFill>
                  <a:srgbClr val="5B7083"/>
                </a:solidFill>
                <a:latin typeface="Courier New"/>
                <a:ea typeface="Courier New"/>
                <a:cs typeface="Courier New"/>
                <a:sym typeface="Courier New"/>
              </a:rPr>
              <a:t>train_test_split(..., test_size=0.1, stratify=y, random_state=42)</a:t>
            </a:r>
            <a:endParaRPr b="0" i="0" sz="1050" u="none" cap="none" strike="noStrike">
              <a:solidFill>
                <a:schemeClr val="dk1"/>
              </a:solidFill>
              <a:latin typeface="Calibri"/>
              <a:ea typeface="Calibri"/>
              <a:cs typeface="Calibri"/>
              <a:sym typeface="Calibri"/>
            </a:endParaRPr>
          </a:p>
        </p:txBody>
      </p:sp>
      <p:sp>
        <p:nvSpPr>
          <p:cNvPr id="185" name="Google Shape;185;p9"/>
          <p:cNvSpPr/>
          <p:nvPr/>
        </p:nvSpPr>
        <p:spPr>
          <a:xfrm>
            <a:off x="548640" y="3977640"/>
            <a:ext cx="11064240" cy="2194560"/>
          </a:xfrm>
          <a:prstGeom prst="roundRect">
            <a:avLst>
              <a:gd fmla="val 3333"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868680" y="4160520"/>
            <a:ext cx="10424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300"/>
              <a:buFont typeface="Calibri"/>
              <a:buNone/>
            </a:pPr>
            <a:r>
              <a:rPr b="1" i="0" lang="en-US" sz="1300" u="none" cap="none" strike="noStrike">
                <a:solidFill>
                  <a:srgbClr val="16202B"/>
                </a:solidFill>
                <a:latin typeface="Calibri"/>
                <a:ea typeface="Calibri"/>
                <a:cs typeface="Calibri"/>
                <a:sym typeface="Calibri"/>
              </a:rPr>
              <a:t>Test manual (498) — 100% reservado para evaluación final</a:t>
            </a:r>
            <a:endParaRPr b="0" i="0" sz="1300" u="none" cap="none" strike="noStrike">
              <a:solidFill>
                <a:schemeClr val="dk1"/>
              </a:solidFill>
              <a:latin typeface="Calibri"/>
              <a:ea typeface="Calibri"/>
              <a:cs typeface="Calibri"/>
              <a:sym typeface="Calibri"/>
            </a:endParaRPr>
          </a:p>
        </p:txBody>
      </p:sp>
      <p:sp>
        <p:nvSpPr>
          <p:cNvPr id="187" name="Google Shape;187;p9"/>
          <p:cNvSpPr/>
          <p:nvPr/>
        </p:nvSpPr>
        <p:spPr>
          <a:xfrm>
            <a:off x="868680" y="4553712"/>
            <a:ext cx="10287000" cy="731520"/>
          </a:xfrm>
          <a:prstGeom prst="roundRect">
            <a:avLst>
              <a:gd fmla="val 7500" name="adj"/>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868680" y="4553712"/>
            <a:ext cx="102870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1300"/>
              <a:buFont typeface="Calibri"/>
              <a:buNone/>
            </a:pPr>
            <a:r>
              <a:rPr b="1" i="0" lang="en-US" sz="1300" u="none" cap="none" strike="noStrike">
                <a:solidFill>
                  <a:srgbClr val="0B1F3A"/>
                </a:solidFill>
                <a:latin typeface="Calibri"/>
                <a:ea typeface="Calibri"/>
                <a:cs typeface="Calibri"/>
                <a:sym typeface="Calibri"/>
              </a:rPr>
              <a:t>Nunca se mezcla con el train. Incluye la clase neutral que ningún modelo propio vio al entrenar.</a:t>
            </a:r>
            <a:endParaRPr b="0" i="0" sz="1300" u="none" cap="none" strike="noStrike">
              <a:solidFill>
                <a:schemeClr val="dk1"/>
              </a:solidFill>
              <a:latin typeface="Calibri"/>
              <a:ea typeface="Calibri"/>
              <a:cs typeface="Calibri"/>
              <a:sym typeface="Calibri"/>
            </a:endParaRPr>
          </a:p>
        </p:txBody>
      </p:sp>
      <p:sp>
        <p:nvSpPr>
          <p:cNvPr id="189" name="Google Shape;189;p9"/>
          <p:cNvSpPr/>
          <p:nvPr/>
        </p:nvSpPr>
        <p:spPr>
          <a:xfrm>
            <a:off x="868680" y="5394960"/>
            <a:ext cx="104241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1" lang="en-US" sz="1200" u="none" cap="none" strike="noStrike">
                <a:solidFill>
                  <a:srgbClr val="5B7083"/>
                </a:solidFill>
                <a:latin typeface="Calibri"/>
                <a:ea typeface="Calibri"/>
                <a:cs typeface="Calibri"/>
                <a:sym typeface="Calibri"/>
              </a:rPr>
              <a:t>stratify=y asegura que la proporción de clases se mantenga igual en train y validación — necesario para comparar modelos de forma justa. random_state=42 fija la semilla para que todos los modelos usen exactamente el mismo split.</a:t>
            </a:r>
            <a:endParaRPr b="0" i="0" sz="1200" u="none" cap="none" strike="noStrike">
              <a:solidFill>
                <a:schemeClr val="dk1"/>
              </a:solidFill>
              <a:latin typeface="Calibri"/>
              <a:ea typeface="Calibri"/>
              <a:cs typeface="Calibri"/>
              <a:sym typeface="Calibri"/>
            </a:endParaRPr>
          </a:p>
        </p:txBody>
      </p:sp>
      <p:sp>
        <p:nvSpPr>
          <p:cNvPr id="190" name="Google Shape;190;p9"/>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05</a:t>
            </a:r>
            <a:endParaRPr b="0" i="0" sz="1000" u="none" cap="none" strike="noStrike">
              <a:solidFill>
                <a:schemeClr val="dk1"/>
              </a:solidFill>
              <a:latin typeface="Calibri"/>
              <a:ea typeface="Calibri"/>
              <a:cs typeface="Calibri"/>
              <a:sym typeface="Calibri"/>
            </a:endParaRPr>
          </a:p>
        </p:txBody>
      </p:sp>
      <p:sp>
        <p:nvSpPr>
          <p:cNvPr id="191" name="Google Shape;191;p9"/>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96" name="Shape 196"/>
        <p:cNvGrpSpPr/>
        <p:nvPr/>
      </p:nvGrpSpPr>
      <p:grpSpPr>
        <a:xfrm>
          <a:off x="0" y="0"/>
          <a:ext cx="0" cy="0"/>
          <a:chOff x="0" y="0"/>
          <a:chExt cx="0" cy="0"/>
        </a:xfrm>
      </p:grpSpPr>
      <p:sp>
        <p:nvSpPr>
          <p:cNvPr id="197" name="Google Shape;197;p10"/>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03 · MODELOS Y RESULTADOS</a:t>
            </a:r>
            <a:endParaRPr b="0" i="0" sz="1200" u="none" cap="none" strike="noStrike">
              <a:solidFill>
                <a:schemeClr val="dk1"/>
              </a:solidFill>
              <a:latin typeface="Calibri"/>
              <a:ea typeface="Calibri"/>
              <a:cs typeface="Calibri"/>
              <a:sym typeface="Calibri"/>
            </a:endParaRPr>
          </a:p>
        </p:txBody>
      </p:sp>
      <p:sp>
        <p:nvSpPr>
          <p:cNvPr id="198" name="Google Shape;198;p10"/>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Cuatro enfoques, mismo test manual</a:t>
            </a:r>
            <a:endParaRPr b="0" i="0" sz="3000" u="none" cap="none" strike="noStrike">
              <a:solidFill>
                <a:schemeClr val="dk1"/>
              </a:solidFill>
              <a:latin typeface="Calibri"/>
              <a:ea typeface="Calibri"/>
              <a:cs typeface="Calibri"/>
              <a:sym typeface="Calibri"/>
            </a:endParaRPr>
          </a:p>
        </p:txBody>
      </p:sp>
      <p:sp>
        <p:nvSpPr>
          <p:cNvPr id="199" name="Google Shape;199;p10"/>
          <p:cNvSpPr/>
          <p:nvPr/>
        </p:nvSpPr>
        <p:spPr>
          <a:xfrm>
            <a:off x="548640" y="1874520"/>
            <a:ext cx="2606040" cy="3977640"/>
          </a:xfrm>
          <a:prstGeom prst="roundRect">
            <a:avLst>
              <a:gd fmla="val 2807"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548640" y="1874520"/>
            <a:ext cx="2606040" cy="457200"/>
          </a:xfrm>
          <a:prstGeom prst="roundRect">
            <a:avLst>
              <a:gd fmla="val 16000" name="adj"/>
            </a:avLst>
          </a:prstGeom>
          <a:solidFill>
            <a:srgbClr val="5B70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548640" y="187452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Baseline</a:t>
            </a:r>
            <a:endParaRPr b="0" i="0" sz="1200" u="none" cap="none" strike="noStrike">
              <a:solidFill>
                <a:schemeClr val="dk1"/>
              </a:solidFill>
              <a:latin typeface="Calibri"/>
              <a:ea typeface="Calibri"/>
              <a:cs typeface="Calibri"/>
              <a:sym typeface="Calibri"/>
            </a:endParaRPr>
          </a:p>
        </p:txBody>
      </p:sp>
      <p:sp>
        <p:nvSpPr>
          <p:cNvPr id="202" name="Google Shape;202;p10"/>
          <p:cNvSpPr/>
          <p:nvPr/>
        </p:nvSpPr>
        <p:spPr>
          <a:xfrm>
            <a:off x="685800" y="2514600"/>
            <a:ext cx="23317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550"/>
              <a:buFont typeface="Cambria"/>
              <a:buNone/>
            </a:pPr>
            <a:r>
              <a:rPr b="1" i="0" lang="en-US" sz="1550" u="none" cap="none" strike="noStrike">
                <a:solidFill>
                  <a:srgbClr val="16202B"/>
                </a:solidFill>
                <a:latin typeface="Cambria"/>
                <a:ea typeface="Cambria"/>
                <a:cs typeface="Cambria"/>
                <a:sym typeface="Cambria"/>
              </a:rPr>
              <a:t>TextBlob</a:t>
            </a:r>
            <a:endParaRPr b="0" i="0" sz="1550" u="none" cap="none" strike="noStrike">
              <a:solidFill>
                <a:schemeClr val="dk1"/>
              </a:solidFill>
              <a:latin typeface="Calibri"/>
              <a:ea typeface="Calibri"/>
              <a:cs typeface="Calibri"/>
              <a:sym typeface="Calibri"/>
            </a:endParaRPr>
          </a:p>
        </p:txBody>
      </p:sp>
      <p:sp>
        <p:nvSpPr>
          <p:cNvPr id="203" name="Google Shape;203;p10"/>
          <p:cNvSpPr/>
          <p:nvPr/>
        </p:nvSpPr>
        <p:spPr>
          <a:xfrm>
            <a:off x="685800" y="3291840"/>
            <a:ext cx="233172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150"/>
              <a:buFont typeface="Calibri"/>
              <a:buNone/>
            </a:pPr>
            <a:r>
              <a:rPr b="0" i="0" lang="en-US" sz="1150" u="none" cap="none" strike="noStrike">
                <a:solidFill>
                  <a:srgbClr val="5B7083"/>
                </a:solidFill>
                <a:latin typeface="Calibri"/>
                <a:ea typeface="Calibri"/>
                <a:cs typeface="Calibri"/>
                <a:sym typeface="Calibri"/>
              </a:rPr>
              <a:t>Léxico de polaridad pre-entrenado. No se entrena con nuestros datos.</a:t>
            </a:r>
            <a:endParaRPr b="0" i="0" sz="1150" u="none" cap="none" strike="noStrike">
              <a:solidFill>
                <a:schemeClr val="dk1"/>
              </a:solidFill>
              <a:latin typeface="Calibri"/>
              <a:ea typeface="Calibri"/>
              <a:cs typeface="Calibri"/>
              <a:sym typeface="Calibri"/>
            </a:endParaRPr>
          </a:p>
        </p:txBody>
      </p:sp>
      <p:sp>
        <p:nvSpPr>
          <p:cNvPr id="204" name="Google Shape;204;p10"/>
          <p:cNvSpPr/>
          <p:nvPr/>
        </p:nvSpPr>
        <p:spPr>
          <a:xfrm>
            <a:off x="685800" y="539496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050"/>
              <a:buFont typeface="Calibri"/>
              <a:buNone/>
            </a:pPr>
            <a:r>
              <a:rPr b="0" i="1" lang="en-US" sz="1050" u="none" cap="none" strike="noStrike">
                <a:solidFill>
                  <a:srgbClr val="5B7083"/>
                </a:solidFill>
                <a:latin typeface="Calibri"/>
                <a:ea typeface="Calibri"/>
                <a:cs typeface="Calibri"/>
                <a:sym typeface="Calibri"/>
              </a:rPr>
              <a:t>Sin entrenamiento propio</a:t>
            </a:r>
            <a:endParaRPr b="0" i="0" sz="1050" u="none" cap="none" strike="noStrike">
              <a:solidFill>
                <a:schemeClr val="dk1"/>
              </a:solidFill>
              <a:latin typeface="Calibri"/>
              <a:ea typeface="Calibri"/>
              <a:cs typeface="Calibri"/>
              <a:sym typeface="Calibri"/>
            </a:endParaRPr>
          </a:p>
        </p:txBody>
      </p:sp>
      <p:sp>
        <p:nvSpPr>
          <p:cNvPr id="205" name="Google Shape;205;p10"/>
          <p:cNvSpPr/>
          <p:nvPr/>
        </p:nvSpPr>
        <p:spPr>
          <a:xfrm>
            <a:off x="3337560" y="1874520"/>
            <a:ext cx="2606040" cy="3977640"/>
          </a:xfrm>
          <a:prstGeom prst="roundRect">
            <a:avLst>
              <a:gd fmla="val 2807"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p:nvPr/>
        </p:nvSpPr>
        <p:spPr>
          <a:xfrm>
            <a:off x="3337560" y="1874520"/>
            <a:ext cx="2606040" cy="457200"/>
          </a:xfrm>
          <a:prstGeom prst="roundRect">
            <a:avLst>
              <a:gd fmla="val 16000" name="adj"/>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3337560" y="187452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Modelo 1</a:t>
            </a:r>
            <a:endParaRPr b="0" i="0" sz="1200" u="none" cap="none" strike="noStrike">
              <a:solidFill>
                <a:schemeClr val="dk1"/>
              </a:solidFill>
              <a:latin typeface="Calibri"/>
              <a:ea typeface="Calibri"/>
              <a:cs typeface="Calibri"/>
              <a:sym typeface="Calibri"/>
            </a:endParaRPr>
          </a:p>
        </p:txBody>
      </p:sp>
      <p:sp>
        <p:nvSpPr>
          <p:cNvPr id="208" name="Google Shape;208;p10"/>
          <p:cNvSpPr/>
          <p:nvPr/>
        </p:nvSpPr>
        <p:spPr>
          <a:xfrm>
            <a:off x="3474720" y="2514600"/>
            <a:ext cx="23317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550"/>
              <a:buFont typeface="Cambria"/>
              <a:buNone/>
            </a:pPr>
            <a:r>
              <a:rPr b="1" i="0" lang="en-US" sz="1550" u="none" cap="none" strike="noStrike">
                <a:solidFill>
                  <a:srgbClr val="16202B"/>
                </a:solidFill>
                <a:latin typeface="Cambria"/>
                <a:ea typeface="Cambria"/>
                <a:cs typeface="Cambria"/>
                <a:sym typeface="Cambria"/>
              </a:rPr>
              <a:t>BoW + Naive Bayes</a:t>
            </a:r>
            <a:endParaRPr b="0" i="0" sz="1550" u="none" cap="none" strike="noStrike">
              <a:solidFill>
                <a:schemeClr val="dk1"/>
              </a:solidFill>
              <a:latin typeface="Calibri"/>
              <a:ea typeface="Calibri"/>
              <a:cs typeface="Calibri"/>
              <a:sym typeface="Calibri"/>
            </a:endParaRPr>
          </a:p>
        </p:txBody>
      </p:sp>
      <p:sp>
        <p:nvSpPr>
          <p:cNvPr id="209" name="Google Shape;209;p10"/>
          <p:cNvSpPr/>
          <p:nvPr/>
        </p:nvSpPr>
        <p:spPr>
          <a:xfrm>
            <a:off x="3474720" y="3291840"/>
            <a:ext cx="233172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150"/>
              <a:buFont typeface="Calibri"/>
              <a:buNone/>
            </a:pPr>
            <a:r>
              <a:rPr b="0" i="0" lang="en-US" sz="1150" u="none" cap="none" strike="noStrike">
                <a:solidFill>
                  <a:srgbClr val="5B7083"/>
                </a:solidFill>
                <a:latin typeface="Calibri"/>
                <a:ea typeface="Calibri"/>
                <a:cs typeface="Calibri"/>
                <a:sym typeface="Calibri"/>
              </a:rPr>
              <a:t>CountVectorizer + MultinomialNB. El más simple y rápido.</a:t>
            </a:r>
            <a:endParaRPr b="0" i="0" sz="1150" u="none" cap="none" strike="noStrike">
              <a:solidFill>
                <a:schemeClr val="dk1"/>
              </a:solidFill>
              <a:latin typeface="Calibri"/>
              <a:ea typeface="Calibri"/>
              <a:cs typeface="Calibri"/>
              <a:sym typeface="Calibri"/>
            </a:endParaRPr>
          </a:p>
        </p:txBody>
      </p:sp>
      <p:sp>
        <p:nvSpPr>
          <p:cNvPr id="210" name="Google Shape;210;p10"/>
          <p:cNvSpPr/>
          <p:nvPr/>
        </p:nvSpPr>
        <p:spPr>
          <a:xfrm>
            <a:off x="3474720" y="539496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050"/>
              <a:buFont typeface="Calibri"/>
              <a:buNone/>
            </a:pPr>
            <a:r>
              <a:rPr b="0" i="1" lang="en-US" sz="1050" u="none" cap="none" strike="noStrike">
                <a:solidFill>
                  <a:srgbClr val="1D9BF0"/>
                </a:solidFill>
                <a:latin typeface="Calibri"/>
                <a:ea typeface="Calibri"/>
                <a:cs typeface="Calibri"/>
                <a:sym typeface="Calibri"/>
              </a:rPr>
              <a:t>Entrenado con el corpus de tweets</a:t>
            </a:r>
            <a:endParaRPr b="0" i="0" sz="1050" u="none" cap="none" strike="noStrike">
              <a:solidFill>
                <a:schemeClr val="dk1"/>
              </a:solidFill>
              <a:latin typeface="Calibri"/>
              <a:ea typeface="Calibri"/>
              <a:cs typeface="Calibri"/>
              <a:sym typeface="Calibri"/>
            </a:endParaRPr>
          </a:p>
        </p:txBody>
      </p:sp>
      <p:sp>
        <p:nvSpPr>
          <p:cNvPr id="211" name="Google Shape;211;p10"/>
          <p:cNvSpPr/>
          <p:nvPr/>
        </p:nvSpPr>
        <p:spPr>
          <a:xfrm>
            <a:off x="6126480" y="1874520"/>
            <a:ext cx="2606040" cy="3977640"/>
          </a:xfrm>
          <a:prstGeom prst="roundRect">
            <a:avLst>
              <a:gd fmla="val 2807"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6126480" y="1874520"/>
            <a:ext cx="2606040" cy="457200"/>
          </a:xfrm>
          <a:prstGeom prst="roundRect">
            <a:avLst>
              <a:gd fmla="val 16000" name="adj"/>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6126480" y="187452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Modelo 2</a:t>
            </a:r>
            <a:endParaRPr b="0" i="0" sz="1200" u="none" cap="none" strike="noStrike">
              <a:solidFill>
                <a:schemeClr val="dk1"/>
              </a:solidFill>
              <a:latin typeface="Calibri"/>
              <a:ea typeface="Calibri"/>
              <a:cs typeface="Calibri"/>
              <a:sym typeface="Calibri"/>
            </a:endParaRPr>
          </a:p>
        </p:txBody>
      </p:sp>
      <p:sp>
        <p:nvSpPr>
          <p:cNvPr id="214" name="Google Shape;214;p10"/>
          <p:cNvSpPr/>
          <p:nvPr/>
        </p:nvSpPr>
        <p:spPr>
          <a:xfrm>
            <a:off x="6263640" y="2514600"/>
            <a:ext cx="23317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550"/>
              <a:buFont typeface="Cambria"/>
              <a:buNone/>
            </a:pPr>
            <a:r>
              <a:rPr b="1" i="0" lang="en-US" sz="1550" u="none" cap="none" strike="noStrike">
                <a:solidFill>
                  <a:srgbClr val="16202B"/>
                </a:solidFill>
                <a:latin typeface="Cambria"/>
                <a:ea typeface="Cambria"/>
                <a:cs typeface="Cambria"/>
                <a:sym typeface="Cambria"/>
              </a:rPr>
              <a:t>TF-IDF + SGD/LogReg</a:t>
            </a:r>
            <a:endParaRPr b="0" i="0" sz="1550" u="none" cap="none" strike="noStrike">
              <a:solidFill>
                <a:schemeClr val="dk1"/>
              </a:solidFill>
              <a:latin typeface="Calibri"/>
              <a:ea typeface="Calibri"/>
              <a:cs typeface="Calibri"/>
              <a:sym typeface="Calibri"/>
            </a:endParaRPr>
          </a:p>
        </p:txBody>
      </p:sp>
      <p:sp>
        <p:nvSpPr>
          <p:cNvPr id="215" name="Google Shape;215;p10"/>
          <p:cNvSpPr/>
          <p:nvPr/>
        </p:nvSpPr>
        <p:spPr>
          <a:xfrm>
            <a:off x="6263640" y="3291840"/>
            <a:ext cx="233172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150"/>
              <a:buFont typeface="Calibri"/>
              <a:buNone/>
            </a:pPr>
            <a:r>
              <a:rPr b="0" i="0" lang="en-US" sz="1150" u="none" cap="none" strike="noStrike">
                <a:solidFill>
                  <a:srgbClr val="5B7083"/>
                </a:solidFill>
                <a:latin typeface="Calibri"/>
                <a:ea typeface="Calibri"/>
                <a:cs typeface="Calibri"/>
                <a:sym typeface="Calibri"/>
              </a:rPr>
              <a:t>Pondera palabras por relevancia + bigramas + descenso de gradiente.</a:t>
            </a:r>
            <a:endParaRPr b="0" i="0" sz="1150" u="none" cap="none" strike="noStrike">
              <a:solidFill>
                <a:schemeClr val="dk1"/>
              </a:solidFill>
              <a:latin typeface="Calibri"/>
              <a:ea typeface="Calibri"/>
              <a:cs typeface="Calibri"/>
              <a:sym typeface="Calibri"/>
            </a:endParaRPr>
          </a:p>
        </p:txBody>
      </p:sp>
      <p:sp>
        <p:nvSpPr>
          <p:cNvPr id="216" name="Google Shape;216;p10"/>
          <p:cNvSpPr/>
          <p:nvPr/>
        </p:nvSpPr>
        <p:spPr>
          <a:xfrm>
            <a:off x="6263640" y="539496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A7C"/>
              </a:buClr>
              <a:buSzPts val="1050"/>
              <a:buFont typeface="Calibri"/>
              <a:buNone/>
            </a:pPr>
            <a:r>
              <a:rPr b="0" i="1" lang="en-US" sz="1050" u="none" cap="none" strike="noStrike">
                <a:solidFill>
                  <a:srgbClr val="00BA7C"/>
                </a:solidFill>
                <a:latin typeface="Calibri"/>
                <a:ea typeface="Calibri"/>
                <a:cs typeface="Calibri"/>
                <a:sym typeface="Calibri"/>
              </a:rPr>
              <a:t>Entrenado con el corpus de tweets</a:t>
            </a:r>
            <a:endParaRPr b="0" i="0" sz="1050" u="none" cap="none" strike="noStrike">
              <a:solidFill>
                <a:schemeClr val="dk1"/>
              </a:solidFill>
              <a:latin typeface="Calibri"/>
              <a:ea typeface="Calibri"/>
              <a:cs typeface="Calibri"/>
              <a:sym typeface="Calibri"/>
            </a:endParaRPr>
          </a:p>
        </p:txBody>
      </p:sp>
      <p:sp>
        <p:nvSpPr>
          <p:cNvPr id="217" name="Google Shape;217;p10"/>
          <p:cNvSpPr/>
          <p:nvPr/>
        </p:nvSpPr>
        <p:spPr>
          <a:xfrm>
            <a:off x="8915400" y="1874520"/>
            <a:ext cx="2606040" cy="3977640"/>
          </a:xfrm>
          <a:prstGeom prst="roundRect">
            <a:avLst>
              <a:gd fmla="val 2807"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8915400" y="1874520"/>
            <a:ext cx="2606040" cy="457200"/>
          </a:xfrm>
          <a:prstGeom prst="roundRect">
            <a:avLst>
              <a:gd fmla="val 16000" name="adj"/>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8915400" y="187452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Modelo 3</a:t>
            </a:r>
            <a:endParaRPr b="0" i="0" sz="1200" u="none" cap="none" strike="noStrike">
              <a:solidFill>
                <a:schemeClr val="dk1"/>
              </a:solidFill>
              <a:latin typeface="Calibri"/>
              <a:ea typeface="Calibri"/>
              <a:cs typeface="Calibri"/>
              <a:sym typeface="Calibri"/>
            </a:endParaRPr>
          </a:p>
        </p:txBody>
      </p:sp>
      <p:sp>
        <p:nvSpPr>
          <p:cNvPr id="220" name="Google Shape;220;p10"/>
          <p:cNvSpPr/>
          <p:nvPr/>
        </p:nvSpPr>
        <p:spPr>
          <a:xfrm>
            <a:off x="9052560" y="2514600"/>
            <a:ext cx="23317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550"/>
              <a:buFont typeface="Cambria"/>
              <a:buNone/>
            </a:pPr>
            <a:r>
              <a:rPr b="1" i="0" lang="en-US" sz="1550" u="none" cap="none" strike="noStrike">
                <a:solidFill>
                  <a:srgbClr val="16202B"/>
                </a:solidFill>
                <a:latin typeface="Cambria"/>
                <a:ea typeface="Cambria"/>
                <a:cs typeface="Cambria"/>
                <a:sym typeface="Cambria"/>
              </a:rPr>
              <a:t>Word2Vec + LogReg</a:t>
            </a:r>
            <a:endParaRPr b="0" i="0" sz="1550" u="none" cap="none" strike="noStrike">
              <a:solidFill>
                <a:schemeClr val="dk1"/>
              </a:solidFill>
              <a:latin typeface="Calibri"/>
              <a:ea typeface="Calibri"/>
              <a:cs typeface="Calibri"/>
              <a:sym typeface="Calibri"/>
            </a:endParaRPr>
          </a:p>
        </p:txBody>
      </p:sp>
      <p:sp>
        <p:nvSpPr>
          <p:cNvPr id="221" name="Google Shape;221;p10"/>
          <p:cNvSpPr/>
          <p:nvPr/>
        </p:nvSpPr>
        <p:spPr>
          <a:xfrm>
            <a:off x="9052560" y="3291840"/>
            <a:ext cx="233172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150"/>
              <a:buFont typeface="Calibri"/>
              <a:buNone/>
            </a:pPr>
            <a:r>
              <a:rPr b="0" i="0" lang="en-US" sz="1150" u="none" cap="none" strike="noStrike">
                <a:solidFill>
                  <a:srgbClr val="5B7083"/>
                </a:solidFill>
                <a:latin typeface="Calibri"/>
                <a:ea typeface="Calibri"/>
                <a:cs typeface="Calibri"/>
                <a:sym typeface="Calibri"/>
              </a:rPr>
              <a:t>Embeddings semánticos propios, promediados por tweet.</a:t>
            </a:r>
            <a:endParaRPr b="0" i="0" sz="1150" u="none" cap="none" strike="noStrike">
              <a:solidFill>
                <a:schemeClr val="dk1"/>
              </a:solidFill>
              <a:latin typeface="Calibri"/>
              <a:ea typeface="Calibri"/>
              <a:cs typeface="Calibri"/>
              <a:sym typeface="Calibri"/>
            </a:endParaRPr>
          </a:p>
        </p:txBody>
      </p:sp>
      <p:sp>
        <p:nvSpPr>
          <p:cNvPr id="222" name="Google Shape;222;p10"/>
          <p:cNvSpPr/>
          <p:nvPr/>
        </p:nvSpPr>
        <p:spPr>
          <a:xfrm>
            <a:off x="9052560" y="539496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050"/>
              <a:buFont typeface="Calibri"/>
              <a:buNone/>
            </a:pPr>
            <a:r>
              <a:rPr b="0" i="1" lang="en-US" sz="1050" u="none" cap="none" strike="noStrike">
                <a:solidFill>
                  <a:srgbClr val="F5A623"/>
                </a:solidFill>
                <a:latin typeface="Calibri"/>
                <a:ea typeface="Calibri"/>
                <a:cs typeface="Calibri"/>
                <a:sym typeface="Calibri"/>
              </a:rPr>
              <a:t>Entrenado con el corpus de tweets</a:t>
            </a:r>
            <a:endParaRPr b="0" i="0" sz="1050" u="none" cap="none" strike="noStrike">
              <a:solidFill>
                <a:schemeClr val="dk1"/>
              </a:solidFill>
              <a:latin typeface="Calibri"/>
              <a:ea typeface="Calibri"/>
              <a:cs typeface="Calibri"/>
              <a:sym typeface="Calibri"/>
            </a:endParaRPr>
          </a:p>
        </p:txBody>
      </p:sp>
      <p:sp>
        <p:nvSpPr>
          <p:cNvPr id="223" name="Google Shape;223;p10"/>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06</a:t>
            </a:r>
            <a:endParaRPr b="0" i="0" sz="1000" u="none" cap="none" strike="noStrike">
              <a:solidFill>
                <a:schemeClr val="dk1"/>
              </a:solidFill>
              <a:latin typeface="Calibri"/>
              <a:ea typeface="Calibri"/>
              <a:cs typeface="Calibri"/>
              <a:sym typeface="Calibri"/>
            </a:endParaRPr>
          </a:p>
        </p:txBody>
      </p:sp>
      <p:sp>
        <p:nvSpPr>
          <p:cNvPr id="224" name="Google Shape;224;p10"/>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29" name="Shape 229"/>
        <p:cNvGrpSpPr/>
        <p:nvPr/>
      </p:nvGrpSpPr>
      <p:grpSpPr>
        <a:xfrm>
          <a:off x="0" y="0"/>
          <a:ext cx="0" cy="0"/>
          <a:chOff x="0" y="0"/>
          <a:chExt cx="0" cy="0"/>
        </a:xfrm>
      </p:grpSpPr>
      <p:sp>
        <p:nvSpPr>
          <p:cNvPr id="230" name="Google Shape;230;p11"/>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03 · MODELOS Y RESULTADOS</a:t>
            </a:r>
            <a:endParaRPr b="0" i="0" sz="1200" u="none" cap="none" strike="noStrike">
              <a:solidFill>
                <a:schemeClr val="dk1"/>
              </a:solidFill>
              <a:latin typeface="Calibri"/>
              <a:ea typeface="Calibri"/>
              <a:cs typeface="Calibri"/>
              <a:sym typeface="Calibri"/>
            </a:endParaRPr>
          </a:p>
        </p:txBody>
      </p:sp>
      <p:sp>
        <p:nvSpPr>
          <p:cNvPr id="231" name="Google Shape;231;p11"/>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Baseline: TextBlob (pre-entrenado)</a:t>
            </a:r>
            <a:endParaRPr b="0" i="0" sz="3000" u="none" cap="none" strike="noStrike">
              <a:solidFill>
                <a:schemeClr val="dk1"/>
              </a:solidFill>
              <a:latin typeface="Calibri"/>
              <a:ea typeface="Calibri"/>
              <a:cs typeface="Calibri"/>
              <a:sym typeface="Calibri"/>
            </a:endParaRPr>
          </a:p>
        </p:txBody>
      </p:sp>
      <p:sp>
        <p:nvSpPr>
          <p:cNvPr id="232" name="Google Shape;232;p11"/>
          <p:cNvSpPr/>
          <p:nvPr/>
        </p:nvSpPr>
        <p:spPr>
          <a:xfrm>
            <a:off x="548640" y="137160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350"/>
              <a:buFont typeface="Calibri"/>
              <a:buNone/>
            </a:pPr>
            <a:r>
              <a:rPr b="0" i="1" lang="en-US" sz="1350" u="none" cap="none" strike="noStrike">
                <a:solidFill>
                  <a:srgbClr val="5B7083"/>
                </a:solidFill>
                <a:latin typeface="Calibri"/>
                <a:ea typeface="Calibri"/>
                <a:cs typeface="Calibri"/>
                <a:sym typeface="Calibri"/>
              </a:rPr>
              <a:t>Léxico de polaridad + reglas heurísticas — no se ajusta a nuestro corpus de tweets</a:t>
            </a:r>
            <a:endParaRPr b="0" i="0" sz="1350" u="none" cap="none" strike="noStrike">
              <a:solidFill>
                <a:schemeClr val="dk1"/>
              </a:solidFill>
              <a:latin typeface="Calibri"/>
              <a:ea typeface="Calibri"/>
              <a:cs typeface="Calibri"/>
              <a:sym typeface="Calibri"/>
            </a:endParaRPr>
          </a:p>
        </p:txBody>
      </p:sp>
      <p:sp>
        <p:nvSpPr>
          <p:cNvPr id="233" name="Google Shape;233;p11"/>
          <p:cNvSpPr/>
          <p:nvPr/>
        </p:nvSpPr>
        <p:spPr>
          <a:xfrm>
            <a:off x="548640" y="1920240"/>
            <a:ext cx="6949440" cy="4206240"/>
          </a:xfrm>
          <a:prstGeom prst="roundRect">
            <a:avLst>
              <a:gd fmla="val 1739"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868680" y="21031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00"/>
              <a:buFont typeface="Calibri"/>
              <a:buNone/>
            </a:pPr>
            <a:r>
              <a:rPr b="1" i="0" lang="en-US" sz="1400" u="none" cap="none" strike="noStrike">
                <a:solidFill>
                  <a:srgbClr val="16202B"/>
                </a:solidFill>
                <a:latin typeface="Calibri"/>
                <a:ea typeface="Calibri"/>
                <a:cs typeface="Calibri"/>
                <a:sym typeface="Calibri"/>
              </a:rPr>
              <a:t>Decisiones de diseño</a:t>
            </a:r>
            <a:endParaRPr b="0" i="0" sz="1400" u="none" cap="none" strike="noStrike">
              <a:solidFill>
                <a:schemeClr val="dk1"/>
              </a:solidFill>
              <a:latin typeface="Calibri"/>
              <a:ea typeface="Calibri"/>
              <a:cs typeface="Calibri"/>
              <a:sym typeface="Calibri"/>
            </a:endParaRPr>
          </a:p>
        </p:txBody>
      </p:sp>
      <p:sp>
        <p:nvSpPr>
          <p:cNvPr id="235" name="Google Shape;235;p11"/>
          <p:cNvSpPr/>
          <p:nvPr/>
        </p:nvSpPr>
        <p:spPr>
          <a:xfrm>
            <a:off x="868680" y="2514600"/>
            <a:ext cx="6309360" cy="3429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sentiment.polarity da un score continuo de -1 a +1; se mapea a 0/2/4 con un umbral (±0.05) para poder comparar contra las etiquetas reales.</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No hace falta correr TextBlob sobre las 1.6M filas: no es un modelo que se entrena, así que se evaluó sobre el test manual completo + una muestra grande del train.</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Es el único enfoque que puede predecir la clase neutral "de fábrica", porque no depende de las etiquetas 0/4 del train.</a:t>
            </a:r>
            <a:endParaRPr b="0" i="0" sz="1300" u="none" cap="none" strike="noStrike">
              <a:solidFill>
                <a:schemeClr val="dk1"/>
              </a:solidFill>
              <a:latin typeface="Calibri"/>
              <a:ea typeface="Calibri"/>
              <a:cs typeface="Calibri"/>
              <a:sym typeface="Calibri"/>
            </a:endParaRPr>
          </a:p>
        </p:txBody>
      </p:sp>
      <p:sp>
        <p:nvSpPr>
          <p:cNvPr id="236" name="Google Shape;236;p11"/>
          <p:cNvSpPr/>
          <p:nvPr/>
        </p:nvSpPr>
        <p:spPr>
          <a:xfrm>
            <a:off x="7680960" y="1920240"/>
            <a:ext cx="3931920" cy="4206240"/>
          </a:xfrm>
          <a:prstGeom prst="roundRect">
            <a:avLst>
              <a:gd fmla="val 1860" name="adj"/>
            </a:avLst>
          </a:prstGeom>
          <a:solidFill>
            <a:srgbClr val="0B1F3A"/>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7909560" y="210312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250"/>
              <a:buFont typeface="Calibri"/>
              <a:buNone/>
            </a:pPr>
            <a:r>
              <a:rPr b="1" i="0" lang="en-US" sz="1250" u="none" cap="none" strike="noStrike">
                <a:solidFill>
                  <a:srgbClr val="9FB3C8"/>
                </a:solidFill>
                <a:latin typeface="Calibri"/>
                <a:ea typeface="Calibri"/>
                <a:cs typeface="Calibri"/>
                <a:sym typeface="Calibri"/>
              </a:rPr>
              <a:t>Resultado en el test manual</a:t>
            </a:r>
            <a:endParaRPr b="0" i="0" sz="1250" u="none" cap="none" strike="noStrike">
              <a:solidFill>
                <a:schemeClr val="dk1"/>
              </a:solidFill>
              <a:latin typeface="Calibri"/>
              <a:ea typeface="Calibri"/>
              <a:cs typeface="Calibri"/>
              <a:sym typeface="Calibri"/>
            </a:endParaRPr>
          </a:p>
        </p:txBody>
      </p:sp>
      <p:sp>
        <p:nvSpPr>
          <p:cNvPr id="238" name="Google Shape;238;p11"/>
          <p:cNvSpPr/>
          <p:nvPr/>
        </p:nvSpPr>
        <p:spPr>
          <a:xfrm>
            <a:off x="7909560" y="2697480"/>
            <a:ext cx="34747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4600"/>
              <a:buFont typeface="Cambria"/>
              <a:buNone/>
            </a:pPr>
            <a:r>
              <a:rPr b="1" i="0" lang="en-US" sz="4600" u="none" cap="none" strike="noStrike">
                <a:solidFill>
                  <a:srgbClr val="1D9BF0"/>
                </a:solidFill>
                <a:latin typeface="Cambria"/>
                <a:ea typeface="Cambria"/>
                <a:cs typeface="Cambria"/>
                <a:sym typeface="Cambria"/>
              </a:rPr>
              <a:t>62.0%</a:t>
            </a:r>
            <a:endParaRPr b="0" i="0" sz="4600" u="none" cap="none" strike="noStrike">
              <a:solidFill>
                <a:schemeClr val="dk1"/>
              </a:solidFill>
              <a:latin typeface="Calibri"/>
              <a:ea typeface="Calibri"/>
              <a:cs typeface="Calibri"/>
              <a:sym typeface="Calibri"/>
            </a:endParaRPr>
          </a:p>
        </p:txBody>
      </p:sp>
      <p:sp>
        <p:nvSpPr>
          <p:cNvPr id="239" name="Google Shape;239;p11"/>
          <p:cNvSpPr/>
          <p:nvPr/>
        </p:nvSpPr>
        <p:spPr>
          <a:xfrm>
            <a:off x="7909560" y="35204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200"/>
              <a:buFont typeface="Calibri"/>
              <a:buNone/>
            </a:pPr>
            <a:r>
              <a:rPr b="0" i="0" lang="en-US" sz="1200" u="none" cap="none" strike="noStrike">
                <a:solidFill>
                  <a:srgbClr val="C7D6E5"/>
                </a:solidFill>
                <a:latin typeface="Calibri"/>
                <a:ea typeface="Calibri"/>
                <a:cs typeface="Calibri"/>
                <a:sym typeface="Calibri"/>
              </a:rPr>
              <a:t>accuracy</a:t>
            </a:r>
            <a:endParaRPr b="0" i="0" sz="1200" u="none" cap="none" strike="noStrike">
              <a:solidFill>
                <a:schemeClr val="dk1"/>
              </a:solidFill>
              <a:latin typeface="Calibri"/>
              <a:ea typeface="Calibri"/>
              <a:cs typeface="Calibri"/>
              <a:sym typeface="Calibri"/>
            </a:endParaRPr>
          </a:p>
        </p:txBody>
      </p:sp>
      <p:cxnSp>
        <p:nvCxnSpPr>
          <p:cNvPr id="240" name="Google Shape;240;p11"/>
          <p:cNvCxnSpPr/>
          <p:nvPr/>
        </p:nvCxnSpPr>
        <p:spPr>
          <a:xfrm>
            <a:off x="7909560" y="3977640"/>
            <a:ext cx="3291840" cy="0"/>
          </a:xfrm>
          <a:prstGeom prst="straightConnector1">
            <a:avLst/>
          </a:prstGeom>
          <a:noFill/>
          <a:ln cap="flat" cmpd="sng" w="12700">
            <a:solidFill>
              <a:srgbClr val="2B3F5C"/>
            </a:solidFill>
            <a:prstDash val="solid"/>
            <a:round/>
            <a:headEnd len="sm" w="sm" type="none"/>
            <a:tailEnd len="sm" w="sm" type="none"/>
          </a:ln>
        </p:spPr>
      </p:cxnSp>
      <p:sp>
        <p:nvSpPr>
          <p:cNvPr id="241" name="Google Shape;241;p11"/>
          <p:cNvSpPr/>
          <p:nvPr/>
        </p:nvSpPr>
        <p:spPr>
          <a:xfrm>
            <a:off x="7909560" y="416052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200"/>
              <a:buFont typeface="Calibri"/>
              <a:buNone/>
            </a:pPr>
            <a:r>
              <a:rPr b="0" i="0" lang="en-US" sz="1200" u="none" cap="none" strike="noStrike">
                <a:solidFill>
                  <a:srgbClr val="C7D6E5"/>
                </a:solidFill>
                <a:latin typeface="Calibri"/>
                <a:ea typeface="Calibri"/>
                <a:cs typeface="Calibri"/>
                <a:sym typeface="Calibri"/>
              </a:rPr>
              <a:t>F1 macro</a:t>
            </a:r>
            <a:endParaRPr b="0" i="0" sz="1200" u="none" cap="none" strike="noStrike">
              <a:solidFill>
                <a:schemeClr val="dk1"/>
              </a:solidFill>
              <a:latin typeface="Calibri"/>
              <a:ea typeface="Calibri"/>
              <a:cs typeface="Calibri"/>
              <a:sym typeface="Calibri"/>
            </a:endParaRPr>
          </a:p>
        </p:txBody>
      </p:sp>
      <p:sp>
        <p:nvSpPr>
          <p:cNvPr id="242" name="Google Shape;242;p11"/>
          <p:cNvSpPr/>
          <p:nvPr/>
        </p:nvSpPr>
        <p:spPr>
          <a:xfrm>
            <a:off x="7909560" y="4434840"/>
            <a:ext cx="3474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0.612</a:t>
            </a:r>
            <a:endParaRPr b="0" i="0" sz="3000" u="none" cap="none" strike="noStrike">
              <a:solidFill>
                <a:schemeClr val="dk1"/>
              </a:solidFill>
              <a:latin typeface="Calibri"/>
              <a:ea typeface="Calibri"/>
              <a:cs typeface="Calibri"/>
              <a:sym typeface="Calibri"/>
            </a:endParaRPr>
          </a:p>
        </p:txBody>
      </p:sp>
      <p:sp>
        <p:nvSpPr>
          <p:cNvPr id="243" name="Google Shape;243;p11"/>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07</a:t>
            </a:r>
            <a:endParaRPr b="0" i="0" sz="1000" u="none" cap="none" strike="noStrike">
              <a:solidFill>
                <a:schemeClr val="dk1"/>
              </a:solidFill>
              <a:latin typeface="Calibri"/>
              <a:ea typeface="Calibri"/>
              <a:cs typeface="Calibri"/>
              <a:sym typeface="Calibri"/>
            </a:endParaRPr>
          </a:p>
        </p:txBody>
      </p:sp>
      <p:sp>
        <p:nvSpPr>
          <p:cNvPr id="244" name="Google Shape;244;p11"/>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49" name="Shape 249"/>
        <p:cNvGrpSpPr/>
        <p:nvPr/>
      </p:nvGrpSpPr>
      <p:grpSpPr>
        <a:xfrm>
          <a:off x="0" y="0"/>
          <a:ext cx="0" cy="0"/>
          <a:chOff x="0" y="0"/>
          <a:chExt cx="0" cy="0"/>
        </a:xfrm>
      </p:grpSpPr>
      <p:sp>
        <p:nvSpPr>
          <p:cNvPr id="250" name="Google Shape;250;p12"/>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03 · MODELOS Y RESULTADOS</a:t>
            </a:r>
            <a:endParaRPr b="0" i="0" sz="1200" u="none" cap="none" strike="noStrike">
              <a:solidFill>
                <a:schemeClr val="dk1"/>
              </a:solidFill>
              <a:latin typeface="Calibri"/>
              <a:ea typeface="Calibri"/>
              <a:cs typeface="Calibri"/>
              <a:sym typeface="Calibri"/>
            </a:endParaRPr>
          </a:p>
        </p:txBody>
      </p:sp>
      <p:sp>
        <p:nvSpPr>
          <p:cNvPr id="251" name="Google Shape;251;p12"/>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Modelo 1: Bag of Words + Naive Bayes</a:t>
            </a:r>
            <a:endParaRPr b="0" i="0" sz="3000" u="none" cap="none" strike="noStrike">
              <a:solidFill>
                <a:schemeClr val="dk1"/>
              </a:solidFill>
              <a:latin typeface="Calibri"/>
              <a:ea typeface="Calibri"/>
              <a:cs typeface="Calibri"/>
              <a:sym typeface="Calibri"/>
            </a:endParaRPr>
          </a:p>
        </p:txBody>
      </p:sp>
      <p:sp>
        <p:nvSpPr>
          <p:cNvPr id="252" name="Google Shape;252;p12"/>
          <p:cNvSpPr/>
          <p:nvPr/>
        </p:nvSpPr>
        <p:spPr>
          <a:xfrm>
            <a:off x="548640" y="137160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350"/>
              <a:buFont typeface="Calibri"/>
              <a:buNone/>
            </a:pPr>
            <a:r>
              <a:rPr b="0" i="1" lang="en-US" sz="1350" u="none" cap="none" strike="noStrike">
                <a:solidFill>
                  <a:srgbClr val="5B7083"/>
                </a:solidFill>
                <a:latin typeface="Calibri"/>
                <a:ea typeface="Calibri"/>
                <a:cs typeface="Calibri"/>
                <a:sym typeface="Calibri"/>
              </a:rPr>
              <a:t>El modelo propio más simple — punto de referencia rápido de entrenar</a:t>
            </a:r>
            <a:endParaRPr b="0" i="0" sz="1350" u="none" cap="none" strike="noStrike">
              <a:solidFill>
                <a:schemeClr val="dk1"/>
              </a:solidFill>
              <a:latin typeface="Calibri"/>
              <a:ea typeface="Calibri"/>
              <a:cs typeface="Calibri"/>
              <a:sym typeface="Calibri"/>
            </a:endParaRPr>
          </a:p>
        </p:txBody>
      </p:sp>
      <p:sp>
        <p:nvSpPr>
          <p:cNvPr id="253" name="Google Shape;253;p12"/>
          <p:cNvSpPr/>
          <p:nvPr/>
        </p:nvSpPr>
        <p:spPr>
          <a:xfrm>
            <a:off x="548640" y="1920240"/>
            <a:ext cx="6949440" cy="4206240"/>
          </a:xfrm>
          <a:prstGeom prst="roundRect">
            <a:avLst>
              <a:gd fmla="val 1739"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
          <p:cNvSpPr/>
          <p:nvPr/>
        </p:nvSpPr>
        <p:spPr>
          <a:xfrm>
            <a:off x="868680" y="21031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00"/>
              <a:buFont typeface="Calibri"/>
              <a:buNone/>
            </a:pPr>
            <a:r>
              <a:rPr b="1" i="0" lang="en-US" sz="1400" u="none" cap="none" strike="noStrike">
                <a:solidFill>
                  <a:srgbClr val="16202B"/>
                </a:solidFill>
                <a:latin typeface="Calibri"/>
                <a:ea typeface="Calibri"/>
                <a:cs typeface="Calibri"/>
                <a:sym typeface="Calibri"/>
              </a:rPr>
              <a:t>Decisiones de diseño</a:t>
            </a:r>
            <a:endParaRPr b="0" i="0" sz="1400" u="none" cap="none" strike="noStrike">
              <a:solidFill>
                <a:schemeClr val="dk1"/>
              </a:solidFill>
              <a:latin typeface="Calibri"/>
              <a:ea typeface="Calibri"/>
              <a:cs typeface="Calibri"/>
              <a:sym typeface="Calibri"/>
            </a:endParaRPr>
          </a:p>
        </p:txBody>
      </p:sp>
      <p:sp>
        <p:nvSpPr>
          <p:cNvPr id="255" name="Google Shape;255;p12"/>
          <p:cNvSpPr/>
          <p:nvPr/>
        </p:nvSpPr>
        <p:spPr>
          <a:xfrm>
            <a:off x="868680" y="2514600"/>
            <a:ext cx="6309360" cy="3429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CountVectorizer(max_features=50000, ngram_range=(1,1)): vocabulario limitado a las 50.000 palabras más frecuentes, para que la matriz sea manejable a esta escala.</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MultinomialNB: variante de Naive Bayes pensada para conteos de palabras; asume independencia entre palabras dado el sentimiento — una simplificación fuerte pero muy rápida de entrenar.</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fit_transform sólo en train, transform en validación/test: evita fuga de información (data leakage) del vocabulario.</a:t>
            </a:r>
            <a:endParaRPr b="0" i="0" sz="1300" u="none" cap="none" strike="noStrike">
              <a:solidFill>
                <a:schemeClr val="dk1"/>
              </a:solidFill>
              <a:latin typeface="Calibri"/>
              <a:ea typeface="Calibri"/>
              <a:cs typeface="Calibri"/>
              <a:sym typeface="Calibri"/>
            </a:endParaRPr>
          </a:p>
        </p:txBody>
      </p:sp>
      <p:sp>
        <p:nvSpPr>
          <p:cNvPr id="256" name="Google Shape;256;p12"/>
          <p:cNvSpPr/>
          <p:nvPr/>
        </p:nvSpPr>
        <p:spPr>
          <a:xfrm>
            <a:off x="7680960" y="1920240"/>
            <a:ext cx="3931920" cy="4206240"/>
          </a:xfrm>
          <a:prstGeom prst="roundRect">
            <a:avLst>
              <a:gd fmla="val 1860" name="adj"/>
            </a:avLst>
          </a:prstGeom>
          <a:solidFill>
            <a:srgbClr val="0B1F3A"/>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2"/>
          <p:cNvSpPr/>
          <p:nvPr/>
        </p:nvSpPr>
        <p:spPr>
          <a:xfrm>
            <a:off x="7909560" y="210312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250"/>
              <a:buFont typeface="Calibri"/>
              <a:buNone/>
            </a:pPr>
            <a:r>
              <a:rPr b="1" i="0" lang="en-US" sz="1250" u="none" cap="none" strike="noStrike">
                <a:solidFill>
                  <a:srgbClr val="9FB3C8"/>
                </a:solidFill>
                <a:latin typeface="Calibri"/>
                <a:ea typeface="Calibri"/>
                <a:cs typeface="Calibri"/>
                <a:sym typeface="Calibri"/>
              </a:rPr>
              <a:t>Resultado en el test manual</a:t>
            </a:r>
            <a:endParaRPr b="0" i="0" sz="1250" u="none" cap="none" strike="noStrike">
              <a:solidFill>
                <a:schemeClr val="dk1"/>
              </a:solidFill>
              <a:latin typeface="Calibri"/>
              <a:ea typeface="Calibri"/>
              <a:cs typeface="Calibri"/>
              <a:sym typeface="Calibri"/>
            </a:endParaRPr>
          </a:p>
        </p:txBody>
      </p:sp>
      <p:sp>
        <p:nvSpPr>
          <p:cNvPr id="258" name="Google Shape;258;p12"/>
          <p:cNvSpPr/>
          <p:nvPr/>
        </p:nvSpPr>
        <p:spPr>
          <a:xfrm>
            <a:off x="7909560" y="2697480"/>
            <a:ext cx="34747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A7C"/>
              </a:buClr>
              <a:buSzPts val="4600"/>
              <a:buFont typeface="Cambria"/>
              <a:buNone/>
            </a:pPr>
            <a:r>
              <a:rPr b="1" i="0" lang="en-US" sz="4600" u="none" cap="none" strike="noStrike">
                <a:solidFill>
                  <a:srgbClr val="00BA7C"/>
                </a:solidFill>
                <a:latin typeface="Cambria"/>
                <a:ea typeface="Cambria"/>
                <a:cs typeface="Cambria"/>
                <a:sym typeface="Cambria"/>
              </a:rPr>
              <a:t>58.4%</a:t>
            </a:r>
            <a:endParaRPr b="0" i="0" sz="4600" u="none" cap="none" strike="noStrike">
              <a:solidFill>
                <a:schemeClr val="dk1"/>
              </a:solidFill>
              <a:latin typeface="Calibri"/>
              <a:ea typeface="Calibri"/>
              <a:cs typeface="Calibri"/>
              <a:sym typeface="Calibri"/>
            </a:endParaRPr>
          </a:p>
        </p:txBody>
      </p:sp>
      <p:sp>
        <p:nvSpPr>
          <p:cNvPr id="259" name="Google Shape;259;p12"/>
          <p:cNvSpPr/>
          <p:nvPr/>
        </p:nvSpPr>
        <p:spPr>
          <a:xfrm>
            <a:off x="7909560" y="35204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200"/>
              <a:buFont typeface="Calibri"/>
              <a:buNone/>
            </a:pPr>
            <a:r>
              <a:rPr b="0" i="0" lang="en-US" sz="1200" u="none" cap="none" strike="noStrike">
                <a:solidFill>
                  <a:srgbClr val="C7D6E5"/>
                </a:solidFill>
                <a:latin typeface="Calibri"/>
                <a:ea typeface="Calibri"/>
                <a:cs typeface="Calibri"/>
                <a:sym typeface="Calibri"/>
              </a:rPr>
              <a:t>accuracy</a:t>
            </a:r>
            <a:endParaRPr b="0" i="0" sz="1200" u="none" cap="none" strike="noStrike">
              <a:solidFill>
                <a:schemeClr val="dk1"/>
              </a:solidFill>
              <a:latin typeface="Calibri"/>
              <a:ea typeface="Calibri"/>
              <a:cs typeface="Calibri"/>
              <a:sym typeface="Calibri"/>
            </a:endParaRPr>
          </a:p>
        </p:txBody>
      </p:sp>
      <p:cxnSp>
        <p:nvCxnSpPr>
          <p:cNvPr id="260" name="Google Shape;260;p12"/>
          <p:cNvCxnSpPr/>
          <p:nvPr/>
        </p:nvCxnSpPr>
        <p:spPr>
          <a:xfrm>
            <a:off x="7909560" y="3977640"/>
            <a:ext cx="3291840" cy="0"/>
          </a:xfrm>
          <a:prstGeom prst="straightConnector1">
            <a:avLst/>
          </a:prstGeom>
          <a:noFill/>
          <a:ln cap="flat" cmpd="sng" w="12700">
            <a:solidFill>
              <a:srgbClr val="2B3F5C"/>
            </a:solidFill>
            <a:prstDash val="solid"/>
            <a:round/>
            <a:headEnd len="sm" w="sm" type="none"/>
            <a:tailEnd len="sm" w="sm" type="none"/>
          </a:ln>
        </p:spPr>
      </p:cxnSp>
      <p:sp>
        <p:nvSpPr>
          <p:cNvPr id="261" name="Google Shape;261;p12"/>
          <p:cNvSpPr/>
          <p:nvPr/>
        </p:nvSpPr>
        <p:spPr>
          <a:xfrm>
            <a:off x="7909560" y="416052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200"/>
              <a:buFont typeface="Calibri"/>
              <a:buNone/>
            </a:pPr>
            <a:r>
              <a:rPr b="0" i="0" lang="en-US" sz="1200" u="none" cap="none" strike="noStrike">
                <a:solidFill>
                  <a:srgbClr val="C7D6E5"/>
                </a:solidFill>
                <a:latin typeface="Calibri"/>
                <a:ea typeface="Calibri"/>
                <a:cs typeface="Calibri"/>
                <a:sym typeface="Calibri"/>
              </a:rPr>
              <a:t>F1 macro</a:t>
            </a:r>
            <a:endParaRPr b="0" i="0" sz="1200" u="none" cap="none" strike="noStrike">
              <a:solidFill>
                <a:schemeClr val="dk1"/>
              </a:solidFill>
              <a:latin typeface="Calibri"/>
              <a:ea typeface="Calibri"/>
              <a:cs typeface="Calibri"/>
              <a:sym typeface="Calibri"/>
            </a:endParaRPr>
          </a:p>
        </p:txBody>
      </p:sp>
      <p:sp>
        <p:nvSpPr>
          <p:cNvPr id="262" name="Google Shape;262;p12"/>
          <p:cNvSpPr/>
          <p:nvPr/>
        </p:nvSpPr>
        <p:spPr>
          <a:xfrm>
            <a:off x="7909560" y="4434840"/>
            <a:ext cx="3474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0.455</a:t>
            </a:r>
            <a:endParaRPr b="0" i="0" sz="3000" u="none" cap="none" strike="noStrike">
              <a:solidFill>
                <a:schemeClr val="dk1"/>
              </a:solidFill>
              <a:latin typeface="Calibri"/>
              <a:ea typeface="Calibri"/>
              <a:cs typeface="Calibri"/>
              <a:sym typeface="Calibri"/>
            </a:endParaRPr>
          </a:p>
        </p:txBody>
      </p:sp>
      <p:sp>
        <p:nvSpPr>
          <p:cNvPr id="263" name="Google Shape;263;p12"/>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08</a:t>
            </a:r>
            <a:endParaRPr b="0" i="0" sz="1000" u="none" cap="none" strike="noStrike">
              <a:solidFill>
                <a:schemeClr val="dk1"/>
              </a:solidFill>
              <a:latin typeface="Calibri"/>
              <a:ea typeface="Calibri"/>
              <a:cs typeface="Calibri"/>
              <a:sym typeface="Calibri"/>
            </a:endParaRPr>
          </a:p>
        </p:txBody>
      </p:sp>
      <p:sp>
        <p:nvSpPr>
          <p:cNvPr id="264" name="Google Shape;264;p12"/>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69" name="Shape 269"/>
        <p:cNvGrpSpPr/>
        <p:nvPr/>
      </p:nvGrpSpPr>
      <p:grpSpPr>
        <a:xfrm>
          <a:off x="0" y="0"/>
          <a:ext cx="0" cy="0"/>
          <a:chOff x="0" y="0"/>
          <a:chExt cx="0" cy="0"/>
        </a:xfrm>
      </p:grpSpPr>
      <p:sp>
        <p:nvSpPr>
          <p:cNvPr id="270" name="Google Shape;270;p13"/>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03 · MODELOS Y RESULTADOS</a:t>
            </a:r>
            <a:endParaRPr b="0" i="0" sz="1200" u="none" cap="none" strike="noStrike">
              <a:solidFill>
                <a:schemeClr val="dk1"/>
              </a:solidFill>
              <a:latin typeface="Calibri"/>
              <a:ea typeface="Calibri"/>
              <a:cs typeface="Calibri"/>
              <a:sym typeface="Calibri"/>
            </a:endParaRPr>
          </a:p>
        </p:txBody>
      </p:sp>
      <p:sp>
        <p:nvSpPr>
          <p:cNvPr id="271" name="Google Shape;271;p13"/>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Modelo 2: TF-IDF + Regresión Logística (SGD)</a:t>
            </a:r>
            <a:endParaRPr b="0" i="0" sz="3000" u="none" cap="none" strike="noStrike">
              <a:solidFill>
                <a:schemeClr val="dk1"/>
              </a:solidFill>
              <a:latin typeface="Calibri"/>
              <a:ea typeface="Calibri"/>
              <a:cs typeface="Calibri"/>
              <a:sym typeface="Calibri"/>
            </a:endParaRPr>
          </a:p>
        </p:txBody>
      </p:sp>
      <p:sp>
        <p:nvSpPr>
          <p:cNvPr id="272" name="Google Shape;272;p13"/>
          <p:cNvSpPr/>
          <p:nvPr/>
        </p:nvSpPr>
        <p:spPr>
          <a:xfrm>
            <a:off x="548640" y="137160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350"/>
              <a:buFont typeface="Calibri"/>
              <a:buNone/>
            </a:pPr>
            <a:r>
              <a:rPr b="0" i="1" lang="en-US" sz="1350" u="none" cap="none" strike="noStrike">
                <a:solidFill>
                  <a:srgbClr val="5B7083"/>
                </a:solidFill>
                <a:latin typeface="Calibri"/>
                <a:ea typeface="Calibri"/>
                <a:cs typeface="Calibri"/>
                <a:sym typeface="Calibri"/>
              </a:rPr>
              <a:t>Pondera palabras por relevancia y agrega bigramas para capturar negaciones</a:t>
            </a:r>
            <a:endParaRPr b="0" i="0" sz="1350" u="none" cap="none" strike="noStrike">
              <a:solidFill>
                <a:schemeClr val="dk1"/>
              </a:solidFill>
              <a:latin typeface="Calibri"/>
              <a:ea typeface="Calibri"/>
              <a:cs typeface="Calibri"/>
              <a:sym typeface="Calibri"/>
            </a:endParaRPr>
          </a:p>
        </p:txBody>
      </p:sp>
      <p:sp>
        <p:nvSpPr>
          <p:cNvPr id="273" name="Google Shape;273;p13"/>
          <p:cNvSpPr/>
          <p:nvPr/>
        </p:nvSpPr>
        <p:spPr>
          <a:xfrm>
            <a:off x="548640" y="1920240"/>
            <a:ext cx="6949440" cy="4206240"/>
          </a:xfrm>
          <a:prstGeom prst="roundRect">
            <a:avLst>
              <a:gd fmla="val 1739"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3"/>
          <p:cNvSpPr/>
          <p:nvPr/>
        </p:nvSpPr>
        <p:spPr>
          <a:xfrm>
            <a:off x="868680" y="21031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00"/>
              <a:buFont typeface="Calibri"/>
              <a:buNone/>
            </a:pPr>
            <a:r>
              <a:rPr b="1" i="0" lang="en-US" sz="1400" u="none" cap="none" strike="noStrike">
                <a:solidFill>
                  <a:srgbClr val="16202B"/>
                </a:solidFill>
                <a:latin typeface="Calibri"/>
                <a:ea typeface="Calibri"/>
                <a:cs typeface="Calibri"/>
                <a:sym typeface="Calibri"/>
              </a:rPr>
              <a:t>Decisiones de diseño</a:t>
            </a:r>
            <a:endParaRPr b="0" i="0" sz="1400" u="none" cap="none" strike="noStrike">
              <a:solidFill>
                <a:schemeClr val="dk1"/>
              </a:solidFill>
              <a:latin typeface="Calibri"/>
              <a:ea typeface="Calibri"/>
              <a:cs typeface="Calibri"/>
              <a:sym typeface="Calibri"/>
            </a:endParaRPr>
          </a:p>
        </p:txBody>
      </p:sp>
      <p:sp>
        <p:nvSpPr>
          <p:cNvPr id="275" name="Google Shape;275;p13"/>
          <p:cNvSpPr/>
          <p:nvPr/>
        </p:nvSpPr>
        <p:spPr>
          <a:xfrm>
            <a:off x="868680" y="2514600"/>
            <a:ext cx="6309360" cy="3429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TfidfVectorizer(max_features=100000, ngram_range=(1,2), sublinear_tf=True): agrega bigramas ("not good") y atenúa palabras que se repiten muchas veces dentro de un mismo tweet.</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SGDClassifier(loss="log_loss"): equivale a una regresión logística entrenada por descenso de gradiente estocástico — escala mucho mejor que el solver por defecto sobre 1.6M de filas.</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Se esperaba el mejor resultado de los tres modelos propios por capturar contexto (bigramas); el resultado real matiza esa expectativa (ver comparación).</a:t>
            </a:r>
            <a:endParaRPr b="0" i="0" sz="1300" u="none" cap="none" strike="noStrike">
              <a:solidFill>
                <a:schemeClr val="dk1"/>
              </a:solidFill>
              <a:latin typeface="Calibri"/>
              <a:ea typeface="Calibri"/>
              <a:cs typeface="Calibri"/>
              <a:sym typeface="Calibri"/>
            </a:endParaRPr>
          </a:p>
        </p:txBody>
      </p:sp>
      <p:sp>
        <p:nvSpPr>
          <p:cNvPr id="276" name="Google Shape;276;p13"/>
          <p:cNvSpPr/>
          <p:nvPr/>
        </p:nvSpPr>
        <p:spPr>
          <a:xfrm>
            <a:off x="7680960" y="1920240"/>
            <a:ext cx="3931920" cy="4206240"/>
          </a:xfrm>
          <a:prstGeom prst="roundRect">
            <a:avLst>
              <a:gd fmla="val 1860" name="adj"/>
            </a:avLst>
          </a:prstGeom>
          <a:solidFill>
            <a:srgbClr val="0B1F3A"/>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3"/>
          <p:cNvSpPr/>
          <p:nvPr/>
        </p:nvSpPr>
        <p:spPr>
          <a:xfrm>
            <a:off x="7909560" y="210312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250"/>
              <a:buFont typeface="Calibri"/>
              <a:buNone/>
            </a:pPr>
            <a:r>
              <a:rPr b="1" i="0" lang="en-US" sz="1250" u="none" cap="none" strike="noStrike">
                <a:solidFill>
                  <a:srgbClr val="9FB3C8"/>
                </a:solidFill>
                <a:latin typeface="Calibri"/>
                <a:ea typeface="Calibri"/>
                <a:cs typeface="Calibri"/>
                <a:sym typeface="Calibri"/>
              </a:rPr>
              <a:t>Resultado en el test manual</a:t>
            </a:r>
            <a:endParaRPr b="0" i="0" sz="1250" u="none" cap="none" strike="noStrike">
              <a:solidFill>
                <a:schemeClr val="dk1"/>
              </a:solidFill>
              <a:latin typeface="Calibri"/>
              <a:ea typeface="Calibri"/>
              <a:cs typeface="Calibri"/>
              <a:sym typeface="Calibri"/>
            </a:endParaRPr>
          </a:p>
        </p:txBody>
      </p:sp>
      <p:sp>
        <p:nvSpPr>
          <p:cNvPr id="278" name="Google Shape;278;p13"/>
          <p:cNvSpPr/>
          <p:nvPr/>
        </p:nvSpPr>
        <p:spPr>
          <a:xfrm>
            <a:off x="7909560" y="2697480"/>
            <a:ext cx="34747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A7C"/>
              </a:buClr>
              <a:buSzPts val="4600"/>
              <a:buFont typeface="Cambria"/>
              <a:buNone/>
            </a:pPr>
            <a:r>
              <a:rPr b="1" i="0" lang="en-US" sz="4600" u="none" cap="none" strike="noStrike">
                <a:solidFill>
                  <a:srgbClr val="00BA7C"/>
                </a:solidFill>
                <a:latin typeface="Cambria"/>
                <a:ea typeface="Cambria"/>
                <a:cs typeface="Cambria"/>
                <a:sym typeface="Cambria"/>
              </a:rPr>
              <a:t>56.8%</a:t>
            </a:r>
            <a:endParaRPr b="0" i="0" sz="4600" u="none" cap="none" strike="noStrike">
              <a:solidFill>
                <a:schemeClr val="dk1"/>
              </a:solidFill>
              <a:latin typeface="Calibri"/>
              <a:ea typeface="Calibri"/>
              <a:cs typeface="Calibri"/>
              <a:sym typeface="Calibri"/>
            </a:endParaRPr>
          </a:p>
        </p:txBody>
      </p:sp>
      <p:sp>
        <p:nvSpPr>
          <p:cNvPr id="279" name="Google Shape;279;p13"/>
          <p:cNvSpPr/>
          <p:nvPr/>
        </p:nvSpPr>
        <p:spPr>
          <a:xfrm>
            <a:off x="7909560" y="35204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200"/>
              <a:buFont typeface="Calibri"/>
              <a:buNone/>
            </a:pPr>
            <a:r>
              <a:rPr b="0" i="0" lang="en-US" sz="1200" u="none" cap="none" strike="noStrike">
                <a:solidFill>
                  <a:srgbClr val="C7D6E5"/>
                </a:solidFill>
                <a:latin typeface="Calibri"/>
                <a:ea typeface="Calibri"/>
                <a:cs typeface="Calibri"/>
                <a:sym typeface="Calibri"/>
              </a:rPr>
              <a:t>accuracy</a:t>
            </a:r>
            <a:endParaRPr b="0" i="0" sz="1200" u="none" cap="none" strike="noStrike">
              <a:solidFill>
                <a:schemeClr val="dk1"/>
              </a:solidFill>
              <a:latin typeface="Calibri"/>
              <a:ea typeface="Calibri"/>
              <a:cs typeface="Calibri"/>
              <a:sym typeface="Calibri"/>
            </a:endParaRPr>
          </a:p>
        </p:txBody>
      </p:sp>
      <p:cxnSp>
        <p:nvCxnSpPr>
          <p:cNvPr id="280" name="Google Shape;280;p13"/>
          <p:cNvCxnSpPr/>
          <p:nvPr/>
        </p:nvCxnSpPr>
        <p:spPr>
          <a:xfrm>
            <a:off x="7909560" y="3977640"/>
            <a:ext cx="3291840" cy="0"/>
          </a:xfrm>
          <a:prstGeom prst="straightConnector1">
            <a:avLst/>
          </a:prstGeom>
          <a:noFill/>
          <a:ln cap="flat" cmpd="sng" w="12700">
            <a:solidFill>
              <a:srgbClr val="2B3F5C"/>
            </a:solidFill>
            <a:prstDash val="solid"/>
            <a:round/>
            <a:headEnd len="sm" w="sm" type="none"/>
            <a:tailEnd len="sm" w="sm" type="none"/>
          </a:ln>
        </p:spPr>
      </p:cxnSp>
      <p:sp>
        <p:nvSpPr>
          <p:cNvPr id="281" name="Google Shape;281;p13"/>
          <p:cNvSpPr/>
          <p:nvPr/>
        </p:nvSpPr>
        <p:spPr>
          <a:xfrm>
            <a:off x="7909560" y="416052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200"/>
              <a:buFont typeface="Calibri"/>
              <a:buNone/>
            </a:pPr>
            <a:r>
              <a:rPr b="0" i="0" lang="en-US" sz="1200" u="none" cap="none" strike="noStrike">
                <a:solidFill>
                  <a:srgbClr val="C7D6E5"/>
                </a:solidFill>
                <a:latin typeface="Calibri"/>
                <a:ea typeface="Calibri"/>
                <a:cs typeface="Calibri"/>
                <a:sym typeface="Calibri"/>
              </a:rPr>
              <a:t>F1 macro</a:t>
            </a:r>
            <a:endParaRPr b="0" i="0" sz="1200" u="none" cap="none" strike="noStrike">
              <a:solidFill>
                <a:schemeClr val="dk1"/>
              </a:solidFill>
              <a:latin typeface="Calibri"/>
              <a:ea typeface="Calibri"/>
              <a:cs typeface="Calibri"/>
              <a:sym typeface="Calibri"/>
            </a:endParaRPr>
          </a:p>
        </p:txBody>
      </p:sp>
      <p:sp>
        <p:nvSpPr>
          <p:cNvPr id="282" name="Google Shape;282;p13"/>
          <p:cNvSpPr/>
          <p:nvPr/>
        </p:nvSpPr>
        <p:spPr>
          <a:xfrm>
            <a:off x="7909560" y="4434840"/>
            <a:ext cx="3474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0.446</a:t>
            </a:r>
            <a:endParaRPr b="0" i="0" sz="3000" u="none" cap="none" strike="noStrike">
              <a:solidFill>
                <a:schemeClr val="dk1"/>
              </a:solidFill>
              <a:latin typeface="Calibri"/>
              <a:ea typeface="Calibri"/>
              <a:cs typeface="Calibri"/>
              <a:sym typeface="Calibri"/>
            </a:endParaRPr>
          </a:p>
        </p:txBody>
      </p:sp>
      <p:sp>
        <p:nvSpPr>
          <p:cNvPr id="283" name="Google Shape;283;p13"/>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09</a:t>
            </a:r>
            <a:endParaRPr b="0" i="0" sz="1000" u="none" cap="none" strike="noStrike">
              <a:solidFill>
                <a:schemeClr val="dk1"/>
              </a:solidFill>
              <a:latin typeface="Calibri"/>
              <a:ea typeface="Calibri"/>
              <a:cs typeface="Calibri"/>
              <a:sym typeface="Calibri"/>
            </a:endParaRPr>
          </a:p>
        </p:txBody>
      </p:sp>
      <p:sp>
        <p:nvSpPr>
          <p:cNvPr id="284" name="Google Shape;284;p13"/>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89" name="Shape 289"/>
        <p:cNvGrpSpPr/>
        <p:nvPr/>
      </p:nvGrpSpPr>
      <p:grpSpPr>
        <a:xfrm>
          <a:off x="0" y="0"/>
          <a:ext cx="0" cy="0"/>
          <a:chOff x="0" y="0"/>
          <a:chExt cx="0" cy="0"/>
        </a:xfrm>
      </p:grpSpPr>
      <p:sp>
        <p:nvSpPr>
          <p:cNvPr id="290" name="Google Shape;290;p14"/>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03 · MODELOS Y RESULTADOS</a:t>
            </a:r>
            <a:endParaRPr b="0" i="0" sz="1200" u="none" cap="none" strike="noStrike">
              <a:solidFill>
                <a:schemeClr val="dk1"/>
              </a:solidFill>
              <a:latin typeface="Calibri"/>
              <a:ea typeface="Calibri"/>
              <a:cs typeface="Calibri"/>
              <a:sym typeface="Calibri"/>
            </a:endParaRPr>
          </a:p>
        </p:txBody>
      </p:sp>
      <p:sp>
        <p:nvSpPr>
          <p:cNvPr id="291" name="Google Shape;291;p14"/>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Modelo 3: Word2Vec + Regresión Logística</a:t>
            </a:r>
            <a:endParaRPr b="0" i="0" sz="3000" u="none" cap="none" strike="noStrike">
              <a:solidFill>
                <a:schemeClr val="dk1"/>
              </a:solidFill>
              <a:latin typeface="Calibri"/>
              <a:ea typeface="Calibri"/>
              <a:cs typeface="Calibri"/>
              <a:sym typeface="Calibri"/>
            </a:endParaRPr>
          </a:p>
        </p:txBody>
      </p:sp>
      <p:sp>
        <p:nvSpPr>
          <p:cNvPr id="292" name="Google Shape;292;p14"/>
          <p:cNvSpPr/>
          <p:nvPr/>
        </p:nvSpPr>
        <p:spPr>
          <a:xfrm>
            <a:off x="548640" y="137160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350"/>
              <a:buFont typeface="Calibri"/>
              <a:buNone/>
            </a:pPr>
            <a:r>
              <a:rPr b="0" i="1" lang="en-US" sz="1350" u="none" cap="none" strike="noStrike">
                <a:solidFill>
                  <a:srgbClr val="5B7083"/>
                </a:solidFill>
                <a:latin typeface="Calibri"/>
                <a:ea typeface="Calibri"/>
                <a:cs typeface="Calibri"/>
                <a:sym typeface="Calibri"/>
              </a:rPr>
              <a:t>Embeddings semánticos propios entrenados sobre el corpus de tweets</a:t>
            </a:r>
            <a:endParaRPr b="0" i="0" sz="1350" u="none" cap="none" strike="noStrike">
              <a:solidFill>
                <a:schemeClr val="dk1"/>
              </a:solidFill>
              <a:latin typeface="Calibri"/>
              <a:ea typeface="Calibri"/>
              <a:cs typeface="Calibri"/>
              <a:sym typeface="Calibri"/>
            </a:endParaRPr>
          </a:p>
        </p:txBody>
      </p:sp>
      <p:sp>
        <p:nvSpPr>
          <p:cNvPr id="293" name="Google Shape;293;p14"/>
          <p:cNvSpPr/>
          <p:nvPr/>
        </p:nvSpPr>
        <p:spPr>
          <a:xfrm>
            <a:off x="548640" y="1920240"/>
            <a:ext cx="6949440" cy="4206240"/>
          </a:xfrm>
          <a:prstGeom prst="roundRect">
            <a:avLst>
              <a:gd fmla="val 1739"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4"/>
          <p:cNvSpPr/>
          <p:nvPr/>
        </p:nvSpPr>
        <p:spPr>
          <a:xfrm>
            <a:off x="868680" y="21031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00"/>
              <a:buFont typeface="Calibri"/>
              <a:buNone/>
            </a:pPr>
            <a:r>
              <a:rPr b="1" i="0" lang="en-US" sz="1400" u="none" cap="none" strike="noStrike">
                <a:solidFill>
                  <a:srgbClr val="16202B"/>
                </a:solidFill>
                <a:latin typeface="Calibri"/>
                <a:ea typeface="Calibri"/>
                <a:cs typeface="Calibri"/>
                <a:sym typeface="Calibri"/>
              </a:rPr>
              <a:t>Decisiones de diseño</a:t>
            </a:r>
            <a:endParaRPr b="0" i="0" sz="1400" u="none" cap="none" strike="noStrike">
              <a:solidFill>
                <a:schemeClr val="dk1"/>
              </a:solidFill>
              <a:latin typeface="Calibri"/>
              <a:ea typeface="Calibri"/>
              <a:cs typeface="Calibri"/>
              <a:sym typeface="Calibri"/>
            </a:endParaRPr>
          </a:p>
        </p:txBody>
      </p:sp>
      <p:sp>
        <p:nvSpPr>
          <p:cNvPr id="295" name="Google Shape;295;p14"/>
          <p:cNvSpPr/>
          <p:nvPr/>
        </p:nvSpPr>
        <p:spPr>
          <a:xfrm>
            <a:off x="868680" y="2514600"/>
            <a:ext cx="6309360" cy="3429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Word2Vec(vector_size=200, window=5, min_count=5, sg=1): skip-gram en vez de CBOW, porque captura mejor relaciones semánticas (prioriza calidad semántica sobre velocidad de entrenamiento).</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Cada tweet se vectoriza promediando los embeddings de sus palabras — simple, pero pierde el orden ("good not bad" y "bad not good" dan el mismo promedio).</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202B"/>
              </a:buClr>
              <a:buSzPts val="1300"/>
              <a:buFont typeface="Calibri"/>
              <a:buChar char="▪"/>
            </a:pPr>
            <a:r>
              <a:rPr b="0" i="0" lang="en-US" sz="1300" u="none" cap="none" strike="noStrike">
                <a:solidFill>
                  <a:srgbClr val="16202B"/>
                </a:solidFill>
                <a:latin typeface="Calibri"/>
                <a:ea typeface="Calibri"/>
                <a:cs typeface="Calibri"/>
                <a:sym typeface="Calibri"/>
              </a:rPr>
              <a:t>LogisticRegression entrena sobre vectores de 200 dimensiones (vs. 100.000 columnas de TF-IDF): mucho más liviano en inferencia.</a:t>
            </a:r>
            <a:endParaRPr b="0" i="0" sz="1300" u="none" cap="none" strike="noStrike">
              <a:solidFill>
                <a:schemeClr val="dk1"/>
              </a:solidFill>
              <a:latin typeface="Calibri"/>
              <a:ea typeface="Calibri"/>
              <a:cs typeface="Calibri"/>
              <a:sym typeface="Calibri"/>
            </a:endParaRPr>
          </a:p>
        </p:txBody>
      </p:sp>
      <p:sp>
        <p:nvSpPr>
          <p:cNvPr id="296" name="Google Shape;296;p14"/>
          <p:cNvSpPr/>
          <p:nvPr/>
        </p:nvSpPr>
        <p:spPr>
          <a:xfrm>
            <a:off x="7680960" y="1920240"/>
            <a:ext cx="3931920" cy="4206240"/>
          </a:xfrm>
          <a:prstGeom prst="roundRect">
            <a:avLst>
              <a:gd fmla="val 1860" name="adj"/>
            </a:avLst>
          </a:prstGeom>
          <a:solidFill>
            <a:srgbClr val="0B1F3A"/>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4"/>
          <p:cNvSpPr/>
          <p:nvPr/>
        </p:nvSpPr>
        <p:spPr>
          <a:xfrm>
            <a:off x="7909560" y="210312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250"/>
              <a:buFont typeface="Calibri"/>
              <a:buNone/>
            </a:pPr>
            <a:r>
              <a:rPr b="1" i="0" lang="en-US" sz="1250" u="none" cap="none" strike="noStrike">
                <a:solidFill>
                  <a:srgbClr val="9FB3C8"/>
                </a:solidFill>
                <a:latin typeface="Calibri"/>
                <a:ea typeface="Calibri"/>
                <a:cs typeface="Calibri"/>
                <a:sym typeface="Calibri"/>
              </a:rPr>
              <a:t>Resultado en el test manual</a:t>
            </a:r>
            <a:endParaRPr b="0" i="0" sz="1250" u="none" cap="none" strike="noStrike">
              <a:solidFill>
                <a:schemeClr val="dk1"/>
              </a:solidFill>
              <a:latin typeface="Calibri"/>
              <a:ea typeface="Calibri"/>
              <a:cs typeface="Calibri"/>
              <a:sym typeface="Calibri"/>
            </a:endParaRPr>
          </a:p>
        </p:txBody>
      </p:sp>
      <p:sp>
        <p:nvSpPr>
          <p:cNvPr id="298" name="Google Shape;298;p14"/>
          <p:cNvSpPr/>
          <p:nvPr/>
        </p:nvSpPr>
        <p:spPr>
          <a:xfrm>
            <a:off x="7909560" y="2697480"/>
            <a:ext cx="34747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A7C"/>
              </a:buClr>
              <a:buSzPts val="4600"/>
              <a:buFont typeface="Cambria"/>
              <a:buNone/>
            </a:pPr>
            <a:r>
              <a:rPr b="1" i="0" lang="en-US" sz="4600" u="none" cap="none" strike="noStrike">
                <a:solidFill>
                  <a:srgbClr val="00BA7C"/>
                </a:solidFill>
                <a:latin typeface="Cambria"/>
                <a:ea typeface="Cambria"/>
                <a:cs typeface="Cambria"/>
                <a:sym typeface="Cambria"/>
              </a:rPr>
              <a:t>58.6%</a:t>
            </a:r>
            <a:endParaRPr b="0" i="0" sz="4600" u="none" cap="none" strike="noStrike">
              <a:solidFill>
                <a:schemeClr val="dk1"/>
              </a:solidFill>
              <a:latin typeface="Calibri"/>
              <a:ea typeface="Calibri"/>
              <a:cs typeface="Calibri"/>
              <a:sym typeface="Calibri"/>
            </a:endParaRPr>
          </a:p>
        </p:txBody>
      </p:sp>
      <p:sp>
        <p:nvSpPr>
          <p:cNvPr id="299" name="Google Shape;299;p14"/>
          <p:cNvSpPr/>
          <p:nvPr/>
        </p:nvSpPr>
        <p:spPr>
          <a:xfrm>
            <a:off x="7909560" y="35204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200"/>
              <a:buFont typeface="Calibri"/>
              <a:buNone/>
            </a:pPr>
            <a:r>
              <a:rPr b="0" i="0" lang="en-US" sz="1200" u="none" cap="none" strike="noStrike">
                <a:solidFill>
                  <a:srgbClr val="C7D6E5"/>
                </a:solidFill>
                <a:latin typeface="Calibri"/>
                <a:ea typeface="Calibri"/>
                <a:cs typeface="Calibri"/>
                <a:sym typeface="Calibri"/>
              </a:rPr>
              <a:t>accuracy</a:t>
            </a:r>
            <a:endParaRPr b="0" i="0" sz="1200" u="none" cap="none" strike="noStrike">
              <a:solidFill>
                <a:schemeClr val="dk1"/>
              </a:solidFill>
              <a:latin typeface="Calibri"/>
              <a:ea typeface="Calibri"/>
              <a:cs typeface="Calibri"/>
              <a:sym typeface="Calibri"/>
            </a:endParaRPr>
          </a:p>
        </p:txBody>
      </p:sp>
      <p:cxnSp>
        <p:nvCxnSpPr>
          <p:cNvPr id="300" name="Google Shape;300;p14"/>
          <p:cNvCxnSpPr/>
          <p:nvPr/>
        </p:nvCxnSpPr>
        <p:spPr>
          <a:xfrm>
            <a:off x="7909560" y="3977640"/>
            <a:ext cx="3291840" cy="0"/>
          </a:xfrm>
          <a:prstGeom prst="straightConnector1">
            <a:avLst/>
          </a:prstGeom>
          <a:noFill/>
          <a:ln cap="flat" cmpd="sng" w="12700">
            <a:solidFill>
              <a:srgbClr val="2B3F5C"/>
            </a:solidFill>
            <a:prstDash val="solid"/>
            <a:round/>
            <a:headEnd len="sm" w="sm" type="none"/>
            <a:tailEnd len="sm" w="sm" type="none"/>
          </a:ln>
        </p:spPr>
      </p:cxnSp>
      <p:sp>
        <p:nvSpPr>
          <p:cNvPr id="301" name="Google Shape;301;p14"/>
          <p:cNvSpPr/>
          <p:nvPr/>
        </p:nvSpPr>
        <p:spPr>
          <a:xfrm>
            <a:off x="7909560" y="416052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200"/>
              <a:buFont typeface="Calibri"/>
              <a:buNone/>
            </a:pPr>
            <a:r>
              <a:rPr b="0" i="0" lang="en-US" sz="1200" u="none" cap="none" strike="noStrike">
                <a:solidFill>
                  <a:srgbClr val="C7D6E5"/>
                </a:solidFill>
                <a:latin typeface="Calibri"/>
                <a:ea typeface="Calibri"/>
                <a:cs typeface="Calibri"/>
                <a:sym typeface="Calibri"/>
              </a:rPr>
              <a:t>F1 macro</a:t>
            </a:r>
            <a:endParaRPr b="0" i="0" sz="1200" u="none" cap="none" strike="noStrike">
              <a:solidFill>
                <a:schemeClr val="dk1"/>
              </a:solidFill>
              <a:latin typeface="Calibri"/>
              <a:ea typeface="Calibri"/>
              <a:cs typeface="Calibri"/>
              <a:sym typeface="Calibri"/>
            </a:endParaRPr>
          </a:p>
        </p:txBody>
      </p:sp>
      <p:sp>
        <p:nvSpPr>
          <p:cNvPr id="302" name="Google Shape;302;p14"/>
          <p:cNvSpPr/>
          <p:nvPr/>
        </p:nvSpPr>
        <p:spPr>
          <a:xfrm>
            <a:off x="7909560" y="4434840"/>
            <a:ext cx="3474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0.456</a:t>
            </a:r>
            <a:endParaRPr b="0" i="0" sz="3000" u="none" cap="none" strike="noStrike">
              <a:solidFill>
                <a:schemeClr val="dk1"/>
              </a:solidFill>
              <a:latin typeface="Calibri"/>
              <a:ea typeface="Calibri"/>
              <a:cs typeface="Calibri"/>
              <a:sym typeface="Calibri"/>
            </a:endParaRPr>
          </a:p>
        </p:txBody>
      </p:sp>
      <p:sp>
        <p:nvSpPr>
          <p:cNvPr id="303" name="Google Shape;303;p14"/>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304" name="Google Shape;304;p14"/>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09" name="Shape 309"/>
        <p:cNvGrpSpPr/>
        <p:nvPr/>
      </p:nvGrpSpPr>
      <p:grpSpPr>
        <a:xfrm>
          <a:off x="0" y="0"/>
          <a:ext cx="0" cy="0"/>
          <a:chOff x="0" y="0"/>
          <a:chExt cx="0" cy="0"/>
        </a:xfrm>
      </p:grpSpPr>
      <p:sp>
        <p:nvSpPr>
          <p:cNvPr id="310" name="Google Shape;310;p15"/>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03 · MODELOS Y RESULTADOS</a:t>
            </a:r>
            <a:endParaRPr b="0" i="0" sz="1200" u="none" cap="none" strike="noStrike">
              <a:solidFill>
                <a:schemeClr val="dk1"/>
              </a:solidFill>
              <a:latin typeface="Calibri"/>
              <a:ea typeface="Calibri"/>
              <a:cs typeface="Calibri"/>
              <a:sym typeface="Calibri"/>
            </a:endParaRPr>
          </a:p>
        </p:txBody>
      </p:sp>
      <p:sp>
        <p:nvSpPr>
          <p:cNvPr id="311" name="Google Shape;311;p15"/>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Comparación de resultados (test manual)</a:t>
            </a:r>
            <a:endParaRPr b="0" i="0" sz="3000" u="none" cap="none" strike="noStrike">
              <a:solidFill>
                <a:schemeClr val="dk1"/>
              </a:solidFill>
              <a:latin typeface="Calibri"/>
              <a:ea typeface="Calibri"/>
              <a:cs typeface="Calibri"/>
              <a:sym typeface="Calibri"/>
            </a:endParaRPr>
          </a:p>
        </p:txBody>
      </p:sp>
      <p:pic>
        <p:nvPicPr>
          <p:cNvPr id="312" name="Google Shape;312;p15"/>
          <p:cNvPicPr preferRelativeResize="0"/>
          <p:nvPr/>
        </p:nvPicPr>
        <p:blipFill rotWithShape="1">
          <a:blip r:embed="rId3">
            <a:alphaModFix/>
          </a:blip>
          <a:srcRect b="0" l="0" r="0" t="0"/>
          <a:stretch/>
        </p:blipFill>
        <p:spPr>
          <a:xfrm>
            <a:off x="548640" y="1554480"/>
            <a:ext cx="11064240" cy="4480560"/>
          </a:xfrm>
          <a:prstGeom prst="rect">
            <a:avLst/>
          </a:prstGeom>
          <a:noFill/>
          <a:ln>
            <a:noFill/>
          </a:ln>
        </p:spPr>
      </p:pic>
      <p:sp>
        <p:nvSpPr>
          <p:cNvPr id="313" name="Google Shape;313;p15"/>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
        <p:nvSpPr>
          <p:cNvPr id="314" name="Google Shape;314;p15"/>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A"/>
        </a:solidFill>
      </p:bgPr>
    </p:bg>
    <p:spTree>
      <p:nvGrpSpPr>
        <p:cNvPr id="319" name="Shape 319"/>
        <p:cNvGrpSpPr/>
        <p:nvPr/>
      </p:nvGrpSpPr>
      <p:grpSpPr>
        <a:xfrm>
          <a:off x="0" y="0"/>
          <a:ext cx="0" cy="0"/>
          <a:chOff x="0" y="0"/>
          <a:chExt cx="0" cy="0"/>
        </a:xfrm>
      </p:grpSpPr>
      <p:sp>
        <p:nvSpPr>
          <p:cNvPr id="320" name="Google Shape;320;p16"/>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03 · MODELOS Y RESULTADOS</a:t>
            </a:r>
            <a:endParaRPr b="0" i="0" sz="1200" u="none" cap="none" strike="noStrike">
              <a:solidFill>
                <a:schemeClr val="dk1"/>
              </a:solidFill>
              <a:latin typeface="Calibri"/>
              <a:ea typeface="Calibri"/>
              <a:cs typeface="Calibri"/>
              <a:sym typeface="Calibri"/>
            </a:endParaRPr>
          </a:p>
        </p:txBody>
      </p:sp>
      <p:sp>
        <p:nvSpPr>
          <p:cNvPr id="321" name="Google Shape;321;p16"/>
          <p:cNvSpPr/>
          <p:nvPr/>
        </p:nvSpPr>
        <p:spPr>
          <a:xfrm>
            <a:off x="548640" y="731520"/>
            <a:ext cx="9144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Hallazgo clave</a:t>
            </a:r>
            <a:endParaRPr b="0" i="0" sz="3000" u="none" cap="none" strike="noStrike">
              <a:solidFill>
                <a:schemeClr val="dk1"/>
              </a:solidFill>
              <a:latin typeface="Calibri"/>
              <a:ea typeface="Calibri"/>
              <a:cs typeface="Calibri"/>
              <a:sym typeface="Calibri"/>
            </a:endParaRPr>
          </a:p>
        </p:txBody>
      </p:sp>
      <p:sp>
        <p:nvSpPr>
          <p:cNvPr id="322" name="Google Shape;322;p16"/>
          <p:cNvSpPr/>
          <p:nvPr/>
        </p:nvSpPr>
        <p:spPr>
          <a:xfrm>
            <a:off x="548640" y="137160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500"/>
              <a:buFont typeface="Calibri"/>
              <a:buNone/>
            </a:pPr>
            <a:r>
              <a:rPr b="0" i="1" lang="en-US" sz="1500" u="none" cap="none" strike="noStrike">
                <a:solidFill>
                  <a:srgbClr val="9FB3C8"/>
                </a:solidFill>
                <a:latin typeface="Calibri"/>
                <a:ea typeface="Calibri"/>
                <a:cs typeface="Calibri"/>
                <a:sym typeface="Calibri"/>
              </a:rPr>
              <a:t>¿Por qué el modelo pre-entrenado le ganó a los tres modelos propios?</a:t>
            </a:r>
            <a:endParaRPr b="0" i="0" sz="1500" u="none" cap="none" strike="noStrike">
              <a:solidFill>
                <a:schemeClr val="dk1"/>
              </a:solidFill>
              <a:latin typeface="Calibri"/>
              <a:ea typeface="Calibri"/>
              <a:cs typeface="Calibri"/>
              <a:sym typeface="Calibri"/>
            </a:endParaRPr>
          </a:p>
        </p:txBody>
      </p:sp>
      <p:sp>
        <p:nvSpPr>
          <p:cNvPr id="323" name="Google Shape;323;p16"/>
          <p:cNvSpPr/>
          <p:nvPr/>
        </p:nvSpPr>
        <p:spPr>
          <a:xfrm>
            <a:off x="548640" y="2057400"/>
            <a:ext cx="5394960" cy="3931920"/>
          </a:xfrm>
          <a:prstGeom prst="roundRect">
            <a:avLst>
              <a:gd fmla="val 1860" name="adj"/>
            </a:avLst>
          </a:prstGeom>
          <a:solidFill>
            <a:srgbClr val="13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6"/>
          <p:cNvSpPr/>
          <p:nvPr/>
        </p:nvSpPr>
        <p:spPr>
          <a:xfrm>
            <a:off x="868680" y="2331720"/>
            <a:ext cx="502920" cy="50292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a:off x="822960" y="2331720"/>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26" name="Google Shape;326;p16"/>
          <p:cNvSpPr/>
          <p:nvPr/>
        </p:nvSpPr>
        <p:spPr>
          <a:xfrm>
            <a:off x="1554480" y="2331720"/>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El train no tiene clase neutral</a:t>
            </a:r>
            <a:endParaRPr b="0" i="0" sz="1500" u="none" cap="none" strike="noStrike">
              <a:solidFill>
                <a:schemeClr val="dk1"/>
              </a:solidFill>
              <a:latin typeface="Calibri"/>
              <a:ea typeface="Calibri"/>
              <a:cs typeface="Calibri"/>
              <a:sym typeface="Calibri"/>
            </a:endParaRPr>
          </a:p>
        </p:txBody>
      </p:sp>
      <p:sp>
        <p:nvSpPr>
          <p:cNvPr id="327" name="Google Shape;327;p16"/>
          <p:cNvSpPr/>
          <p:nvPr/>
        </p:nvSpPr>
        <p:spPr>
          <a:xfrm>
            <a:off x="868680" y="2926080"/>
            <a:ext cx="47548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300"/>
              <a:buFont typeface="Calibri"/>
              <a:buNone/>
            </a:pPr>
            <a:r>
              <a:rPr b="0" i="0" lang="en-US" sz="1300" u="none" cap="none" strike="noStrike">
                <a:solidFill>
                  <a:srgbClr val="C7D6E5"/>
                </a:solidFill>
                <a:latin typeface="Calibri"/>
                <a:ea typeface="Calibri"/>
                <a:cs typeface="Calibri"/>
                <a:sym typeface="Calibri"/>
              </a:rPr>
              <a:t>BoW, TF-IDF y Word2Vec sólo vieron etiquetas 0 y 4 al entrenar. Estructuralmente no pueden predecir la clase 2: su precision y recall en "neutral" son 0.00 en los tres casos.</a:t>
            </a:r>
            <a:endParaRPr b="0" i="0" sz="1300" u="none" cap="none" strike="noStrike">
              <a:solidFill>
                <a:schemeClr val="dk1"/>
              </a:solidFill>
              <a:latin typeface="Calibri"/>
              <a:ea typeface="Calibri"/>
              <a:cs typeface="Calibri"/>
              <a:sym typeface="Calibri"/>
            </a:endParaRPr>
          </a:p>
        </p:txBody>
      </p:sp>
      <p:sp>
        <p:nvSpPr>
          <p:cNvPr id="328" name="Google Shape;328;p16"/>
          <p:cNvSpPr/>
          <p:nvPr/>
        </p:nvSpPr>
        <p:spPr>
          <a:xfrm>
            <a:off x="868680" y="4206240"/>
            <a:ext cx="475488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300"/>
              <a:buFont typeface="Calibri"/>
              <a:buNone/>
            </a:pPr>
            <a:r>
              <a:rPr b="0" i="1" lang="en-US" sz="1300" u="none" cap="none" strike="noStrike">
                <a:solidFill>
                  <a:srgbClr val="9FB3C8"/>
                </a:solidFill>
                <a:latin typeface="Calibri"/>
                <a:ea typeface="Calibri"/>
                <a:cs typeface="Calibri"/>
                <a:sym typeface="Calibri"/>
              </a:rPr>
              <a:t>TextBlob, en cambio, no aprende de nuestro train — usa un léxico general que sí asigna "neutral" cuando la polaridad es débil.</a:t>
            </a:r>
            <a:endParaRPr b="0" i="0" sz="1300" u="none" cap="none" strike="noStrike">
              <a:solidFill>
                <a:schemeClr val="dk1"/>
              </a:solidFill>
              <a:latin typeface="Calibri"/>
              <a:ea typeface="Calibri"/>
              <a:cs typeface="Calibri"/>
              <a:sym typeface="Calibri"/>
            </a:endParaRPr>
          </a:p>
        </p:txBody>
      </p:sp>
      <p:sp>
        <p:nvSpPr>
          <p:cNvPr id="329" name="Google Shape;329;p16"/>
          <p:cNvSpPr/>
          <p:nvPr/>
        </p:nvSpPr>
        <p:spPr>
          <a:xfrm>
            <a:off x="6217920" y="2057400"/>
            <a:ext cx="5394960" cy="3931920"/>
          </a:xfrm>
          <a:prstGeom prst="roundRect">
            <a:avLst>
              <a:gd fmla="val 1860" name="adj"/>
            </a:avLst>
          </a:prstGeom>
          <a:solidFill>
            <a:srgbClr val="13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a:off x="6537960" y="2331720"/>
            <a:ext cx="502920" cy="50292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a:off x="6492240" y="2331720"/>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32" name="Google Shape;332;p16"/>
          <p:cNvSpPr/>
          <p:nvPr/>
        </p:nvSpPr>
        <p:spPr>
          <a:xfrm>
            <a:off x="7223760" y="2331720"/>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F1 macro castiga ese punto ciego</a:t>
            </a:r>
            <a:endParaRPr b="0" i="0" sz="1500" u="none" cap="none" strike="noStrike">
              <a:solidFill>
                <a:schemeClr val="dk1"/>
              </a:solidFill>
              <a:latin typeface="Calibri"/>
              <a:ea typeface="Calibri"/>
              <a:cs typeface="Calibri"/>
              <a:sym typeface="Calibri"/>
            </a:endParaRPr>
          </a:p>
        </p:txBody>
      </p:sp>
      <p:sp>
        <p:nvSpPr>
          <p:cNvPr id="333" name="Google Shape;333;p16"/>
          <p:cNvSpPr/>
          <p:nvPr/>
        </p:nvSpPr>
        <p:spPr>
          <a:xfrm>
            <a:off x="6537960" y="2926080"/>
            <a:ext cx="475488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6E5"/>
              </a:buClr>
              <a:buSzPts val="1300"/>
              <a:buFont typeface="Calibri"/>
              <a:buNone/>
            </a:pPr>
            <a:r>
              <a:rPr b="0" i="0" lang="en-US" sz="1300" u="none" cap="none" strike="noStrike">
                <a:solidFill>
                  <a:srgbClr val="C7D6E5"/>
                </a:solidFill>
                <a:latin typeface="Calibri"/>
                <a:ea typeface="Calibri"/>
                <a:cs typeface="Calibri"/>
                <a:sym typeface="Calibri"/>
              </a:rPr>
              <a:t>F1 macro promedia el F1 de las 3 clases por igual (no ponderado por frecuencia): un 0.00 en "neutral" arrastra fuerte el promedio hacia abajo, aunque el modelo acierte bien en positivo/negativo.</a:t>
            </a:r>
            <a:endParaRPr b="0" i="0" sz="1300" u="none" cap="none" strike="noStrike">
              <a:solidFill>
                <a:schemeClr val="dk1"/>
              </a:solidFill>
              <a:latin typeface="Calibri"/>
              <a:ea typeface="Calibri"/>
              <a:cs typeface="Calibri"/>
              <a:sym typeface="Calibri"/>
            </a:endParaRPr>
          </a:p>
        </p:txBody>
      </p:sp>
      <p:sp>
        <p:nvSpPr>
          <p:cNvPr id="334" name="Google Shape;334;p16"/>
          <p:cNvSpPr/>
          <p:nvPr/>
        </p:nvSpPr>
        <p:spPr>
          <a:xfrm>
            <a:off x="6537960" y="4389120"/>
            <a:ext cx="475488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300"/>
              <a:buFont typeface="Calibri"/>
              <a:buNone/>
            </a:pPr>
            <a:r>
              <a:rPr b="0" i="1" lang="en-US" sz="1300" u="none" cap="none" strike="noStrike">
                <a:solidFill>
                  <a:srgbClr val="9FB3C8"/>
                </a:solidFill>
                <a:latin typeface="Calibri"/>
                <a:ea typeface="Calibri"/>
                <a:cs typeface="Calibri"/>
                <a:sym typeface="Calibri"/>
              </a:rPr>
              <a:t>Por eso la brecha entre TextBlob y los modelos propios es más grande en F1 macro (0.61 vs. ~0.45) que en accuracy (0.62 vs. ~0.58).</a:t>
            </a:r>
            <a:endParaRPr b="0" i="0" sz="1300" u="none" cap="none" strike="noStrike">
              <a:solidFill>
                <a:schemeClr val="dk1"/>
              </a:solidFill>
              <a:latin typeface="Calibri"/>
              <a:ea typeface="Calibri"/>
              <a:cs typeface="Calibri"/>
              <a:sym typeface="Calibri"/>
            </a:endParaRPr>
          </a:p>
        </p:txBody>
      </p:sp>
      <p:sp>
        <p:nvSpPr>
          <p:cNvPr id="335" name="Google Shape;335;p16"/>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
        <p:nvSpPr>
          <p:cNvPr id="336" name="Google Shape;336;p16"/>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41" name="Shape 341"/>
        <p:cNvGrpSpPr/>
        <p:nvPr/>
      </p:nvGrpSpPr>
      <p:grpSpPr>
        <a:xfrm>
          <a:off x="0" y="0"/>
          <a:ext cx="0" cy="0"/>
          <a:chOff x="0" y="0"/>
          <a:chExt cx="0" cy="0"/>
        </a:xfrm>
      </p:grpSpPr>
      <p:sp>
        <p:nvSpPr>
          <p:cNvPr id="342" name="Google Shape;342;p17"/>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04 · MÉTRICAS DE EMBEDDINGS</a:t>
            </a:r>
            <a:endParaRPr b="0" i="0" sz="1200" u="none" cap="none" strike="noStrike">
              <a:solidFill>
                <a:schemeClr val="dk1"/>
              </a:solidFill>
              <a:latin typeface="Calibri"/>
              <a:ea typeface="Calibri"/>
              <a:cs typeface="Calibri"/>
              <a:sym typeface="Calibri"/>
            </a:endParaRPr>
          </a:p>
        </p:txBody>
      </p:sp>
      <p:sp>
        <p:nvSpPr>
          <p:cNvPr id="343" name="Google Shape;343;p17"/>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Similitud coseno entre palabras clave</a:t>
            </a:r>
            <a:endParaRPr b="0" i="0" sz="3000" u="none" cap="none" strike="noStrike">
              <a:solidFill>
                <a:schemeClr val="dk1"/>
              </a:solidFill>
              <a:latin typeface="Calibri"/>
              <a:ea typeface="Calibri"/>
              <a:cs typeface="Calibri"/>
              <a:sym typeface="Calibri"/>
            </a:endParaRPr>
          </a:p>
        </p:txBody>
      </p:sp>
      <p:sp>
        <p:nvSpPr>
          <p:cNvPr id="344" name="Google Shape;344;p17"/>
          <p:cNvSpPr/>
          <p:nvPr/>
        </p:nvSpPr>
        <p:spPr>
          <a:xfrm>
            <a:off x="548640" y="1371600"/>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300"/>
              <a:buFont typeface="Calibri"/>
              <a:buNone/>
            </a:pPr>
            <a:r>
              <a:rPr b="0" i="1" lang="en-US" sz="1300" u="none" cap="none" strike="noStrike">
                <a:solidFill>
                  <a:srgbClr val="5B7083"/>
                </a:solidFill>
                <a:latin typeface="Calibri"/>
                <a:ea typeface="Calibri"/>
                <a:cs typeface="Calibri"/>
                <a:sym typeface="Calibri"/>
              </a:rPr>
              <a:t>Calculada sobre el Word2Vec propio (200 dims, skip-gram) entrenado con el corpus de tweets — mide qué tan cerca están dos palabras en el espacio semántico aprendido.</a:t>
            </a:r>
            <a:endParaRPr b="0" i="0" sz="1300" u="none" cap="none" strike="noStrike">
              <a:solidFill>
                <a:schemeClr val="dk1"/>
              </a:solidFill>
              <a:latin typeface="Calibri"/>
              <a:ea typeface="Calibri"/>
              <a:cs typeface="Calibri"/>
              <a:sym typeface="Calibri"/>
            </a:endParaRPr>
          </a:p>
        </p:txBody>
      </p:sp>
      <p:sp>
        <p:nvSpPr>
          <p:cNvPr id="345" name="Google Shape;345;p17"/>
          <p:cNvSpPr/>
          <p:nvPr/>
        </p:nvSpPr>
        <p:spPr>
          <a:xfrm>
            <a:off x="548640" y="2103120"/>
            <a:ext cx="11064240" cy="1188720"/>
          </a:xfrm>
          <a:prstGeom prst="roundRect">
            <a:avLst>
              <a:gd fmla="val 6154"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p:nvPr/>
        </p:nvSpPr>
        <p:spPr>
          <a:xfrm>
            <a:off x="868680" y="2267712"/>
            <a:ext cx="4023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700"/>
              <a:buFont typeface="Cambria"/>
              <a:buNone/>
            </a:pPr>
            <a:r>
              <a:rPr b="1" i="0" lang="en-US" sz="1700" u="none" cap="none" strike="noStrike">
                <a:solidFill>
                  <a:srgbClr val="16202B"/>
                </a:solidFill>
                <a:latin typeface="Cambria"/>
                <a:ea typeface="Cambria"/>
                <a:cs typeface="Cambria"/>
                <a:sym typeface="Cambria"/>
              </a:rPr>
              <a:t>"good"  vs  "great"</a:t>
            </a:r>
            <a:endParaRPr b="0" i="0" sz="1700" u="none" cap="none" strike="noStrike">
              <a:solidFill>
                <a:schemeClr val="dk1"/>
              </a:solidFill>
              <a:latin typeface="Calibri"/>
              <a:ea typeface="Calibri"/>
              <a:cs typeface="Calibri"/>
              <a:sym typeface="Calibri"/>
            </a:endParaRPr>
          </a:p>
        </p:txBody>
      </p:sp>
      <p:sp>
        <p:nvSpPr>
          <p:cNvPr id="347" name="Google Shape;347;p17"/>
          <p:cNvSpPr/>
          <p:nvPr/>
        </p:nvSpPr>
        <p:spPr>
          <a:xfrm>
            <a:off x="868680" y="2724912"/>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A7C"/>
              </a:buClr>
              <a:buSzPts val="2400"/>
              <a:buFont typeface="Cambria"/>
              <a:buNone/>
            </a:pPr>
            <a:r>
              <a:rPr b="1" i="0" lang="en-US" sz="2400" u="none" cap="none" strike="noStrike">
                <a:solidFill>
                  <a:srgbClr val="00BA7C"/>
                </a:solidFill>
                <a:latin typeface="Cambria"/>
                <a:ea typeface="Cambria"/>
                <a:cs typeface="Cambria"/>
                <a:sym typeface="Cambria"/>
              </a:rPr>
              <a:t>0.686</a:t>
            </a:r>
            <a:endParaRPr b="0" i="0" sz="2400" u="none" cap="none" strike="noStrike">
              <a:solidFill>
                <a:schemeClr val="dk1"/>
              </a:solidFill>
              <a:latin typeface="Calibri"/>
              <a:ea typeface="Calibri"/>
              <a:cs typeface="Calibri"/>
              <a:sym typeface="Calibri"/>
            </a:endParaRPr>
          </a:p>
        </p:txBody>
      </p:sp>
      <p:sp>
        <p:nvSpPr>
          <p:cNvPr id="348" name="Google Shape;348;p17"/>
          <p:cNvSpPr/>
          <p:nvPr/>
        </p:nvSpPr>
        <p:spPr>
          <a:xfrm>
            <a:off x="3017520" y="2834640"/>
            <a:ext cx="2377440" cy="256032"/>
          </a:xfrm>
          <a:prstGeom prst="roundRect">
            <a:avLst>
              <a:gd fmla="val 50000" name="adj"/>
            </a:avLst>
          </a:prstGeom>
          <a:solidFill>
            <a:srgbClr val="E4EA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7"/>
          <p:cNvSpPr/>
          <p:nvPr/>
        </p:nvSpPr>
        <p:spPr>
          <a:xfrm>
            <a:off x="3017520" y="2834640"/>
            <a:ext cx="1630924" cy="256032"/>
          </a:xfrm>
          <a:prstGeom prst="roundRect">
            <a:avLst>
              <a:gd fmla="val 50000" name="adj"/>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7"/>
          <p:cNvSpPr/>
          <p:nvPr/>
        </p:nvSpPr>
        <p:spPr>
          <a:xfrm>
            <a:off x="5760720" y="2267712"/>
            <a:ext cx="5120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50"/>
              <a:buFont typeface="Calibri"/>
              <a:buNone/>
            </a:pPr>
            <a:r>
              <a:rPr b="0" i="0" lang="en-US" sz="1250" u="none" cap="none" strike="noStrike">
                <a:solidFill>
                  <a:srgbClr val="5B7083"/>
                </a:solidFill>
                <a:latin typeface="Calibri"/>
                <a:ea typeface="Calibri"/>
                <a:cs typeface="Calibri"/>
                <a:sym typeface="Calibri"/>
              </a:rPr>
              <a:t>Sinónimos / misma connotación positiva → similitud alta, coherente.</a:t>
            </a:r>
            <a:endParaRPr b="0" i="0" sz="1250" u="none" cap="none" strike="noStrike">
              <a:solidFill>
                <a:schemeClr val="dk1"/>
              </a:solidFill>
              <a:latin typeface="Calibri"/>
              <a:ea typeface="Calibri"/>
              <a:cs typeface="Calibri"/>
              <a:sym typeface="Calibri"/>
            </a:endParaRPr>
          </a:p>
        </p:txBody>
      </p:sp>
      <p:sp>
        <p:nvSpPr>
          <p:cNvPr id="351" name="Google Shape;351;p17"/>
          <p:cNvSpPr/>
          <p:nvPr/>
        </p:nvSpPr>
        <p:spPr>
          <a:xfrm>
            <a:off x="548640" y="3520440"/>
            <a:ext cx="11064240" cy="1188720"/>
          </a:xfrm>
          <a:prstGeom prst="roundRect">
            <a:avLst>
              <a:gd fmla="val 6154"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7"/>
          <p:cNvSpPr/>
          <p:nvPr/>
        </p:nvSpPr>
        <p:spPr>
          <a:xfrm>
            <a:off x="868680" y="3685032"/>
            <a:ext cx="4023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700"/>
              <a:buFont typeface="Cambria"/>
              <a:buNone/>
            </a:pPr>
            <a:r>
              <a:rPr b="1" i="0" lang="en-US" sz="1700" u="none" cap="none" strike="noStrike">
                <a:solidFill>
                  <a:srgbClr val="16202B"/>
                </a:solidFill>
                <a:latin typeface="Cambria"/>
                <a:ea typeface="Cambria"/>
                <a:cs typeface="Cambria"/>
                <a:sym typeface="Cambria"/>
              </a:rPr>
              <a:t>"good"  vs  "bad"</a:t>
            </a:r>
            <a:endParaRPr b="0" i="0" sz="1700" u="none" cap="none" strike="noStrike">
              <a:solidFill>
                <a:schemeClr val="dk1"/>
              </a:solidFill>
              <a:latin typeface="Calibri"/>
              <a:ea typeface="Calibri"/>
              <a:cs typeface="Calibri"/>
              <a:sym typeface="Calibri"/>
            </a:endParaRPr>
          </a:p>
        </p:txBody>
      </p:sp>
      <p:sp>
        <p:nvSpPr>
          <p:cNvPr id="353" name="Google Shape;353;p17"/>
          <p:cNvSpPr/>
          <p:nvPr/>
        </p:nvSpPr>
        <p:spPr>
          <a:xfrm>
            <a:off x="868680" y="4142232"/>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2400"/>
              <a:buFont typeface="Cambria"/>
              <a:buNone/>
            </a:pPr>
            <a:r>
              <a:rPr b="1" i="0" lang="en-US" sz="2400" u="none" cap="none" strike="noStrike">
                <a:solidFill>
                  <a:srgbClr val="F5A623"/>
                </a:solidFill>
                <a:latin typeface="Cambria"/>
                <a:ea typeface="Cambria"/>
                <a:cs typeface="Cambria"/>
                <a:sym typeface="Cambria"/>
              </a:rPr>
              <a:t>0.530</a:t>
            </a:r>
            <a:endParaRPr b="0" i="0" sz="2400" u="none" cap="none" strike="noStrike">
              <a:solidFill>
                <a:schemeClr val="dk1"/>
              </a:solidFill>
              <a:latin typeface="Calibri"/>
              <a:ea typeface="Calibri"/>
              <a:cs typeface="Calibri"/>
              <a:sym typeface="Calibri"/>
            </a:endParaRPr>
          </a:p>
        </p:txBody>
      </p:sp>
      <p:sp>
        <p:nvSpPr>
          <p:cNvPr id="354" name="Google Shape;354;p17"/>
          <p:cNvSpPr/>
          <p:nvPr/>
        </p:nvSpPr>
        <p:spPr>
          <a:xfrm>
            <a:off x="3017520" y="4251960"/>
            <a:ext cx="2377440" cy="256032"/>
          </a:xfrm>
          <a:prstGeom prst="roundRect">
            <a:avLst>
              <a:gd fmla="val 50000" name="adj"/>
            </a:avLst>
          </a:prstGeom>
          <a:solidFill>
            <a:srgbClr val="E4EA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7"/>
          <p:cNvSpPr/>
          <p:nvPr/>
        </p:nvSpPr>
        <p:spPr>
          <a:xfrm>
            <a:off x="3017520" y="4251960"/>
            <a:ext cx="1260043" cy="256032"/>
          </a:xfrm>
          <a:prstGeom prst="roundRect">
            <a:avLst>
              <a:gd fmla="val 50000" name="adj"/>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7"/>
          <p:cNvSpPr/>
          <p:nvPr/>
        </p:nvSpPr>
        <p:spPr>
          <a:xfrm>
            <a:off x="5760720" y="3685032"/>
            <a:ext cx="5120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50"/>
              <a:buFont typeface="Calibri"/>
              <a:buNone/>
            </a:pPr>
            <a:r>
              <a:rPr b="0" i="0" lang="en-US" sz="1250" u="none" cap="none" strike="noStrike">
                <a:solidFill>
                  <a:srgbClr val="5B7083"/>
                </a:solidFill>
                <a:latin typeface="Calibri"/>
                <a:ea typeface="Calibri"/>
                <a:cs typeface="Calibri"/>
                <a:sym typeface="Calibri"/>
              </a:rPr>
              <a:t>Palabras opuestas, pero ambas de sentimiento → similitud media (el modelo SÍ las distingue de "great").</a:t>
            </a:r>
            <a:endParaRPr b="0" i="0" sz="1250" u="none" cap="none" strike="noStrike">
              <a:solidFill>
                <a:schemeClr val="dk1"/>
              </a:solidFill>
              <a:latin typeface="Calibri"/>
              <a:ea typeface="Calibri"/>
              <a:cs typeface="Calibri"/>
              <a:sym typeface="Calibri"/>
            </a:endParaRPr>
          </a:p>
        </p:txBody>
      </p:sp>
      <p:sp>
        <p:nvSpPr>
          <p:cNvPr id="357" name="Google Shape;357;p17"/>
          <p:cNvSpPr/>
          <p:nvPr/>
        </p:nvSpPr>
        <p:spPr>
          <a:xfrm>
            <a:off x="548640" y="4937760"/>
            <a:ext cx="11064240" cy="1188720"/>
          </a:xfrm>
          <a:prstGeom prst="roundRect">
            <a:avLst>
              <a:gd fmla="val 6154"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7"/>
          <p:cNvSpPr/>
          <p:nvPr/>
        </p:nvSpPr>
        <p:spPr>
          <a:xfrm>
            <a:off x="868680" y="5102352"/>
            <a:ext cx="4023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700"/>
              <a:buFont typeface="Cambria"/>
              <a:buNone/>
            </a:pPr>
            <a:r>
              <a:rPr b="1" i="0" lang="en-US" sz="1700" u="none" cap="none" strike="noStrike">
                <a:solidFill>
                  <a:srgbClr val="16202B"/>
                </a:solidFill>
                <a:latin typeface="Cambria"/>
                <a:ea typeface="Cambria"/>
                <a:cs typeface="Cambria"/>
                <a:sym typeface="Cambria"/>
              </a:rPr>
              <a:t>"love"  vs  "hate"</a:t>
            </a:r>
            <a:endParaRPr b="0" i="0" sz="1700" u="none" cap="none" strike="noStrike">
              <a:solidFill>
                <a:schemeClr val="dk1"/>
              </a:solidFill>
              <a:latin typeface="Calibri"/>
              <a:ea typeface="Calibri"/>
              <a:cs typeface="Calibri"/>
              <a:sym typeface="Calibri"/>
            </a:endParaRPr>
          </a:p>
        </p:txBody>
      </p:sp>
      <p:sp>
        <p:nvSpPr>
          <p:cNvPr id="359" name="Google Shape;359;p17"/>
          <p:cNvSpPr/>
          <p:nvPr/>
        </p:nvSpPr>
        <p:spPr>
          <a:xfrm>
            <a:off x="868680" y="5559552"/>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245E"/>
              </a:buClr>
              <a:buSzPts val="2400"/>
              <a:buFont typeface="Cambria"/>
              <a:buNone/>
            </a:pPr>
            <a:r>
              <a:rPr b="1" i="0" lang="en-US" sz="2400" u="none" cap="none" strike="noStrike">
                <a:solidFill>
                  <a:srgbClr val="E0245E"/>
                </a:solidFill>
                <a:latin typeface="Cambria"/>
                <a:ea typeface="Cambria"/>
                <a:cs typeface="Cambria"/>
                <a:sym typeface="Cambria"/>
              </a:rPr>
              <a:t>0.408</a:t>
            </a:r>
            <a:endParaRPr b="0" i="0" sz="2400" u="none" cap="none" strike="noStrike">
              <a:solidFill>
                <a:schemeClr val="dk1"/>
              </a:solidFill>
              <a:latin typeface="Calibri"/>
              <a:ea typeface="Calibri"/>
              <a:cs typeface="Calibri"/>
              <a:sym typeface="Calibri"/>
            </a:endParaRPr>
          </a:p>
        </p:txBody>
      </p:sp>
      <p:sp>
        <p:nvSpPr>
          <p:cNvPr id="360" name="Google Shape;360;p17"/>
          <p:cNvSpPr/>
          <p:nvPr/>
        </p:nvSpPr>
        <p:spPr>
          <a:xfrm>
            <a:off x="3017520" y="5669280"/>
            <a:ext cx="2377440" cy="256032"/>
          </a:xfrm>
          <a:prstGeom prst="roundRect">
            <a:avLst>
              <a:gd fmla="val 50000" name="adj"/>
            </a:avLst>
          </a:prstGeom>
          <a:solidFill>
            <a:srgbClr val="E4EA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7"/>
          <p:cNvSpPr/>
          <p:nvPr/>
        </p:nvSpPr>
        <p:spPr>
          <a:xfrm>
            <a:off x="3017520" y="5669280"/>
            <a:ext cx="969996" cy="256032"/>
          </a:xfrm>
          <a:prstGeom prst="roundRect">
            <a:avLst>
              <a:gd fmla="val 50000" name="adj"/>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7"/>
          <p:cNvSpPr/>
          <p:nvPr/>
        </p:nvSpPr>
        <p:spPr>
          <a:xfrm>
            <a:off x="5760720" y="5102352"/>
            <a:ext cx="5120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50"/>
              <a:buFont typeface="Calibri"/>
              <a:buNone/>
            </a:pPr>
            <a:r>
              <a:rPr b="0" i="0" lang="en-US" sz="1250" u="none" cap="none" strike="noStrike">
                <a:solidFill>
                  <a:srgbClr val="5B7083"/>
                </a:solidFill>
                <a:latin typeface="Calibri"/>
                <a:ea typeface="Calibri"/>
                <a:cs typeface="Calibri"/>
                <a:sym typeface="Calibri"/>
              </a:rPr>
              <a:t>Emociones opuestas e intensas → la similitud más baja de las tres, como se esperaría.</a:t>
            </a:r>
            <a:endParaRPr b="0" i="0" sz="1250" u="none" cap="none" strike="noStrike">
              <a:solidFill>
                <a:schemeClr val="dk1"/>
              </a:solidFill>
              <a:latin typeface="Calibri"/>
              <a:ea typeface="Calibri"/>
              <a:cs typeface="Calibri"/>
              <a:sym typeface="Calibri"/>
            </a:endParaRPr>
          </a:p>
        </p:txBody>
      </p:sp>
      <p:sp>
        <p:nvSpPr>
          <p:cNvPr id="363" name="Google Shape;363;p17"/>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
        <p:nvSpPr>
          <p:cNvPr id="364" name="Google Shape;364;p17"/>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69" name="Shape 369"/>
        <p:cNvGrpSpPr/>
        <p:nvPr/>
      </p:nvGrpSpPr>
      <p:grpSpPr>
        <a:xfrm>
          <a:off x="0" y="0"/>
          <a:ext cx="0" cy="0"/>
          <a:chOff x="0" y="0"/>
          <a:chExt cx="0" cy="0"/>
        </a:xfrm>
      </p:grpSpPr>
      <p:sp>
        <p:nvSpPr>
          <p:cNvPr id="370" name="Google Shape;370;p18"/>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04 · MÉTRICAS DE EMBEDDINGS</a:t>
            </a:r>
            <a:endParaRPr b="0" i="0" sz="1200" u="none" cap="none" strike="noStrike">
              <a:solidFill>
                <a:schemeClr val="dk1"/>
              </a:solidFill>
              <a:latin typeface="Calibri"/>
              <a:ea typeface="Calibri"/>
              <a:cs typeface="Calibri"/>
              <a:sym typeface="Calibri"/>
            </a:endParaRPr>
          </a:p>
        </p:txBody>
      </p:sp>
      <p:sp>
        <p:nvSpPr>
          <p:cNvPr id="371" name="Google Shape;371;p18"/>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Analogías con Word2Vec</a:t>
            </a:r>
            <a:endParaRPr b="0" i="0" sz="3000" u="none" cap="none" strike="noStrike">
              <a:solidFill>
                <a:schemeClr val="dk1"/>
              </a:solidFill>
              <a:latin typeface="Calibri"/>
              <a:ea typeface="Calibri"/>
              <a:cs typeface="Calibri"/>
              <a:sym typeface="Calibri"/>
            </a:endParaRPr>
          </a:p>
        </p:txBody>
      </p:sp>
      <p:sp>
        <p:nvSpPr>
          <p:cNvPr id="372" name="Google Shape;372;p18"/>
          <p:cNvSpPr/>
          <p:nvPr/>
        </p:nvSpPr>
        <p:spPr>
          <a:xfrm>
            <a:off x="548640" y="137160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350"/>
              <a:buFont typeface="Calibri"/>
              <a:buNone/>
            </a:pPr>
            <a:r>
              <a:rPr b="0" i="1" lang="en-US" sz="1350" u="none" cap="none" strike="noStrike">
                <a:solidFill>
                  <a:srgbClr val="5B7083"/>
                </a:solidFill>
                <a:latin typeface="Calibri"/>
                <a:ea typeface="Calibri"/>
                <a:cs typeface="Calibri"/>
                <a:sym typeface="Calibri"/>
              </a:rPr>
              <a:t>Misma operación vectorial que "king - man + woman ≈ queen", aplicada al corpus de tweets.</a:t>
            </a:r>
            <a:endParaRPr b="0" i="0" sz="1350" u="none" cap="none" strike="noStrike">
              <a:solidFill>
                <a:schemeClr val="dk1"/>
              </a:solidFill>
              <a:latin typeface="Calibri"/>
              <a:ea typeface="Calibri"/>
              <a:cs typeface="Calibri"/>
              <a:sym typeface="Calibri"/>
            </a:endParaRPr>
          </a:p>
        </p:txBody>
      </p:sp>
      <p:sp>
        <p:nvSpPr>
          <p:cNvPr id="373" name="Google Shape;373;p18"/>
          <p:cNvSpPr/>
          <p:nvPr/>
        </p:nvSpPr>
        <p:spPr>
          <a:xfrm>
            <a:off x="548640" y="1965960"/>
            <a:ext cx="11064240" cy="1371600"/>
          </a:xfrm>
          <a:prstGeom prst="roundRect">
            <a:avLst>
              <a:gd fmla="val 5333" name="adj"/>
            </a:avLst>
          </a:prstGeom>
          <a:solidFill>
            <a:srgbClr val="0B1F3A"/>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p:nvPr/>
        </p:nvSpPr>
        <p:spPr>
          <a:xfrm>
            <a:off x="868680" y="1965960"/>
            <a:ext cx="1042416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ourier New"/>
              <a:buNone/>
            </a:pPr>
            <a:r>
              <a:rPr b="1" i="0" lang="en-US" sz="2200" u="none" cap="none" strike="noStrike">
                <a:solidFill>
                  <a:srgbClr val="FFFFFF"/>
                </a:solidFill>
                <a:latin typeface="Courier New"/>
                <a:ea typeface="Courier New"/>
                <a:cs typeface="Courier New"/>
                <a:sym typeface="Courier New"/>
              </a:rPr>
              <a:t>good  −  happy  +  sad  ≈  ?</a:t>
            </a:r>
            <a:endParaRPr b="0" i="0" sz="2200" u="none" cap="none" strike="noStrike">
              <a:solidFill>
                <a:schemeClr val="dk1"/>
              </a:solidFill>
              <a:latin typeface="Calibri"/>
              <a:ea typeface="Calibri"/>
              <a:cs typeface="Calibri"/>
              <a:sym typeface="Calibri"/>
            </a:endParaRPr>
          </a:p>
        </p:txBody>
      </p:sp>
      <p:sp>
        <p:nvSpPr>
          <p:cNvPr id="375" name="Google Shape;375;p18"/>
          <p:cNvSpPr/>
          <p:nvPr/>
        </p:nvSpPr>
        <p:spPr>
          <a:xfrm>
            <a:off x="548640" y="3611880"/>
            <a:ext cx="3520440" cy="1737360"/>
          </a:xfrm>
          <a:prstGeom prst="roundRect">
            <a:avLst>
              <a:gd fmla="val 421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p:nvPr/>
        </p:nvSpPr>
        <p:spPr>
          <a:xfrm>
            <a:off x="548640" y="3840480"/>
            <a:ext cx="35204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B"/>
              </a:buClr>
              <a:buSzPts val="2000"/>
              <a:buFont typeface="Cambria"/>
              <a:buNone/>
            </a:pPr>
            <a:r>
              <a:rPr b="1" i="0" lang="en-US" sz="2000" u="none" cap="none" strike="noStrike">
                <a:solidFill>
                  <a:srgbClr val="16202B"/>
                </a:solidFill>
                <a:latin typeface="Cambria"/>
                <a:ea typeface="Cambria"/>
                <a:cs typeface="Cambria"/>
                <a:sym typeface="Cambria"/>
              </a:rPr>
              <a:t>"saaaaad"</a:t>
            </a:r>
            <a:endParaRPr b="0" i="0" sz="2000" u="none" cap="none" strike="noStrike">
              <a:solidFill>
                <a:schemeClr val="dk1"/>
              </a:solidFill>
              <a:latin typeface="Calibri"/>
              <a:ea typeface="Calibri"/>
              <a:cs typeface="Calibri"/>
              <a:sym typeface="Calibri"/>
            </a:endParaRPr>
          </a:p>
        </p:txBody>
      </p:sp>
      <p:sp>
        <p:nvSpPr>
          <p:cNvPr id="377" name="Google Shape;377;p18"/>
          <p:cNvSpPr/>
          <p:nvPr/>
        </p:nvSpPr>
        <p:spPr>
          <a:xfrm>
            <a:off x="548640" y="4434840"/>
            <a:ext cx="3520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9BF0"/>
              </a:buClr>
              <a:buSzPts val="1300"/>
              <a:buFont typeface="Calibri"/>
              <a:buNone/>
            </a:pPr>
            <a:r>
              <a:rPr b="0" i="0" lang="en-US" sz="1300" u="none" cap="none" strike="noStrike">
                <a:solidFill>
                  <a:srgbClr val="1D9BF0"/>
                </a:solidFill>
                <a:latin typeface="Calibri"/>
                <a:ea typeface="Calibri"/>
                <a:cs typeface="Calibri"/>
                <a:sym typeface="Calibri"/>
              </a:rPr>
              <a:t>0.530</a:t>
            </a:r>
            <a:endParaRPr b="0" i="0" sz="1300" u="none" cap="none" strike="noStrike">
              <a:solidFill>
                <a:schemeClr val="dk1"/>
              </a:solidFill>
              <a:latin typeface="Calibri"/>
              <a:ea typeface="Calibri"/>
              <a:cs typeface="Calibri"/>
              <a:sym typeface="Calibri"/>
            </a:endParaRPr>
          </a:p>
        </p:txBody>
      </p:sp>
      <p:sp>
        <p:nvSpPr>
          <p:cNvPr id="378" name="Google Shape;378;p18"/>
          <p:cNvSpPr/>
          <p:nvPr/>
        </p:nvSpPr>
        <p:spPr>
          <a:xfrm>
            <a:off x="822960" y="4846320"/>
            <a:ext cx="2971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1050"/>
              <a:buFont typeface="Calibri"/>
              <a:buNone/>
            </a:pPr>
            <a:r>
              <a:rPr b="0" i="1" lang="en-US" sz="1050" u="none" cap="none" strike="noStrike">
                <a:solidFill>
                  <a:srgbClr val="5B7083"/>
                </a:solidFill>
                <a:latin typeface="Calibri"/>
                <a:ea typeface="Calibri"/>
                <a:cs typeface="Calibri"/>
                <a:sym typeface="Calibri"/>
              </a:rPr>
              <a:t>similitud coseno con el vector resultante</a:t>
            </a:r>
            <a:endParaRPr b="0" i="0" sz="1050" u="none" cap="none" strike="noStrike">
              <a:solidFill>
                <a:schemeClr val="dk1"/>
              </a:solidFill>
              <a:latin typeface="Calibri"/>
              <a:ea typeface="Calibri"/>
              <a:cs typeface="Calibri"/>
              <a:sym typeface="Calibri"/>
            </a:endParaRPr>
          </a:p>
        </p:txBody>
      </p:sp>
      <p:sp>
        <p:nvSpPr>
          <p:cNvPr id="379" name="Google Shape;379;p18"/>
          <p:cNvSpPr/>
          <p:nvPr/>
        </p:nvSpPr>
        <p:spPr>
          <a:xfrm>
            <a:off x="4297680" y="3611880"/>
            <a:ext cx="3520440" cy="1737360"/>
          </a:xfrm>
          <a:prstGeom prst="roundRect">
            <a:avLst>
              <a:gd fmla="val 421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8"/>
          <p:cNvSpPr/>
          <p:nvPr/>
        </p:nvSpPr>
        <p:spPr>
          <a:xfrm>
            <a:off x="4297680" y="3840480"/>
            <a:ext cx="35204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B"/>
              </a:buClr>
              <a:buSzPts val="2000"/>
              <a:buFont typeface="Cambria"/>
              <a:buNone/>
            </a:pPr>
            <a:r>
              <a:rPr b="1" i="0" lang="en-US" sz="2000" u="none" cap="none" strike="noStrike">
                <a:solidFill>
                  <a:srgbClr val="16202B"/>
                </a:solidFill>
                <a:latin typeface="Cambria"/>
                <a:ea typeface="Cambria"/>
                <a:cs typeface="Cambria"/>
                <a:sym typeface="Cambria"/>
              </a:rPr>
              <a:t>"tearful"</a:t>
            </a:r>
            <a:endParaRPr b="0" i="0" sz="2000" u="none" cap="none" strike="noStrike">
              <a:solidFill>
                <a:schemeClr val="dk1"/>
              </a:solidFill>
              <a:latin typeface="Calibri"/>
              <a:ea typeface="Calibri"/>
              <a:cs typeface="Calibri"/>
              <a:sym typeface="Calibri"/>
            </a:endParaRPr>
          </a:p>
        </p:txBody>
      </p:sp>
      <p:sp>
        <p:nvSpPr>
          <p:cNvPr id="381" name="Google Shape;381;p18"/>
          <p:cNvSpPr/>
          <p:nvPr/>
        </p:nvSpPr>
        <p:spPr>
          <a:xfrm>
            <a:off x="4297680" y="4434840"/>
            <a:ext cx="3520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9BF0"/>
              </a:buClr>
              <a:buSzPts val="1300"/>
              <a:buFont typeface="Calibri"/>
              <a:buNone/>
            </a:pPr>
            <a:r>
              <a:rPr b="0" i="0" lang="en-US" sz="1300" u="none" cap="none" strike="noStrike">
                <a:solidFill>
                  <a:srgbClr val="1D9BF0"/>
                </a:solidFill>
                <a:latin typeface="Calibri"/>
                <a:ea typeface="Calibri"/>
                <a:cs typeface="Calibri"/>
                <a:sym typeface="Calibri"/>
              </a:rPr>
              <a:t>0.519</a:t>
            </a:r>
            <a:endParaRPr b="0" i="0" sz="1300" u="none" cap="none" strike="noStrike">
              <a:solidFill>
                <a:schemeClr val="dk1"/>
              </a:solidFill>
              <a:latin typeface="Calibri"/>
              <a:ea typeface="Calibri"/>
              <a:cs typeface="Calibri"/>
              <a:sym typeface="Calibri"/>
            </a:endParaRPr>
          </a:p>
        </p:txBody>
      </p:sp>
      <p:sp>
        <p:nvSpPr>
          <p:cNvPr id="382" name="Google Shape;382;p18"/>
          <p:cNvSpPr/>
          <p:nvPr/>
        </p:nvSpPr>
        <p:spPr>
          <a:xfrm>
            <a:off x="4572000" y="4846320"/>
            <a:ext cx="2971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1050"/>
              <a:buFont typeface="Calibri"/>
              <a:buNone/>
            </a:pPr>
            <a:r>
              <a:rPr b="0" i="1" lang="en-US" sz="1050" u="none" cap="none" strike="noStrike">
                <a:solidFill>
                  <a:srgbClr val="5B7083"/>
                </a:solidFill>
                <a:latin typeface="Calibri"/>
                <a:ea typeface="Calibri"/>
                <a:cs typeface="Calibri"/>
                <a:sym typeface="Calibri"/>
              </a:rPr>
              <a:t>similitud coseno con el vector resultante</a:t>
            </a:r>
            <a:endParaRPr b="0" i="0" sz="1050" u="none" cap="none" strike="noStrike">
              <a:solidFill>
                <a:schemeClr val="dk1"/>
              </a:solidFill>
              <a:latin typeface="Calibri"/>
              <a:ea typeface="Calibri"/>
              <a:cs typeface="Calibri"/>
              <a:sym typeface="Calibri"/>
            </a:endParaRPr>
          </a:p>
        </p:txBody>
      </p:sp>
      <p:sp>
        <p:nvSpPr>
          <p:cNvPr id="383" name="Google Shape;383;p18"/>
          <p:cNvSpPr/>
          <p:nvPr/>
        </p:nvSpPr>
        <p:spPr>
          <a:xfrm>
            <a:off x="8046720" y="3611880"/>
            <a:ext cx="3520440" cy="1737360"/>
          </a:xfrm>
          <a:prstGeom prst="roundRect">
            <a:avLst>
              <a:gd fmla="val 421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p:nvPr/>
        </p:nvSpPr>
        <p:spPr>
          <a:xfrm>
            <a:off x="8046720" y="3840480"/>
            <a:ext cx="35204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B"/>
              </a:buClr>
              <a:buSzPts val="2000"/>
              <a:buFont typeface="Cambria"/>
              <a:buNone/>
            </a:pPr>
            <a:r>
              <a:rPr b="1" i="0" lang="en-US" sz="2000" u="none" cap="none" strike="noStrike">
                <a:solidFill>
                  <a:srgbClr val="16202B"/>
                </a:solidFill>
                <a:latin typeface="Cambria"/>
                <a:ea typeface="Cambria"/>
                <a:cs typeface="Cambria"/>
                <a:sym typeface="Cambria"/>
              </a:rPr>
              <a:t>"saddening"</a:t>
            </a:r>
            <a:endParaRPr b="0" i="0" sz="2000" u="none" cap="none" strike="noStrike">
              <a:solidFill>
                <a:schemeClr val="dk1"/>
              </a:solidFill>
              <a:latin typeface="Calibri"/>
              <a:ea typeface="Calibri"/>
              <a:cs typeface="Calibri"/>
              <a:sym typeface="Calibri"/>
            </a:endParaRPr>
          </a:p>
        </p:txBody>
      </p:sp>
      <p:sp>
        <p:nvSpPr>
          <p:cNvPr id="385" name="Google Shape;385;p18"/>
          <p:cNvSpPr/>
          <p:nvPr/>
        </p:nvSpPr>
        <p:spPr>
          <a:xfrm>
            <a:off x="8046720" y="4434840"/>
            <a:ext cx="3520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9BF0"/>
              </a:buClr>
              <a:buSzPts val="1300"/>
              <a:buFont typeface="Calibri"/>
              <a:buNone/>
            </a:pPr>
            <a:r>
              <a:rPr b="0" i="0" lang="en-US" sz="1300" u="none" cap="none" strike="noStrike">
                <a:solidFill>
                  <a:srgbClr val="1D9BF0"/>
                </a:solidFill>
                <a:latin typeface="Calibri"/>
                <a:ea typeface="Calibri"/>
                <a:cs typeface="Calibri"/>
                <a:sym typeface="Calibri"/>
              </a:rPr>
              <a:t>0.493</a:t>
            </a:r>
            <a:endParaRPr b="0" i="0" sz="1300" u="none" cap="none" strike="noStrike">
              <a:solidFill>
                <a:schemeClr val="dk1"/>
              </a:solidFill>
              <a:latin typeface="Calibri"/>
              <a:ea typeface="Calibri"/>
              <a:cs typeface="Calibri"/>
              <a:sym typeface="Calibri"/>
            </a:endParaRPr>
          </a:p>
        </p:txBody>
      </p:sp>
      <p:sp>
        <p:nvSpPr>
          <p:cNvPr id="386" name="Google Shape;386;p18"/>
          <p:cNvSpPr/>
          <p:nvPr/>
        </p:nvSpPr>
        <p:spPr>
          <a:xfrm>
            <a:off x="8321040" y="4846320"/>
            <a:ext cx="2971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1050"/>
              <a:buFont typeface="Calibri"/>
              <a:buNone/>
            </a:pPr>
            <a:r>
              <a:rPr b="0" i="1" lang="en-US" sz="1050" u="none" cap="none" strike="noStrike">
                <a:solidFill>
                  <a:srgbClr val="5B7083"/>
                </a:solidFill>
                <a:latin typeface="Calibri"/>
                <a:ea typeface="Calibri"/>
                <a:cs typeface="Calibri"/>
                <a:sym typeface="Calibri"/>
              </a:rPr>
              <a:t>similitud coseno con el vector resultante</a:t>
            </a:r>
            <a:endParaRPr b="0" i="0" sz="1050" u="none" cap="none" strike="noStrike">
              <a:solidFill>
                <a:schemeClr val="dk1"/>
              </a:solidFill>
              <a:latin typeface="Calibri"/>
              <a:ea typeface="Calibri"/>
              <a:cs typeface="Calibri"/>
              <a:sym typeface="Calibri"/>
            </a:endParaRPr>
          </a:p>
        </p:txBody>
      </p:sp>
      <p:sp>
        <p:nvSpPr>
          <p:cNvPr id="387" name="Google Shape;387;p18"/>
          <p:cNvSpPr/>
          <p:nvPr/>
        </p:nvSpPr>
        <p:spPr>
          <a:xfrm>
            <a:off x="548640" y="5532120"/>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200"/>
              <a:buFont typeface="Calibri"/>
              <a:buNone/>
            </a:pPr>
            <a:r>
              <a:rPr b="0" i="0" lang="en-US" sz="1200" u="none" cap="none" strike="noStrike">
                <a:solidFill>
                  <a:srgbClr val="16202B"/>
                </a:solidFill>
                <a:latin typeface="Calibri"/>
                <a:ea typeface="Calibri"/>
                <a:cs typeface="Calibri"/>
                <a:sym typeface="Calibri"/>
              </a:rPr>
              <a:t>Interpretación: el modelo asocia correctamente la relación "good es a happy" con "sad y sus sinónimos/variantes", mostrando que capturó estructura semántica de emociones más allá de coincidencias léxicas simples.</a:t>
            </a:r>
            <a:endParaRPr b="0" i="0" sz="1200" u="none" cap="none" strike="noStrike">
              <a:solidFill>
                <a:schemeClr val="dk1"/>
              </a:solidFill>
              <a:latin typeface="Calibri"/>
              <a:ea typeface="Calibri"/>
              <a:cs typeface="Calibri"/>
              <a:sym typeface="Calibri"/>
            </a:endParaRPr>
          </a:p>
        </p:txBody>
      </p:sp>
      <p:sp>
        <p:nvSpPr>
          <p:cNvPr id="388" name="Google Shape;388;p18"/>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sp>
        <p:nvSpPr>
          <p:cNvPr id="389" name="Google Shape;389;p18"/>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94" name="Shape 394"/>
        <p:cNvGrpSpPr/>
        <p:nvPr/>
      </p:nvGrpSpPr>
      <p:grpSpPr>
        <a:xfrm>
          <a:off x="0" y="0"/>
          <a:ext cx="0" cy="0"/>
          <a:chOff x="0" y="0"/>
          <a:chExt cx="0" cy="0"/>
        </a:xfrm>
      </p:grpSpPr>
      <p:sp>
        <p:nvSpPr>
          <p:cNvPr id="395" name="Google Shape;395;p19"/>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04 · MÉTRICAS DE EMBEDDINGS</a:t>
            </a:r>
            <a:endParaRPr b="0" i="0" sz="1200" u="none" cap="none" strike="noStrike">
              <a:solidFill>
                <a:schemeClr val="dk1"/>
              </a:solidFill>
              <a:latin typeface="Calibri"/>
              <a:ea typeface="Calibri"/>
              <a:cs typeface="Calibri"/>
              <a:sym typeface="Calibri"/>
            </a:endParaRPr>
          </a:p>
        </p:txBody>
      </p:sp>
      <p:sp>
        <p:nvSpPr>
          <p:cNvPr id="396" name="Google Shape;396;p19"/>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PPMI: co-ocurrencia de palabras</a:t>
            </a:r>
            <a:endParaRPr b="0" i="0" sz="3000" u="none" cap="none" strike="noStrike">
              <a:solidFill>
                <a:schemeClr val="dk1"/>
              </a:solidFill>
              <a:latin typeface="Calibri"/>
              <a:ea typeface="Calibri"/>
              <a:cs typeface="Calibri"/>
              <a:sym typeface="Calibri"/>
            </a:endParaRPr>
          </a:p>
        </p:txBody>
      </p:sp>
      <p:sp>
        <p:nvSpPr>
          <p:cNvPr id="397" name="Google Shape;397;p19"/>
          <p:cNvSpPr/>
          <p:nvPr/>
        </p:nvSpPr>
        <p:spPr>
          <a:xfrm>
            <a:off x="548640" y="1371600"/>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300"/>
              <a:buFont typeface="Calibri"/>
              <a:buNone/>
            </a:pPr>
            <a:r>
              <a:rPr b="0" i="1" lang="en-US" sz="1300" u="none" cap="none" strike="noStrike">
                <a:solidFill>
                  <a:srgbClr val="5B7083"/>
                </a:solidFill>
                <a:latin typeface="Calibri"/>
                <a:ea typeface="Calibri"/>
                <a:cs typeface="Calibri"/>
                <a:sym typeface="Calibri"/>
              </a:rPr>
              <a:t>Calculado sobre una matriz de co-ocurrencias (muestra de 100k tweets, ventana=4). Mide si dos palabras aparecen juntas más de lo esperable por azar — no mide polaridad.</a:t>
            </a:r>
            <a:endParaRPr b="0" i="0" sz="1300" u="none" cap="none" strike="noStrike">
              <a:solidFill>
                <a:schemeClr val="dk1"/>
              </a:solidFill>
              <a:latin typeface="Calibri"/>
              <a:ea typeface="Calibri"/>
              <a:cs typeface="Calibri"/>
              <a:sym typeface="Calibri"/>
            </a:endParaRPr>
          </a:p>
        </p:txBody>
      </p:sp>
      <p:sp>
        <p:nvSpPr>
          <p:cNvPr id="398" name="Google Shape;398;p19"/>
          <p:cNvSpPr/>
          <p:nvPr/>
        </p:nvSpPr>
        <p:spPr>
          <a:xfrm>
            <a:off x="548640" y="2103120"/>
            <a:ext cx="5394960" cy="1920240"/>
          </a:xfrm>
          <a:prstGeom prst="roundRect">
            <a:avLst>
              <a:gd fmla="val 3810"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9"/>
          <p:cNvSpPr/>
          <p:nvPr/>
        </p:nvSpPr>
        <p:spPr>
          <a:xfrm>
            <a:off x="868680" y="2286000"/>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500"/>
              <a:buFont typeface="Calibri"/>
              <a:buNone/>
            </a:pPr>
            <a:r>
              <a:rPr b="1" i="0" lang="en-US" sz="1500" u="none" cap="none" strike="noStrike">
                <a:solidFill>
                  <a:srgbClr val="16202B"/>
                </a:solidFill>
                <a:latin typeface="Calibri"/>
                <a:ea typeface="Calibri"/>
                <a:cs typeface="Calibri"/>
                <a:sym typeface="Calibri"/>
              </a:rPr>
              <a:t>PPMI("good", "great")</a:t>
            </a:r>
            <a:endParaRPr b="0" i="0" sz="1500" u="none" cap="none" strike="noStrike">
              <a:solidFill>
                <a:schemeClr val="dk1"/>
              </a:solidFill>
              <a:latin typeface="Calibri"/>
              <a:ea typeface="Calibri"/>
              <a:cs typeface="Calibri"/>
              <a:sym typeface="Calibri"/>
            </a:endParaRPr>
          </a:p>
        </p:txBody>
      </p:sp>
      <p:sp>
        <p:nvSpPr>
          <p:cNvPr id="400" name="Google Shape;400;p19"/>
          <p:cNvSpPr/>
          <p:nvPr/>
        </p:nvSpPr>
        <p:spPr>
          <a:xfrm>
            <a:off x="868680" y="2743200"/>
            <a:ext cx="2743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A7C"/>
              </a:buClr>
              <a:buSzPts val="4200"/>
              <a:buFont typeface="Cambria"/>
              <a:buNone/>
            </a:pPr>
            <a:r>
              <a:rPr b="1" i="0" lang="en-US" sz="4200" u="none" cap="none" strike="noStrike">
                <a:solidFill>
                  <a:srgbClr val="00BA7C"/>
                </a:solidFill>
                <a:latin typeface="Cambria"/>
                <a:ea typeface="Cambria"/>
                <a:cs typeface="Cambria"/>
                <a:sym typeface="Cambria"/>
              </a:rPr>
              <a:t>21.70</a:t>
            </a:r>
            <a:endParaRPr b="0" i="0" sz="4200" u="none" cap="none" strike="noStrike">
              <a:solidFill>
                <a:schemeClr val="dk1"/>
              </a:solidFill>
              <a:latin typeface="Calibri"/>
              <a:ea typeface="Calibri"/>
              <a:cs typeface="Calibri"/>
              <a:sym typeface="Calibri"/>
            </a:endParaRPr>
          </a:p>
        </p:txBody>
      </p:sp>
      <p:sp>
        <p:nvSpPr>
          <p:cNvPr id="401" name="Google Shape;401;p19"/>
          <p:cNvSpPr/>
          <p:nvPr/>
        </p:nvSpPr>
        <p:spPr>
          <a:xfrm>
            <a:off x="6172200" y="2103120"/>
            <a:ext cx="5394960" cy="1920240"/>
          </a:xfrm>
          <a:prstGeom prst="roundRect">
            <a:avLst>
              <a:gd fmla="val 3810"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9"/>
          <p:cNvSpPr/>
          <p:nvPr/>
        </p:nvSpPr>
        <p:spPr>
          <a:xfrm>
            <a:off x="6492240" y="2286000"/>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500"/>
              <a:buFont typeface="Calibri"/>
              <a:buNone/>
            </a:pPr>
            <a:r>
              <a:rPr b="1" i="0" lang="en-US" sz="1500" u="none" cap="none" strike="noStrike">
                <a:solidFill>
                  <a:srgbClr val="16202B"/>
                </a:solidFill>
                <a:latin typeface="Calibri"/>
                <a:ea typeface="Calibri"/>
                <a:cs typeface="Calibri"/>
                <a:sym typeface="Calibri"/>
              </a:rPr>
              <a:t>PPMI("good", "bad")</a:t>
            </a:r>
            <a:endParaRPr b="0" i="0" sz="1500" u="none" cap="none" strike="noStrike">
              <a:solidFill>
                <a:schemeClr val="dk1"/>
              </a:solidFill>
              <a:latin typeface="Calibri"/>
              <a:ea typeface="Calibri"/>
              <a:cs typeface="Calibri"/>
              <a:sym typeface="Calibri"/>
            </a:endParaRPr>
          </a:p>
        </p:txBody>
      </p:sp>
      <p:sp>
        <p:nvSpPr>
          <p:cNvPr id="403" name="Google Shape;403;p19"/>
          <p:cNvSpPr/>
          <p:nvPr/>
        </p:nvSpPr>
        <p:spPr>
          <a:xfrm>
            <a:off x="6492240" y="2743200"/>
            <a:ext cx="2743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4200"/>
              <a:buFont typeface="Cambria"/>
              <a:buNone/>
            </a:pPr>
            <a:r>
              <a:rPr b="1" i="0" lang="en-US" sz="4200" u="none" cap="none" strike="noStrike">
                <a:solidFill>
                  <a:srgbClr val="F5A623"/>
                </a:solidFill>
                <a:latin typeface="Cambria"/>
                <a:ea typeface="Cambria"/>
                <a:cs typeface="Cambria"/>
                <a:sym typeface="Cambria"/>
              </a:rPr>
              <a:t>21.52</a:t>
            </a:r>
            <a:endParaRPr b="0" i="0" sz="4200" u="none" cap="none" strike="noStrike">
              <a:solidFill>
                <a:schemeClr val="dk1"/>
              </a:solidFill>
              <a:latin typeface="Calibri"/>
              <a:ea typeface="Calibri"/>
              <a:cs typeface="Calibri"/>
              <a:sym typeface="Calibri"/>
            </a:endParaRPr>
          </a:p>
        </p:txBody>
      </p:sp>
      <p:sp>
        <p:nvSpPr>
          <p:cNvPr id="404" name="Google Shape;404;p19"/>
          <p:cNvSpPr/>
          <p:nvPr/>
        </p:nvSpPr>
        <p:spPr>
          <a:xfrm>
            <a:off x="548640" y="4251960"/>
            <a:ext cx="11064240" cy="1920240"/>
          </a:xfrm>
          <a:prstGeom prst="roundRect">
            <a:avLst>
              <a:gd fmla="val 3810"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9"/>
          <p:cNvSpPr/>
          <p:nvPr/>
        </p:nvSpPr>
        <p:spPr>
          <a:xfrm>
            <a:off x="868680" y="4434840"/>
            <a:ext cx="10424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350"/>
              <a:buFont typeface="Calibri"/>
              <a:buNone/>
            </a:pPr>
            <a:r>
              <a:rPr b="1" i="0" lang="en-US" sz="1350" u="none" cap="none" strike="noStrike">
                <a:solidFill>
                  <a:srgbClr val="16202B"/>
                </a:solidFill>
                <a:latin typeface="Calibri"/>
                <a:ea typeface="Calibri"/>
                <a:cs typeface="Calibri"/>
                <a:sym typeface="Calibri"/>
              </a:rPr>
              <a:t>¿Por qué "good" y "bad" tienen PPMI casi tan alto como "good" y "great", si son opuestos?</a:t>
            </a:r>
            <a:endParaRPr b="0" i="0" sz="1350" u="none" cap="none" strike="noStrike">
              <a:solidFill>
                <a:schemeClr val="dk1"/>
              </a:solidFill>
              <a:latin typeface="Calibri"/>
              <a:ea typeface="Calibri"/>
              <a:cs typeface="Calibri"/>
              <a:sym typeface="Calibri"/>
            </a:endParaRPr>
          </a:p>
        </p:txBody>
      </p:sp>
      <p:sp>
        <p:nvSpPr>
          <p:cNvPr id="406" name="Google Shape;406;p19"/>
          <p:cNvSpPr/>
          <p:nvPr/>
        </p:nvSpPr>
        <p:spPr>
          <a:xfrm>
            <a:off x="868680" y="4846320"/>
            <a:ext cx="1042416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50"/>
              <a:buFont typeface="Calibri"/>
              <a:buNone/>
            </a:pPr>
            <a:r>
              <a:rPr b="0" i="0" lang="en-US" sz="1250" u="none" cap="none" strike="noStrike">
                <a:solidFill>
                  <a:srgbClr val="5B7083"/>
                </a:solidFill>
                <a:latin typeface="Calibri"/>
                <a:ea typeface="Calibri"/>
                <a:cs typeface="Calibri"/>
                <a:sym typeface="Calibri"/>
              </a:rPr>
              <a:t>PPMI mide co-ocurrencia, no significado: ambas son palabras de sentimiento muy frecuentes que suelen aparecer juntas en frases contrastivas ("it's good, not bad"). La similitud coseno (slide anterior) es la que sí distingue la polaridad: good-bad (0.530) es más baja que good-great (0.686). Las dos métricas son complementarias, no intercambiables.</a:t>
            </a:r>
            <a:endParaRPr b="0" i="0" sz="1250" u="none" cap="none" strike="noStrike">
              <a:solidFill>
                <a:schemeClr val="dk1"/>
              </a:solidFill>
              <a:latin typeface="Calibri"/>
              <a:ea typeface="Calibri"/>
              <a:cs typeface="Calibri"/>
              <a:sym typeface="Calibri"/>
            </a:endParaRPr>
          </a:p>
        </p:txBody>
      </p:sp>
      <p:sp>
        <p:nvSpPr>
          <p:cNvPr id="407" name="Google Shape;407;p19"/>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15</a:t>
            </a:r>
            <a:endParaRPr b="0" i="0" sz="1000" u="none" cap="none" strike="noStrike">
              <a:solidFill>
                <a:schemeClr val="dk1"/>
              </a:solidFill>
              <a:latin typeface="Calibri"/>
              <a:ea typeface="Calibri"/>
              <a:cs typeface="Calibri"/>
              <a:sym typeface="Calibri"/>
            </a:endParaRPr>
          </a:p>
        </p:txBody>
      </p:sp>
      <p:sp>
        <p:nvSpPr>
          <p:cNvPr id="408" name="Google Shape;408;p19"/>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413" name="Shape 413"/>
        <p:cNvGrpSpPr/>
        <p:nvPr/>
      </p:nvGrpSpPr>
      <p:grpSpPr>
        <a:xfrm>
          <a:off x="0" y="0"/>
          <a:ext cx="0" cy="0"/>
          <a:chOff x="0" y="0"/>
          <a:chExt cx="0" cy="0"/>
        </a:xfrm>
      </p:grpSpPr>
      <p:sp>
        <p:nvSpPr>
          <p:cNvPr id="414" name="Google Shape;414;p20"/>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05 · ERRORES, LÍMITES Y PRÓXIMOS PASOS</a:t>
            </a:r>
            <a:endParaRPr b="0" i="0" sz="1200" u="none" cap="none" strike="noStrike">
              <a:solidFill>
                <a:schemeClr val="dk1"/>
              </a:solidFill>
              <a:latin typeface="Calibri"/>
              <a:ea typeface="Calibri"/>
              <a:cs typeface="Calibri"/>
              <a:sym typeface="Calibri"/>
            </a:endParaRPr>
          </a:p>
        </p:txBody>
      </p:sp>
      <p:sp>
        <p:nvSpPr>
          <p:cNvPr id="415" name="Google Shape;415;p20"/>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Análisis de errores del mejor modelo (I)</a:t>
            </a:r>
            <a:endParaRPr b="0" i="0" sz="3000" u="none" cap="none" strike="noStrike">
              <a:solidFill>
                <a:schemeClr val="dk1"/>
              </a:solidFill>
              <a:latin typeface="Calibri"/>
              <a:ea typeface="Calibri"/>
              <a:cs typeface="Calibri"/>
              <a:sym typeface="Calibri"/>
            </a:endParaRPr>
          </a:p>
        </p:txBody>
      </p:sp>
      <p:sp>
        <p:nvSpPr>
          <p:cNvPr id="416" name="Google Shape;416;p20"/>
          <p:cNvSpPr/>
          <p:nvPr/>
        </p:nvSpPr>
        <p:spPr>
          <a:xfrm>
            <a:off x="548640" y="1645920"/>
            <a:ext cx="11064240" cy="1353312"/>
          </a:xfrm>
          <a:prstGeom prst="roundRect">
            <a:avLst>
              <a:gd fmla="val 5405"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0"/>
          <p:cNvSpPr/>
          <p:nvPr/>
        </p:nvSpPr>
        <p:spPr>
          <a:xfrm>
            <a:off x="822960" y="1828800"/>
            <a:ext cx="457200" cy="45720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0"/>
          <p:cNvSpPr/>
          <p:nvPr/>
        </p:nvSpPr>
        <p:spPr>
          <a:xfrm>
            <a:off x="777240" y="182880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0</a:t>
            </a:r>
            <a:endParaRPr b="0" i="0" sz="1500" u="none" cap="none" strike="noStrike">
              <a:solidFill>
                <a:schemeClr val="dk1"/>
              </a:solidFill>
              <a:latin typeface="Calibri"/>
              <a:ea typeface="Calibri"/>
              <a:cs typeface="Calibri"/>
              <a:sym typeface="Calibri"/>
            </a:endParaRPr>
          </a:p>
        </p:txBody>
      </p:sp>
      <p:sp>
        <p:nvSpPr>
          <p:cNvPr id="419" name="Google Shape;419;p20"/>
          <p:cNvSpPr/>
          <p:nvPr/>
        </p:nvSpPr>
        <p:spPr>
          <a:xfrm>
            <a:off x="713232" y="2322576"/>
            <a:ext cx="685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900"/>
              <a:buFont typeface="Calibri"/>
              <a:buNone/>
            </a:pPr>
            <a:r>
              <a:rPr b="0" i="0" lang="en-US" sz="900" u="none" cap="none" strike="noStrike">
                <a:solidFill>
                  <a:srgbClr val="5B7083"/>
                </a:solidFill>
                <a:latin typeface="Calibri"/>
                <a:ea typeface="Calibri"/>
                <a:cs typeface="Calibri"/>
                <a:sym typeface="Calibri"/>
              </a:rPr>
              <a:t>real</a:t>
            </a:r>
            <a:endParaRPr b="0" i="0" sz="900" u="none" cap="none" strike="noStrike">
              <a:solidFill>
                <a:schemeClr val="dk1"/>
              </a:solidFill>
              <a:latin typeface="Calibri"/>
              <a:ea typeface="Calibri"/>
              <a:cs typeface="Calibri"/>
              <a:sym typeface="Calibri"/>
            </a:endParaRPr>
          </a:p>
        </p:txBody>
      </p:sp>
      <p:sp>
        <p:nvSpPr>
          <p:cNvPr id="420" name="Google Shape;420;p20"/>
          <p:cNvSpPr/>
          <p:nvPr/>
        </p:nvSpPr>
        <p:spPr>
          <a:xfrm>
            <a:off x="1371600" y="1810512"/>
            <a:ext cx="457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CA0B3"/>
              </a:buClr>
              <a:buSzPts val="1800"/>
              <a:buFont typeface="Calibri"/>
              <a:buNone/>
            </a:pPr>
            <a:r>
              <a:rPr b="0" i="0" lang="en-US" sz="1800" u="none" cap="none" strike="noStrike">
                <a:solidFill>
                  <a:srgbClr val="8CA0B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21" name="Google Shape;421;p20"/>
          <p:cNvSpPr/>
          <p:nvPr/>
        </p:nvSpPr>
        <p:spPr>
          <a:xfrm>
            <a:off x="1874520" y="1828800"/>
            <a:ext cx="457200" cy="457200"/>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0"/>
          <p:cNvSpPr/>
          <p:nvPr/>
        </p:nvSpPr>
        <p:spPr>
          <a:xfrm>
            <a:off x="1828800" y="182880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423" name="Google Shape;423;p20"/>
          <p:cNvSpPr/>
          <p:nvPr/>
        </p:nvSpPr>
        <p:spPr>
          <a:xfrm>
            <a:off x="1673352" y="2322576"/>
            <a:ext cx="8686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900"/>
              <a:buFont typeface="Calibri"/>
              <a:buNone/>
            </a:pPr>
            <a:r>
              <a:rPr b="0" i="0" lang="en-US" sz="900" u="none" cap="none" strike="noStrike">
                <a:solidFill>
                  <a:srgbClr val="5B7083"/>
                </a:solidFill>
                <a:latin typeface="Calibri"/>
                <a:ea typeface="Calibri"/>
                <a:cs typeface="Calibri"/>
                <a:sym typeface="Calibri"/>
              </a:rPr>
              <a:t>predicho</a:t>
            </a:r>
            <a:endParaRPr b="0" i="0" sz="900" u="none" cap="none" strike="noStrike">
              <a:solidFill>
                <a:schemeClr val="dk1"/>
              </a:solidFill>
              <a:latin typeface="Calibri"/>
              <a:ea typeface="Calibri"/>
              <a:cs typeface="Calibri"/>
              <a:sym typeface="Calibri"/>
            </a:endParaRPr>
          </a:p>
        </p:txBody>
      </p:sp>
      <p:sp>
        <p:nvSpPr>
          <p:cNvPr id="424" name="Google Shape;424;p20"/>
          <p:cNvSpPr/>
          <p:nvPr/>
        </p:nvSpPr>
        <p:spPr>
          <a:xfrm>
            <a:off x="2788920" y="1737360"/>
            <a:ext cx="8595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02B"/>
              </a:buClr>
              <a:buSzPts val="1200"/>
              <a:buFont typeface="Calibri"/>
              <a:buNone/>
            </a:pPr>
            <a:r>
              <a:rPr b="0" i="1" lang="en-US" sz="1200" u="none" cap="none" strike="noStrike">
                <a:solidFill>
                  <a:srgbClr val="16202B"/>
                </a:solidFill>
                <a:latin typeface="Calibri"/>
                <a:ea typeface="Calibri"/>
                <a:cs typeface="Calibri"/>
                <a:sym typeface="Calibri"/>
              </a:rPr>
              <a:t>"7 hours of inkscape crashing, normally a very good program... but not today."</a:t>
            </a:r>
            <a:endParaRPr b="0" i="0" sz="1200" u="none" cap="none" strike="noStrike">
              <a:solidFill>
                <a:schemeClr val="dk1"/>
              </a:solidFill>
              <a:latin typeface="Calibri"/>
              <a:ea typeface="Calibri"/>
              <a:cs typeface="Calibri"/>
              <a:sym typeface="Calibri"/>
            </a:endParaRPr>
          </a:p>
        </p:txBody>
      </p:sp>
      <p:sp>
        <p:nvSpPr>
          <p:cNvPr id="425" name="Google Shape;425;p20"/>
          <p:cNvSpPr/>
          <p:nvPr/>
        </p:nvSpPr>
        <p:spPr>
          <a:xfrm>
            <a:off x="2788920" y="2267712"/>
            <a:ext cx="8595360"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7083"/>
              </a:buClr>
              <a:buSzPts val="1100"/>
              <a:buFont typeface="Calibri"/>
              <a:buNone/>
            </a:pPr>
            <a:r>
              <a:rPr b="0" i="0" lang="en-US" sz="1100" u="none" cap="none" strike="noStrike">
                <a:solidFill>
                  <a:srgbClr val="5B7083"/>
                </a:solidFill>
                <a:latin typeface="Calibri"/>
                <a:ea typeface="Calibri"/>
                <a:cs typeface="Calibri"/>
                <a:sym typeface="Calibri"/>
              </a:rPr>
              <a:t>Hipótesis: TextBlob probablemente ponderó "very good program" y neutralizó el resultado, sin captar el contraste ("crashing", "not today") que sí percibe un lector humano.</a:t>
            </a:r>
            <a:endParaRPr b="0" i="0" sz="1100" u="none" cap="none" strike="noStrike">
              <a:solidFill>
                <a:schemeClr val="dk1"/>
              </a:solidFill>
              <a:latin typeface="Calibri"/>
              <a:ea typeface="Calibri"/>
              <a:cs typeface="Calibri"/>
              <a:sym typeface="Calibri"/>
            </a:endParaRPr>
          </a:p>
        </p:txBody>
      </p:sp>
      <p:sp>
        <p:nvSpPr>
          <p:cNvPr id="426" name="Google Shape;426;p20"/>
          <p:cNvSpPr/>
          <p:nvPr/>
        </p:nvSpPr>
        <p:spPr>
          <a:xfrm>
            <a:off x="548640" y="3108960"/>
            <a:ext cx="11064240" cy="1353312"/>
          </a:xfrm>
          <a:prstGeom prst="roundRect">
            <a:avLst>
              <a:gd fmla="val 5405"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0"/>
          <p:cNvSpPr/>
          <p:nvPr/>
        </p:nvSpPr>
        <p:spPr>
          <a:xfrm>
            <a:off x="822960" y="3291840"/>
            <a:ext cx="457200" cy="457200"/>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0"/>
          <p:cNvSpPr/>
          <p:nvPr/>
        </p:nvSpPr>
        <p:spPr>
          <a:xfrm>
            <a:off x="777240" y="329184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429" name="Google Shape;429;p20"/>
          <p:cNvSpPr/>
          <p:nvPr/>
        </p:nvSpPr>
        <p:spPr>
          <a:xfrm>
            <a:off x="713232" y="3785616"/>
            <a:ext cx="685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900"/>
              <a:buFont typeface="Calibri"/>
              <a:buNone/>
            </a:pPr>
            <a:r>
              <a:rPr b="0" i="0" lang="en-US" sz="900" u="none" cap="none" strike="noStrike">
                <a:solidFill>
                  <a:srgbClr val="5B7083"/>
                </a:solidFill>
                <a:latin typeface="Calibri"/>
                <a:ea typeface="Calibri"/>
                <a:cs typeface="Calibri"/>
                <a:sym typeface="Calibri"/>
              </a:rPr>
              <a:t>real</a:t>
            </a:r>
            <a:endParaRPr b="0" i="0" sz="900" u="none" cap="none" strike="noStrike">
              <a:solidFill>
                <a:schemeClr val="dk1"/>
              </a:solidFill>
              <a:latin typeface="Calibri"/>
              <a:ea typeface="Calibri"/>
              <a:cs typeface="Calibri"/>
              <a:sym typeface="Calibri"/>
            </a:endParaRPr>
          </a:p>
        </p:txBody>
      </p:sp>
      <p:sp>
        <p:nvSpPr>
          <p:cNvPr id="430" name="Google Shape;430;p20"/>
          <p:cNvSpPr/>
          <p:nvPr/>
        </p:nvSpPr>
        <p:spPr>
          <a:xfrm>
            <a:off x="1371600" y="3273552"/>
            <a:ext cx="457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CA0B3"/>
              </a:buClr>
              <a:buSzPts val="1800"/>
              <a:buFont typeface="Calibri"/>
              <a:buNone/>
            </a:pPr>
            <a:r>
              <a:rPr b="0" i="0" lang="en-US" sz="1800" u="none" cap="none" strike="noStrike">
                <a:solidFill>
                  <a:srgbClr val="8CA0B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31" name="Google Shape;431;p20"/>
          <p:cNvSpPr/>
          <p:nvPr/>
        </p:nvSpPr>
        <p:spPr>
          <a:xfrm>
            <a:off x="1874520" y="3291840"/>
            <a:ext cx="457200" cy="45720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0"/>
          <p:cNvSpPr/>
          <p:nvPr/>
        </p:nvSpPr>
        <p:spPr>
          <a:xfrm>
            <a:off x="1828800" y="329184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433" name="Google Shape;433;p20"/>
          <p:cNvSpPr/>
          <p:nvPr/>
        </p:nvSpPr>
        <p:spPr>
          <a:xfrm>
            <a:off x="1673352" y="3785616"/>
            <a:ext cx="8686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900"/>
              <a:buFont typeface="Calibri"/>
              <a:buNone/>
            </a:pPr>
            <a:r>
              <a:rPr b="0" i="0" lang="en-US" sz="900" u="none" cap="none" strike="noStrike">
                <a:solidFill>
                  <a:srgbClr val="5B7083"/>
                </a:solidFill>
                <a:latin typeface="Calibri"/>
                <a:ea typeface="Calibri"/>
                <a:cs typeface="Calibri"/>
                <a:sym typeface="Calibri"/>
              </a:rPr>
              <a:t>predicho</a:t>
            </a:r>
            <a:endParaRPr b="0" i="0" sz="900" u="none" cap="none" strike="noStrike">
              <a:solidFill>
                <a:schemeClr val="dk1"/>
              </a:solidFill>
              <a:latin typeface="Calibri"/>
              <a:ea typeface="Calibri"/>
              <a:cs typeface="Calibri"/>
              <a:sym typeface="Calibri"/>
            </a:endParaRPr>
          </a:p>
        </p:txBody>
      </p:sp>
      <p:sp>
        <p:nvSpPr>
          <p:cNvPr id="434" name="Google Shape;434;p20"/>
          <p:cNvSpPr/>
          <p:nvPr/>
        </p:nvSpPr>
        <p:spPr>
          <a:xfrm>
            <a:off x="2788920" y="3200400"/>
            <a:ext cx="8595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02B"/>
              </a:buClr>
              <a:buSzPts val="1200"/>
              <a:buFont typeface="Calibri"/>
              <a:buNone/>
            </a:pPr>
            <a:r>
              <a:rPr b="0" i="1" lang="en-US" sz="1200" u="none" cap="none" strike="noStrike">
                <a:solidFill>
                  <a:srgbClr val="16202B"/>
                </a:solidFill>
                <a:latin typeface="Calibri"/>
                <a:ea typeface="Calibri"/>
                <a:cs typeface="Calibri"/>
                <a:sym typeface="Calibri"/>
              </a:rPr>
              <a:t>"Nike SB Blazer High "ACG" Custom - Brad Douglas"</a:t>
            </a:r>
            <a:endParaRPr b="0" i="0" sz="1200" u="none" cap="none" strike="noStrike">
              <a:solidFill>
                <a:schemeClr val="dk1"/>
              </a:solidFill>
              <a:latin typeface="Calibri"/>
              <a:ea typeface="Calibri"/>
              <a:cs typeface="Calibri"/>
              <a:sym typeface="Calibri"/>
            </a:endParaRPr>
          </a:p>
        </p:txBody>
      </p:sp>
      <p:sp>
        <p:nvSpPr>
          <p:cNvPr id="435" name="Google Shape;435;p20"/>
          <p:cNvSpPr/>
          <p:nvPr/>
        </p:nvSpPr>
        <p:spPr>
          <a:xfrm>
            <a:off x="2788920" y="3730752"/>
            <a:ext cx="8595360"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7083"/>
              </a:buClr>
              <a:buSzPts val="1100"/>
              <a:buFont typeface="Calibri"/>
              <a:buNone/>
            </a:pPr>
            <a:r>
              <a:rPr b="0" i="0" lang="en-US" sz="1100" u="none" cap="none" strike="noStrike">
                <a:solidFill>
                  <a:srgbClr val="5B7083"/>
                </a:solidFill>
                <a:latin typeface="Calibri"/>
                <a:ea typeface="Calibri"/>
                <a:cs typeface="Calibri"/>
                <a:sym typeface="Calibri"/>
              </a:rPr>
              <a:t>Hipótesis: tweet puramente informativo (nombre de producto); el léxico de TextBlob puede asociar marcas/consumo con connotación positiva.</a:t>
            </a:r>
            <a:endParaRPr b="0" i="0" sz="1100" u="none" cap="none" strike="noStrike">
              <a:solidFill>
                <a:schemeClr val="dk1"/>
              </a:solidFill>
              <a:latin typeface="Calibri"/>
              <a:ea typeface="Calibri"/>
              <a:cs typeface="Calibri"/>
              <a:sym typeface="Calibri"/>
            </a:endParaRPr>
          </a:p>
        </p:txBody>
      </p:sp>
      <p:sp>
        <p:nvSpPr>
          <p:cNvPr id="436" name="Google Shape;436;p20"/>
          <p:cNvSpPr/>
          <p:nvPr/>
        </p:nvSpPr>
        <p:spPr>
          <a:xfrm>
            <a:off x="548640" y="4572000"/>
            <a:ext cx="11064240" cy="1353312"/>
          </a:xfrm>
          <a:prstGeom prst="roundRect">
            <a:avLst>
              <a:gd fmla="val 5405"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0"/>
          <p:cNvSpPr/>
          <p:nvPr/>
        </p:nvSpPr>
        <p:spPr>
          <a:xfrm>
            <a:off x="822960" y="4754880"/>
            <a:ext cx="457200" cy="45720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0"/>
          <p:cNvSpPr/>
          <p:nvPr/>
        </p:nvSpPr>
        <p:spPr>
          <a:xfrm>
            <a:off x="777240" y="475488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0</a:t>
            </a:r>
            <a:endParaRPr b="0" i="0" sz="1500" u="none" cap="none" strike="noStrike">
              <a:solidFill>
                <a:schemeClr val="dk1"/>
              </a:solidFill>
              <a:latin typeface="Calibri"/>
              <a:ea typeface="Calibri"/>
              <a:cs typeface="Calibri"/>
              <a:sym typeface="Calibri"/>
            </a:endParaRPr>
          </a:p>
        </p:txBody>
      </p:sp>
      <p:sp>
        <p:nvSpPr>
          <p:cNvPr id="439" name="Google Shape;439;p20"/>
          <p:cNvSpPr/>
          <p:nvPr/>
        </p:nvSpPr>
        <p:spPr>
          <a:xfrm>
            <a:off x="713232" y="5248656"/>
            <a:ext cx="685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900"/>
              <a:buFont typeface="Calibri"/>
              <a:buNone/>
            </a:pPr>
            <a:r>
              <a:rPr b="0" i="0" lang="en-US" sz="900" u="none" cap="none" strike="noStrike">
                <a:solidFill>
                  <a:srgbClr val="5B7083"/>
                </a:solidFill>
                <a:latin typeface="Calibri"/>
                <a:ea typeface="Calibri"/>
                <a:cs typeface="Calibri"/>
                <a:sym typeface="Calibri"/>
              </a:rPr>
              <a:t>real</a:t>
            </a:r>
            <a:endParaRPr b="0" i="0" sz="900" u="none" cap="none" strike="noStrike">
              <a:solidFill>
                <a:schemeClr val="dk1"/>
              </a:solidFill>
              <a:latin typeface="Calibri"/>
              <a:ea typeface="Calibri"/>
              <a:cs typeface="Calibri"/>
              <a:sym typeface="Calibri"/>
            </a:endParaRPr>
          </a:p>
        </p:txBody>
      </p:sp>
      <p:sp>
        <p:nvSpPr>
          <p:cNvPr id="440" name="Google Shape;440;p20"/>
          <p:cNvSpPr/>
          <p:nvPr/>
        </p:nvSpPr>
        <p:spPr>
          <a:xfrm>
            <a:off x="1371600" y="4736592"/>
            <a:ext cx="457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CA0B3"/>
              </a:buClr>
              <a:buSzPts val="1800"/>
              <a:buFont typeface="Calibri"/>
              <a:buNone/>
            </a:pPr>
            <a:r>
              <a:rPr b="0" i="0" lang="en-US" sz="1800" u="none" cap="none" strike="noStrike">
                <a:solidFill>
                  <a:srgbClr val="8CA0B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41" name="Google Shape;441;p20"/>
          <p:cNvSpPr/>
          <p:nvPr/>
        </p:nvSpPr>
        <p:spPr>
          <a:xfrm>
            <a:off x="1874520" y="4754880"/>
            <a:ext cx="457200" cy="457200"/>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0"/>
          <p:cNvSpPr/>
          <p:nvPr/>
        </p:nvSpPr>
        <p:spPr>
          <a:xfrm>
            <a:off x="1828800" y="475488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443" name="Google Shape;443;p20"/>
          <p:cNvSpPr/>
          <p:nvPr/>
        </p:nvSpPr>
        <p:spPr>
          <a:xfrm>
            <a:off x="1673352" y="5248656"/>
            <a:ext cx="8686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900"/>
              <a:buFont typeface="Calibri"/>
              <a:buNone/>
            </a:pPr>
            <a:r>
              <a:rPr b="0" i="0" lang="en-US" sz="900" u="none" cap="none" strike="noStrike">
                <a:solidFill>
                  <a:srgbClr val="5B7083"/>
                </a:solidFill>
                <a:latin typeface="Calibri"/>
                <a:ea typeface="Calibri"/>
                <a:cs typeface="Calibri"/>
                <a:sym typeface="Calibri"/>
              </a:rPr>
              <a:t>predicho</a:t>
            </a:r>
            <a:endParaRPr b="0" i="0" sz="900" u="none" cap="none" strike="noStrike">
              <a:solidFill>
                <a:schemeClr val="dk1"/>
              </a:solidFill>
              <a:latin typeface="Calibri"/>
              <a:ea typeface="Calibri"/>
              <a:cs typeface="Calibri"/>
              <a:sym typeface="Calibri"/>
            </a:endParaRPr>
          </a:p>
        </p:txBody>
      </p:sp>
      <p:sp>
        <p:nvSpPr>
          <p:cNvPr id="444" name="Google Shape;444;p20"/>
          <p:cNvSpPr/>
          <p:nvPr/>
        </p:nvSpPr>
        <p:spPr>
          <a:xfrm>
            <a:off x="2788920" y="4663440"/>
            <a:ext cx="8595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02B"/>
              </a:buClr>
              <a:buSzPts val="1200"/>
              <a:buFont typeface="Calibri"/>
              <a:buNone/>
            </a:pPr>
            <a:r>
              <a:rPr b="0" i="1" lang="en-US" sz="1200" u="none" cap="none" strike="noStrike">
                <a:solidFill>
                  <a:srgbClr val="16202B"/>
                </a:solidFill>
                <a:latin typeface="Calibri"/>
                <a:ea typeface="Calibri"/>
                <a:cs typeface="Calibri"/>
                <a:sym typeface="Calibri"/>
              </a:rPr>
              <a:t>"omg. The commercials alone on ESPN are going to annoy me today."</a:t>
            </a:r>
            <a:endParaRPr b="0" i="0" sz="1200" u="none" cap="none" strike="noStrike">
              <a:solidFill>
                <a:schemeClr val="dk1"/>
              </a:solidFill>
              <a:latin typeface="Calibri"/>
              <a:ea typeface="Calibri"/>
              <a:cs typeface="Calibri"/>
              <a:sym typeface="Calibri"/>
            </a:endParaRPr>
          </a:p>
        </p:txBody>
      </p:sp>
      <p:sp>
        <p:nvSpPr>
          <p:cNvPr id="445" name="Google Shape;445;p20"/>
          <p:cNvSpPr/>
          <p:nvPr/>
        </p:nvSpPr>
        <p:spPr>
          <a:xfrm>
            <a:off x="2788920" y="5193792"/>
            <a:ext cx="8595360"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7083"/>
              </a:buClr>
              <a:buSzPts val="1100"/>
              <a:buFont typeface="Calibri"/>
              <a:buNone/>
            </a:pPr>
            <a:r>
              <a:rPr b="0" i="0" lang="en-US" sz="1100" u="none" cap="none" strike="noStrike">
                <a:solidFill>
                  <a:srgbClr val="5B7083"/>
                </a:solidFill>
                <a:latin typeface="Calibri"/>
                <a:ea typeface="Calibri"/>
                <a:cs typeface="Calibri"/>
                <a:sym typeface="Calibri"/>
              </a:rPr>
              <a:t>Hipótesis: "annoy" tiene polaridad débil en el léxico de TextBlob y "omg" no es intrínsecamente negativo, resultando en neutral en vez de negativo.</a:t>
            </a:r>
            <a:endParaRPr b="0" i="0" sz="1100" u="none" cap="none" strike="noStrike">
              <a:solidFill>
                <a:schemeClr val="dk1"/>
              </a:solidFill>
              <a:latin typeface="Calibri"/>
              <a:ea typeface="Calibri"/>
              <a:cs typeface="Calibri"/>
              <a:sym typeface="Calibri"/>
            </a:endParaRPr>
          </a:p>
        </p:txBody>
      </p:sp>
      <p:sp>
        <p:nvSpPr>
          <p:cNvPr id="446" name="Google Shape;446;p20"/>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sp>
        <p:nvSpPr>
          <p:cNvPr id="447" name="Google Shape;447;p20"/>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452" name="Shape 452"/>
        <p:cNvGrpSpPr/>
        <p:nvPr/>
      </p:nvGrpSpPr>
      <p:grpSpPr>
        <a:xfrm>
          <a:off x="0" y="0"/>
          <a:ext cx="0" cy="0"/>
          <a:chOff x="0" y="0"/>
          <a:chExt cx="0" cy="0"/>
        </a:xfrm>
      </p:grpSpPr>
      <p:sp>
        <p:nvSpPr>
          <p:cNvPr id="453" name="Google Shape;453;p21"/>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05 · ERRORES, LÍMITES Y PRÓXIMOS PASOS</a:t>
            </a:r>
            <a:endParaRPr b="0" i="0" sz="1200" u="none" cap="none" strike="noStrike">
              <a:solidFill>
                <a:schemeClr val="dk1"/>
              </a:solidFill>
              <a:latin typeface="Calibri"/>
              <a:ea typeface="Calibri"/>
              <a:cs typeface="Calibri"/>
              <a:sym typeface="Calibri"/>
            </a:endParaRPr>
          </a:p>
        </p:txBody>
      </p:sp>
      <p:sp>
        <p:nvSpPr>
          <p:cNvPr id="454" name="Google Shape;454;p21"/>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Análisis de errores del mejor modelo (II)</a:t>
            </a:r>
            <a:endParaRPr b="0" i="0" sz="3000" u="none" cap="none" strike="noStrike">
              <a:solidFill>
                <a:schemeClr val="dk1"/>
              </a:solidFill>
              <a:latin typeface="Calibri"/>
              <a:ea typeface="Calibri"/>
              <a:cs typeface="Calibri"/>
              <a:sym typeface="Calibri"/>
            </a:endParaRPr>
          </a:p>
        </p:txBody>
      </p:sp>
      <p:sp>
        <p:nvSpPr>
          <p:cNvPr id="455" name="Google Shape;455;p21"/>
          <p:cNvSpPr/>
          <p:nvPr/>
        </p:nvSpPr>
        <p:spPr>
          <a:xfrm>
            <a:off x="548640" y="1783080"/>
            <a:ext cx="11064240" cy="2148840"/>
          </a:xfrm>
          <a:prstGeom prst="roundRect">
            <a:avLst>
              <a:gd fmla="val 3404"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
          <p:cNvSpPr/>
          <p:nvPr/>
        </p:nvSpPr>
        <p:spPr>
          <a:xfrm>
            <a:off x="822960" y="1965960"/>
            <a:ext cx="457200" cy="45720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1"/>
          <p:cNvSpPr/>
          <p:nvPr/>
        </p:nvSpPr>
        <p:spPr>
          <a:xfrm>
            <a:off x="777240" y="196596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0</a:t>
            </a:r>
            <a:endParaRPr b="0" i="0" sz="1500" u="none" cap="none" strike="noStrike">
              <a:solidFill>
                <a:schemeClr val="dk1"/>
              </a:solidFill>
              <a:latin typeface="Calibri"/>
              <a:ea typeface="Calibri"/>
              <a:cs typeface="Calibri"/>
              <a:sym typeface="Calibri"/>
            </a:endParaRPr>
          </a:p>
        </p:txBody>
      </p:sp>
      <p:sp>
        <p:nvSpPr>
          <p:cNvPr id="458" name="Google Shape;458;p21"/>
          <p:cNvSpPr/>
          <p:nvPr/>
        </p:nvSpPr>
        <p:spPr>
          <a:xfrm>
            <a:off x="713232" y="2459736"/>
            <a:ext cx="685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900"/>
              <a:buFont typeface="Calibri"/>
              <a:buNone/>
            </a:pPr>
            <a:r>
              <a:rPr b="0" i="0" lang="en-US" sz="900" u="none" cap="none" strike="noStrike">
                <a:solidFill>
                  <a:srgbClr val="5B7083"/>
                </a:solidFill>
                <a:latin typeface="Calibri"/>
                <a:ea typeface="Calibri"/>
                <a:cs typeface="Calibri"/>
                <a:sym typeface="Calibri"/>
              </a:rPr>
              <a:t>real</a:t>
            </a:r>
            <a:endParaRPr b="0" i="0" sz="900" u="none" cap="none" strike="noStrike">
              <a:solidFill>
                <a:schemeClr val="dk1"/>
              </a:solidFill>
              <a:latin typeface="Calibri"/>
              <a:ea typeface="Calibri"/>
              <a:cs typeface="Calibri"/>
              <a:sym typeface="Calibri"/>
            </a:endParaRPr>
          </a:p>
        </p:txBody>
      </p:sp>
      <p:sp>
        <p:nvSpPr>
          <p:cNvPr id="459" name="Google Shape;459;p21"/>
          <p:cNvSpPr/>
          <p:nvPr/>
        </p:nvSpPr>
        <p:spPr>
          <a:xfrm>
            <a:off x="1371600" y="1947672"/>
            <a:ext cx="457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CA0B3"/>
              </a:buClr>
              <a:buSzPts val="1800"/>
              <a:buFont typeface="Calibri"/>
              <a:buNone/>
            </a:pPr>
            <a:r>
              <a:rPr b="0" i="0" lang="en-US" sz="1800" u="none" cap="none" strike="noStrike">
                <a:solidFill>
                  <a:srgbClr val="8CA0B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60" name="Google Shape;460;p21"/>
          <p:cNvSpPr/>
          <p:nvPr/>
        </p:nvSpPr>
        <p:spPr>
          <a:xfrm>
            <a:off x="1874520" y="1965960"/>
            <a:ext cx="457200" cy="457200"/>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1"/>
          <p:cNvSpPr/>
          <p:nvPr/>
        </p:nvSpPr>
        <p:spPr>
          <a:xfrm>
            <a:off x="1828800" y="196596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462" name="Google Shape;462;p21"/>
          <p:cNvSpPr/>
          <p:nvPr/>
        </p:nvSpPr>
        <p:spPr>
          <a:xfrm>
            <a:off x="1673352" y="2459736"/>
            <a:ext cx="8686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900"/>
              <a:buFont typeface="Calibri"/>
              <a:buNone/>
            </a:pPr>
            <a:r>
              <a:rPr b="0" i="0" lang="en-US" sz="900" u="none" cap="none" strike="noStrike">
                <a:solidFill>
                  <a:srgbClr val="5B7083"/>
                </a:solidFill>
                <a:latin typeface="Calibri"/>
                <a:ea typeface="Calibri"/>
                <a:cs typeface="Calibri"/>
                <a:sym typeface="Calibri"/>
              </a:rPr>
              <a:t>predicho</a:t>
            </a:r>
            <a:endParaRPr b="0" i="0" sz="900" u="none" cap="none" strike="noStrike">
              <a:solidFill>
                <a:schemeClr val="dk1"/>
              </a:solidFill>
              <a:latin typeface="Calibri"/>
              <a:ea typeface="Calibri"/>
              <a:cs typeface="Calibri"/>
              <a:sym typeface="Calibri"/>
            </a:endParaRPr>
          </a:p>
        </p:txBody>
      </p:sp>
      <p:sp>
        <p:nvSpPr>
          <p:cNvPr id="463" name="Google Shape;463;p21"/>
          <p:cNvSpPr/>
          <p:nvPr/>
        </p:nvSpPr>
        <p:spPr>
          <a:xfrm>
            <a:off x="2788920" y="1874520"/>
            <a:ext cx="85953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02B"/>
              </a:buClr>
              <a:buSzPts val="1200"/>
              <a:buFont typeface="Calibri"/>
              <a:buNone/>
            </a:pPr>
            <a:r>
              <a:rPr b="0" i="1" lang="en-US" sz="1200" u="none" cap="none" strike="noStrike">
                <a:solidFill>
                  <a:srgbClr val="16202B"/>
                </a:solidFill>
                <a:latin typeface="Calibri"/>
                <a:ea typeface="Calibri"/>
                <a:cs typeface="Calibri"/>
                <a:sym typeface="Calibri"/>
              </a:rPr>
              <a:t>"glad i didnt do Bay to Breakers today, it's 100 degrees out."</a:t>
            </a:r>
            <a:endParaRPr b="0" i="0" sz="1200" u="none" cap="none" strike="noStrike">
              <a:solidFill>
                <a:schemeClr val="dk1"/>
              </a:solidFill>
              <a:latin typeface="Calibri"/>
              <a:ea typeface="Calibri"/>
              <a:cs typeface="Calibri"/>
              <a:sym typeface="Calibri"/>
            </a:endParaRPr>
          </a:p>
        </p:txBody>
      </p:sp>
      <p:sp>
        <p:nvSpPr>
          <p:cNvPr id="464" name="Google Shape;464;p21"/>
          <p:cNvSpPr/>
          <p:nvPr/>
        </p:nvSpPr>
        <p:spPr>
          <a:xfrm>
            <a:off x="2788920" y="2834640"/>
            <a:ext cx="859536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7083"/>
              </a:buClr>
              <a:buSzPts val="1100"/>
              <a:buFont typeface="Calibri"/>
              <a:buNone/>
            </a:pPr>
            <a:r>
              <a:rPr b="0" i="0" lang="en-US" sz="1100" u="none" cap="none" strike="noStrike">
                <a:solidFill>
                  <a:srgbClr val="5B7083"/>
                </a:solidFill>
                <a:latin typeface="Calibri"/>
                <a:ea typeface="Calibri"/>
                <a:cs typeface="Calibri"/>
                <a:sym typeface="Calibri"/>
              </a:rPr>
              <a:t>Hipótesis: "glad" es fuertemente positivo y puede pesar más que la connotación negativa del calor extremo, derivando en neutral en vez de negativo.</a:t>
            </a:r>
            <a:endParaRPr b="0" i="0" sz="1100" u="none" cap="none" strike="noStrike">
              <a:solidFill>
                <a:schemeClr val="dk1"/>
              </a:solidFill>
              <a:latin typeface="Calibri"/>
              <a:ea typeface="Calibri"/>
              <a:cs typeface="Calibri"/>
              <a:sym typeface="Calibri"/>
            </a:endParaRPr>
          </a:p>
        </p:txBody>
      </p:sp>
      <p:sp>
        <p:nvSpPr>
          <p:cNvPr id="465" name="Google Shape;465;p21"/>
          <p:cNvSpPr/>
          <p:nvPr/>
        </p:nvSpPr>
        <p:spPr>
          <a:xfrm>
            <a:off x="548640" y="4069080"/>
            <a:ext cx="11064240" cy="2148840"/>
          </a:xfrm>
          <a:prstGeom prst="roundRect">
            <a:avLst>
              <a:gd fmla="val 3404"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1"/>
          <p:cNvSpPr/>
          <p:nvPr/>
        </p:nvSpPr>
        <p:spPr>
          <a:xfrm>
            <a:off x="822960" y="4251960"/>
            <a:ext cx="457200" cy="457200"/>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1"/>
          <p:cNvSpPr/>
          <p:nvPr/>
        </p:nvSpPr>
        <p:spPr>
          <a:xfrm>
            <a:off x="777240" y="425196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468" name="Google Shape;468;p21"/>
          <p:cNvSpPr/>
          <p:nvPr/>
        </p:nvSpPr>
        <p:spPr>
          <a:xfrm>
            <a:off x="713232" y="4745736"/>
            <a:ext cx="685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900"/>
              <a:buFont typeface="Calibri"/>
              <a:buNone/>
            </a:pPr>
            <a:r>
              <a:rPr b="0" i="0" lang="en-US" sz="900" u="none" cap="none" strike="noStrike">
                <a:solidFill>
                  <a:srgbClr val="5B7083"/>
                </a:solidFill>
                <a:latin typeface="Calibri"/>
                <a:ea typeface="Calibri"/>
                <a:cs typeface="Calibri"/>
                <a:sym typeface="Calibri"/>
              </a:rPr>
              <a:t>real</a:t>
            </a:r>
            <a:endParaRPr b="0" i="0" sz="900" u="none" cap="none" strike="noStrike">
              <a:solidFill>
                <a:schemeClr val="dk1"/>
              </a:solidFill>
              <a:latin typeface="Calibri"/>
              <a:ea typeface="Calibri"/>
              <a:cs typeface="Calibri"/>
              <a:sym typeface="Calibri"/>
            </a:endParaRPr>
          </a:p>
        </p:txBody>
      </p:sp>
      <p:sp>
        <p:nvSpPr>
          <p:cNvPr id="469" name="Google Shape;469;p21"/>
          <p:cNvSpPr/>
          <p:nvPr/>
        </p:nvSpPr>
        <p:spPr>
          <a:xfrm>
            <a:off x="1371600" y="4233672"/>
            <a:ext cx="457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CA0B3"/>
              </a:buClr>
              <a:buSzPts val="1800"/>
              <a:buFont typeface="Calibri"/>
              <a:buNone/>
            </a:pPr>
            <a:r>
              <a:rPr b="0" i="0" lang="en-US" sz="1800" u="none" cap="none" strike="noStrike">
                <a:solidFill>
                  <a:srgbClr val="8CA0B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70" name="Google Shape;470;p21"/>
          <p:cNvSpPr/>
          <p:nvPr/>
        </p:nvSpPr>
        <p:spPr>
          <a:xfrm>
            <a:off x="1874520" y="4251960"/>
            <a:ext cx="457200" cy="45720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1"/>
          <p:cNvSpPr/>
          <p:nvPr/>
        </p:nvSpPr>
        <p:spPr>
          <a:xfrm>
            <a:off x="1828800" y="425196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472" name="Google Shape;472;p21"/>
          <p:cNvSpPr/>
          <p:nvPr/>
        </p:nvSpPr>
        <p:spPr>
          <a:xfrm>
            <a:off x="1673352" y="4745736"/>
            <a:ext cx="8686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083"/>
              </a:buClr>
              <a:buSzPts val="900"/>
              <a:buFont typeface="Calibri"/>
              <a:buNone/>
            </a:pPr>
            <a:r>
              <a:rPr b="0" i="0" lang="en-US" sz="900" u="none" cap="none" strike="noStrike">
                <a:solidFill>
                  <a:srgbClr val="5B7083"/>
                </a:solidFill>
                <a:latin typeface="Calibri"/>
                <a:ea typeface="Calibri"/>
                <a:cs typeface="Calibri"/>
                <a:sym typeface="Calibri"/>
              </a:rPr>
              <a:t>predicho</a:t>
            </a:r>
            <a:endParaRPr b="0" i="0" sz="900" u="none" cap="none" strike="noStrike">
              <a:solidFill>
                <a:schemeClr val="dk1"/>
              </a:solidFill>
              <a:latin typeface="Calibri"/>
              <a:ea typeface="Calibri"/>
              <a:cs typeface="Calibri"/>
              <a:sym typeface="Calibri"/>
            </a:endParaRPr>
          </a:p>
        </p:txBody>
      </p:sp>
      <p:sp>
        <p:nvSpPr>
          <p:cNvPr id="473" name="Google Shape;473;p21"/>
          <p:cNvSpPr/>
          <p:nvPr/>
        </p:nvSpPr>
        <p:spPr>
          <a:xfrm>
            <a:off x="2788920" y="4160520"/>
            <a:ext cx="85953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02B"/>
              </a:buClr>
              <a:buSzPts val="1200"/>
              <a:buFont typeface="Calibri"/>
              <a:buNone/>
            </a:pPr>
            <a:r>
              <a:rPr b="0" i="1" lang="en-US" sz="1200" u="none" cap="none" strike="noStrike">
                <a:solidFill>
                  <a:srgbClr val="16202B"/>
                </a:solidFill>
                <a:latin typeface="Calibri"/>
                <a:ea typeface="Calibri"/>
                <a:cs typeface="Calibri"/>
                <a:sym typeface="Calibri"/>
              </a:rPr>
              <a:t>"just started playing MLB 2K9... i thought it was gonna be horrible... but its actually not that bad."</a:t>
            </a:r>
            <a:endParaRPr b="0" i="0" sz="1200" u="none" cap="none" strike="noStrike">
              <a:solidFill>
                <a:schemeClr val="dk1"/>
              </a:solidFill>
              <a:latin typeface="Calibri"/>
              <a:ea typeface="Calibri"/>
              <a:cs typeface="Calibri"/>
              <a:sym typeface="Calibri"/>
            </a:endParaRPr>
          </a:p>
        </p:txBody>
      </p:sp>
      <p:sp>
        <p:nvSpPr>
          <p:cNvPr id="474" name="Google Shape;474;p21"/>
          <p:cNvSpPr/>
          <p:nvPr/>
        </p:nvSpPr>
        <p:spPr>
          <a:xfrm>
            <a:off x="2788920" y="5120640"/>
            <a:ext cx="859536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7083"/>
              </a:buClr>
              <a:buSzPts val="1100"/>
              <a:buFont typeface="Calibri"/>
              <a:buNone/>
            </a:pPr>
            <a:r>
              <a:rPr b="0" i="0" lang="en-US" sz="1100" u="none" cap="none" strike="noStrike">
                <a:solidFill>
                  <a:srgbClr val="5B7083"/>
                </a:solidFill>
                <a:latin typeface="Calibri"/>
                <a:ea typeface="Calibri"/>
                <a:cs typeface="Calibri"/>
                <a:sym typeface="Calibri"/>
              </a:rPr>
              <a:t>Hipótesis: sentimiento mixto/progresivo (expectativa negativa → evaluación final positiva). El modelo capta el cierre positivo pero no el contraste completo, y termina sobrestimando la polaridad.</a:t>
            </a:r>
            <a:endParaRPr b="0" i="0" sz="1100" u="none" cap="none" strike="noStrike">
              <a:solidFill>
                <a:schemeClr val="dk1"/>
              </a:solidFill>
              <a:latin typeface="Calibri"/>
              <a:ea typeface="Calibri"/>
              <a:cs typeface="Calibri"/>
              <a:sym typeface="Calibri"/>
            </a:endParaRPr>
          </a:p>
        </p:txBody>
      </p:sp>
      <p:sp>
        <p:nvSpPr>
          <p:cNvPr id="475" name="Google Shape;475;p21"/>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17</a:t>
            </a:r>
            <a:endParaRPr b="0" i="0" sz="1000" u="none" cap="none" strike="noStrike">
              <a:solidFill>
                <a:schemeClr val="dk1"/>
              </a:solidFill>
              <a:latin typeface="Calibri"/>
              <a:ea typeface="Calibri"/>
              <a:cs typeface="Calibri"/>
              <a:sym typeface="Calibri"/>
            </a:endParaRPr>
          </a:p>
        </p:txBody>
      </p:sp>
      <p:sp>
        <p:nvSpPr>
          <p:cNvPr id="476" name="Google Shape;476;p21"/>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481" name="Shape 481"/>
        <p:cNvGrpSpPr/>
        <p:nvPr/>
      </p:nvGrpSpPr>
      <p:grpSpPr>
        <a:xfrm>
          <a:off x="0" y="0"/>
          <a:ext cx="0" cy="0"/>
          <a:chOff x="0" y="0"/>
          <a:chExt cx="0" cy="0"/>
        </a:xfrm>
      </p:grpSpPr>
      <p:sp>
        <p:nvSpPr>
          <p:cNvPr id="482" name="Google Shape;482;p22"/>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05 · ERRORES, LÍMITES Y PRÓXIMOS PASOS</a:t>
            </a:r>
            <a:endParaRPr b="0" i="0" sz="1200" u="none" cap="none" strike="noStrike">
              <a:solidFill>
                <a:schemeClr val="dk1"/>
              </a:solidFill>
              <a:latin typeface="Calibri"/>
              <a:ea typeface="Calibri"/>
              <a:cs typeface="Calibri"/>
              <a:sym typeface="Calibri"/>
            </a:endParaRPr>
          </a:p>
        </p:txBody>
      </p:sp>
      <p:sp>
        <p:nvSpPr>
          <p:cNvPr id="483" name="Google Shape;483;p22"/>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Limitaciones del trabajo</a:t>
            </a:r>
            <a:endParaRPr b="0" i="0" sz="3000" u="none" cap="none" strike="noStrike">
              <a:solidFill>
                <a:schemeClr val="dk1"/>
              </a:solidFill>
              <a:latin typeface="Calibri"/>
              <a:ea typeface="Calibri"/>
              <a:cs typeface="Calibri"/>
              <a:sym typeface="Calibri"/>
            </a:endParaRPr>
          </a:p>
        </p:txBody>
      </p:sp>
      <p:sp>
        <p:nvSpPr>
          <p:cNvPr id="484" name="Google Shape;484;p22"/>
          <p:cNvSpPr/>
          <p:nvPr/>
        </p:nvSpPr>
        <p:spPr>
          <a:xfrm>
            <a:off x="548640" y="1783080"/>
            <a:ext cx="11064240" cy="1298448"/>
          </a:xfrm>
          <a:prstGeom prst="roundRect">
            <a:avLst>
              <a:gd fmla="val 5634"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2"/>
          <p:cNvSpPr/>
          <p:nvPr/>
        </p:nvSpPr>
        <p:spPr>
          <a:xfrm>
            <a:off x="822960" y="2185416"/>
            <a:ext cx="502920" cy="50292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2"/>
          <p:cNvSpPr/>
          <p:nvPr/>
        </p:nvSpPr>
        <p:spPr>
          <a:xfrm>
            <a:off x="777240" y="2185416"/>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487" name="Google Shape;487;p22"/>
          <p:cNvSpPr/>
          <p:nvPr/>
        </p:nvSpPr>
        <p:spPr>
          <a:xfrm>
            <a:off x="1600200" y="1920240"/>
            <a:ext cx="9692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50"/>
              <a:buFont typeface="Calibri"/>
              <a:buNone/>
            </a:pPr>
            <a:r>
              <a:rPr b="1" i="0" lang="en-US" sz="1450" u="none" cap="none" strike="noStrike">
                <a:solidFill>
                  <a:srgbClr val="16202B"/>
                </a:solidFill>
                <a:latin typeface="Calibri"/>
                <a:ea typeface="Calibri"/>
                <a:cs typeface="Calibri"/>
                <a:sym typeface="Calibri"/>
              </a:rPr>
              <a:t>Ausencia de clase neutral en el entrenamiento</a:t>
            </a:r>
            <a:endParaRPr b="0" i="0" sz="1450" u="none" cap="none" strike="noStrike">
              <a:solidFill>
                <a:schemeClr val="dk1"/>
              </a:solidFill>
              <a:latin typeface="Calibri"/>
              <a:ea typeface="Calibri"/>
              <a:cs typeface="Calibri"/>
              <a:sym typeface="Calibri"/>
            </a:endParaRPr>
          </a:p>
        </p:txBody>
      </p:sp>
      <p:sp>
        <p:nvSpPr>
          <p:cNvPr id="488" name="Google Shape;488;p22"/>
          <p:cNvSpPr/>
          <p:nvPr/>
        </p:nvSpPr>
        <p:spPr>
          <a:xfrm>
            <a:off x="1600200" y="2286000"/>
            <a:ext cx="9692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0" lang="en-US" sz="1200" u="none" cap="none" strike="noStrike">
                <a:solidFill>
                  <a:srgbClr val="5B7083"/>
                </a:solidFill>
                <a:latin typeface="Calibri"/>
                <a:ea typeface="Calibri"/>
                <a:cs typeface="Calibri"/>
                <a:sym typeface="Calibri"/>
              </a:rPr>
              <a:t>Los 3 modelos propios sólo vieron 0/4. Su precision, recall y F1 en la clase neutral son 0.00 — no es un fallo de ajuste, es una limitación estructural del dataset de entrenamiento.</a:t>
            </a:r>
            <a:endParaRPr b="0" i="0" sz="1200" u="none" cap="none" strike="noStrike">
              <a:solidFill>
                <a:schemeClr val="dk1"/>
              </a:solidFill>
              <a:latin typeface="Calibri"/>
              <a:ea typeface="Calibri"/>
              <a:cs typeface="Calibri"/>
              <a:sym typeface="Calibri"/>
            </a:endParaRPr>
          </a:p>
        </p:txBody>
      </p:sp>
      <p:sp>
        <p:nvSpPr>
          <p:cNvPr id="489" name="Google Shape;489;p22"/>
          <p:cNvSpPr/>
          <p:nvPr/>
        </p:nvSpPr>
        <p:spPr>
          <a:xfrm>
            <a:off x="548640" y="3264408"/>
            <a:ext cx="11064240" cy="1298448"/>
          </a:xfrm>
          <a:prstGeom prst="roundRect">
            <a:avLst>
              <a:gd fmla="val 5634"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2"/>
          <p:cNvSpPr/>
          <p:nvPr/>
        </p:nvSpPr>
        <p:spPr>
          <a:xfrm>
            <a:off x="822960" y="3666744"/>
            <a:ext cx="502920" cy="502920"/>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2"/>
          <p:cNvSpPr/>
          <p:nvPr/>
        </p:nvSpPr>
        <p:spPr>
          <a:xfrm>
            <a:off x="777240" y="3666744"/>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492" name="Google Shape;492;p22"/>
          <p:cNvSpPr/>
          <p:nvPr/>
        </p:nvSpPr>
        <p:spPr>
          <a:xfrm>
            <a:off x="1600200" y="3401568"/>
            <a:ext cx="9692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50"/>
              <a:buFont typeface="Calibri"/>
              <a:buNone/>
            </a:pPr>
            <a:r>
              <a:rPr b="1" i="0" lang="en-US" sz="1450" u="none" cap="none" strike="noStrike">
                <a:solidFill>
                  <a:srgbClr val="16202B"/>
                </a:solidFill>
                <a:latin typeface="Calibri"/>
                <a:ea typeface="Calibri"/>
                <a:cs typeface="Calibri"/>
                <a:sym typeface="Calibri"/>
              </a:rPr>
              <a:t>Dataset desactualizado (2009)</a:t>
            </a:r>
            <a:endParaRPr b="0" i="0" sz="1450" u="none" cap="none" strike="noStrike">
              <a:solidFill>
                <a:schemeClr val="dk1"/>
              </a:solidFill>
              <a:latin typeface="Calibri"/>
              <a:ea typeface="Calibri"/>
              <a:cs typeface="Calibri"/>
              <a:sym typeface="Calibri"/>
            </a:endParaRPr>
          </a:p>
        </p:txBody>
      </p:sp>
      <p:sp>
        <p:nvSpPr>
          <p:cNvPr id="493" name="Google Shape;493;p22"/>
          <p:cNvSpPr/>
          <p:nvPr/>
        </p:nvSpPr>
        <p:spPr>
          <a:xfrm>
            <a:off x="1600200" y="3767328"/>
            <a:ext cx="9692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0" lang="en-US" sz="1200" u="none" cap="none" strike="noStrike">
                <a:solidFill>
                  <a:srgbClr val="5B7083"/>
                </a:solidFill>
                <a:latin typeface="Calibri"/>
                <a:ea typeface="Calibri"/>
                <a:cs typeface="Calibri"/>
                <a:sym typeface="Calibri"/>
              </a:rPr>
              <a:t>El lenguaje de Twitter cambió mucho desde entonces (jerga, hashtags, referencias culturales), lo que puede limitar qué tan bien generalizarían estos modelos a tweets actuales.</a:t>
            </a:r>
            <a:endParaRPr b="0" i="0" sz="1200" u="none" cap="none" strike="noStrike">
              <a:solidFill>
                <a:schemeClr val="dk1"/>
              </a:solidFill>
              <a:latin typeface="Calibri"/>
              <a:ea typeface="Calibri"/>
              <a:cs typeface="Calibri"/>
              <a:sym typeface="Calibri"/>
            </a:endParaRPr>
          </a:p>
        </p:txBody>
      </p:sp>
      <p:sp>
        <p:nvSpPr>
          <p:cNvPr id="494" name="Google Shape;494;p22"/>
          <p:cNvSpPr/>
          <p:nvPr/>
        </p:nvSpPr>
        <p:spPr>
          <a:xfrm>
            <a:off x="548640" y="4745736"/>
            <a:ext cx="11064240" cy="1298448"/>
          </a:xfrm>
          <a:prstGeom prst="roundRect">
            <a:avLst>
              <a:gd fmla="val 5634"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2"/>
          <p:cNvSpPr/>
          <p:nvPr/>
        </p:nvSpPr>
        <p:spPr>
          <a:xfrm>
            <a:off x="822960" y="5148072"/>
            <a:ext cx="502920" cy="50292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2"/>
          <p:cNvSpPr/>
          <p:nvPr/>
        </p:nvSpPr>
        <p:spPr>
          <a:xfrm>
            <a:off x="777240" y="5148072"/>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497" name="Google Shape;497;p22"/>
          <p:cNvSpPr/>
          <p:nvPr/>
        </p:nvSpPr>
        <p:spPr>
          <a:xfrm>
            <a:off x="1600200" y="4882896"/>
            <a:ext cx="9692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50"/>
              <a:buFont typeface="Calibri"/>
              <a:buNone/>
            </a:pPr>
            <a:r>
              <a:rPr b="1" i="0" lang="en-US" sz="1450" u="none" cap="none" strike="noStrike">
                <a:solidFill>
                  <a:srgbClr val="16202B"/>
                </a:solidFill>
                <a:latin typeface="Calibri"/>
                <a:ea typeface="Calibri"/>
                <a:cs typeface="Calibri"/>
                <a:sym typeface="Calibri"/>
              </a:rPr>
              <a:t>Decisiones de muestreo por costo computacional</a:t>
            </a:r>
            <a:endParaRPr b="0" i="0" sz="1450" u="none" cap="none" strike="noStrike">
              <a:solidFill>
                <a:schemeClr val="dk1"/>
              </a:solidFill>
              <a:latin typeface="Calibri"/>
              <a:ea typeface="Calibri"/>
              <a:cs typeface="Calibri"/>
              <a:sym typeface="Calibri"/>
            </a:endParaRPr>
          </a:p>
        </p:txBody>
      </p:sp>
      <p:sp>
        <p:nvSpPr>
          <p:cNvPr id="498" name="Google Shape;498;p22"/>
          <p:cNvSpPr/>
          <p:nvPr/>
        </p:nvSpPr>
        <p:spPr>
          <a:xfrm>
            <a:off x="1600200" y="5248656"/>
            <a:ext cx="9692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0" lang="en-US" sz="1200" u="none" cap="none" strike="noStrike">
                <a:solidFill>
                  <a:srgbClr val="5B7083"/>
                </a:solidFill>
                <a:latin typeface="Calibri"/>
                <a:ea typeface="Calibri"/>
                <a:cs typeface="Calibri"/>
                <a:sym typeface="Calibri"/>
              </a:rPr>
              <a:t>PPMI (100k tweets) y UMAP (5k tweets) se calcularon sobre muestras, no sobre el corpus completo, para que fueran viables en tiempo/memoria — una limitación reconocida, no oculta.</a:t>
            </a:r>
            <a:endParaRPr b="0" i="0" sz="1200" u="none" cap="none" strike="noStrike">
              <a:solidFill>
                <a:schemeClr val="dk1"/>
              </a:solidFill>
              <a:latin typeface="Calibri"/>
              <a:ea typeface="Calibri"/>
              <a:cs typeface="Calibri"/>
              <a:sym typeface="Calibri"/>
            </a:endParaRPr>
          </a:p>
        </p:txBody>
      </p:sp>
      <p:sp>
        <p:nvSpPr>
          <p:cNvPr id="499" name="Google Shape;499;p22"/>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18</a:t>
            </a:r>
            <a:endParaRPr b="0" i="0" sz="1000" u="none" cap="none" strike="noStrike">
              <a:solidFill>
                <a:schemeClr val="dk1"/>
              </a:solidFill>
              <a:latin typeface="Calibri"/>
              <a:ea typeface="Calibri"/>
              <a:cs typeface="Calibri"/>
              <a:sym typeface="Calibri"/>
            </a:endParaRPr>
          </a:p>
        </p:txBody>
      </p:sp>
      <p:sp>
        <p:nvSpPr>
          <p:cNvPr id="500" name="Google Shape;500;p22"/>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7FA"/>
        </a:solidFill>
      </p:bgPr>
    </p:bg>
    <p:spTree>
      <p:nvGrpSpPr>
        <p:cNvPr id="505" name="Shape 505"/>
        <p:cNvGrpSpPr/>
        <p:nvPr/>
      </p:nvGrpSpPr>
      <p:grpSpPr>
        <a:xfrm>
          <a:off x="0" y="0"/>
          <a:ext cx="0" cy="0"/>
          <a:chOff x="0" y="0"/>
          <a:chExt cx="0" cy="0"/>
        </a:xfrm>
      </p:grpSpPr>
      <p:sp>
        <p:nvSpPr>
          <p:cNvPr id="506" name="Google Shape;506;p23"/>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05 · ERRORES, LÍMITES Y PRÓXIMOS PASOS</a:t>
            </a:r>
            <a:endParaRPr b="0" i="0" sz="1200" u="none" cap="none" strike="noStrike">
              <a:solidFill>
                <a:schemeClr val="dk1"/>
              </a:solidFill>
              <a:latin typeface="Calibri"/>
              <a:ea typeface="Calibri"/>
              <a:cs typeface="Calibri"/>
              <a:sym typeface="Calibri"/>
            </a:endParaRPr>
          </a:p>
        </p:txBody>
      </p:sp>
      <p:sp>
        <p:nvSpPr>
          <p:cNvPr id="507" name="Google Shape;507;p23"/>
          <p:cNvSpPr/>
          <p:nvPr/>
        </p:nvSpPr>
        <p:spPr>
          <a:xfrm>
            <a:off x="548640" y="6858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3000"/>
              <a:buFont typeface="Cambria"/>
              <a:buNone/>
            </a:pPr>
            <a:r>
              <a:rPr b="1" i="0" lang="en-US" sz="3000" u="none" cap="none" strike="noStrike">
                <a:solidFill>
                  <a:srgbClr val="16202B"/>
                </a:solidFill>
                <a:latin typeface="Cambria"/>
                <a:ea typeface="Cambria"/>
                <a:cs typeface="Cambria"/>
                <a:sym typeface="Cambria"/>
              </a:rPr>
              <a:t>Próximos pasos</a:t>
            </a:r>
            <a:endParaRPr b="0" i="0" sz="3000" u="none" cap="none" strike="noStrike">
              <a:solidFill>
                <a:schemeClr val="dk1"/>
              </a:solidFill>
              <a:latin typeface="Calibri"/>
              <a:ea typeface="Calibri"/>
              <a:cs typeface="Calibri"/>
              <a:sym typeface="Calibri"/>
            </a:endParaRPr>
          </a:p>
        </p:txBody>
      </p:sp>
      <p:sp>
        <p:nvSpPr>
          <p:cNvPr id="508" name="Google Shape;508;p23"/>
          <p:cNvSpPr/>
          <p:nvPr/>
        </p:nvSpPr>
        <p:spPr>
          <a:xfrm>
            <a:off x="548640" y="1828800"/>
            <a:ext cx="5394960" cy="1965960"/>
          </a:xfrm>
          <a:prstGeom prst="roundRect">
            <a:avLst>
              <a:gd fmla="val 372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3"/>
          <p:cNvSpPr/>
          <p:nvPr/>
        </p:nvSpPr>
        <p:spPr>
          <a:xfrm>
            <a:off x="822960" y="2103120"/>
            <a:ext cx="502920" cy="50292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3"/>
          <p:cNvSpPr/>
          <p:nvPr/>
        </p:nvSpPr>
        <p:spPr>
          <a:xfrm>
            <a:off x="777240" y="2103120"/>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511" name="Google Shape;511;p23"/>
          <p:cNvSpPr/>
          <p:nvPr/>
        </p:nvSpPr>
        <p:spPr>
          <a:xfrm>
            <a:off x="1508760" y="2057400"/>
            <a:ext cx="4206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50"/>
              <a:buFont typeface="Calibri"/>
              <a:buNone/>
            </a:pPr>
            <a:r>
              <a:rPr b="1" i="0" lang="en-US" sz="1450" u="none" cap="none" strike="noStrike">
                <a:solidFill>
                  <a:srgbClr val="16202B"/>
                </a:solidFill>
                <a:latin typeface="Calibri"/>
                <a:ea typeface="Calibri"/>
                <a:cs typeface="Calibri"/>
                <a:sym typeface="Calibri"/>
              </a:rPr>
              <a:t>Modelos basados en Transformers</a:t>
            </a:r>
            <a:endParaRPr b="0" i="0" sz="1450" u="none" cap="none" strike="noStrike">
              <a:solidFill>
                <a:schemeClr val="dk1"/>
              </a:solidFill>
              <a:latin typeface="Calibri"/>
              <a:ea typeface="Calibri"/>
              <a:cs typeface="Calibri"/>
              <a:sym typeface="Calibri"/>
            </a:endParaRPr>
          </a:p>
        </p:txBody>
      </p:sp>
      <p:sp>
        <p:nvSpPr>
          <p:cNvPr id="512" name="Google Shape;512;p23"/>
          <p:cNvSpPr/>
          <p:nvPr/>
        </p:nvSpPr>
        <p:spPr>
          <a:xfrm>
            <a:off x="822960" y="2788920"/>
            <a:ext cx="48920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0" lang="en-US" sz="1200" u="none" cap="none" strike="noStrike">
                <a:solidFill>
                  <a:srgbClr val="5B7083"/>
                </a:solidFill>
                <a:latin typeface="Calibri"/>
                <a:ea typeface="Calibri"/>
                <a:cs typeface="Calibri"/>
                <a:sym typeface="Calibri"/>
              </a:rPr>
              <a:t>BERT / RoBERTa para capturar contexto, negaciones y sarcasmo mejor que un promedio de embeddings.</a:t>
            </a:r>
            <a:endParaRPr b="0" i="0" sz="1200" u="none" cap="none" strike="noStrike">
              <a:solidFill>
                <a:schemeClr val="dk1"/>
              </a:solidFill>
              <a:latin typeface="Calibri"/>
              <a:ea typeface="Calibri"/>
              <a:cs typeface="Calibri"/>
              <a:sym typeface="Calibri"/>
            </a:endParaRPr>
          </a:p>
        </p:txBody>
      </p:sp>
      <p:sp>
        <p:nvSpPr>
          <p:cNvPr id="513" name="Google Shape;513;p23"/>
          <p:cNvSpPr/>
          <p:nvPr/>
        </p:nvSpPr>
        <p:spPr>
          <a:xfrm>
            <a:off x="6172200" y="1828800"/>
            <a:ext cx="5394960" cy="1965960"/>
          </a:xfrm>
          <a:prstGeom prst="roundRect">
            <a:avLst>
              <a:gd fmla="val 372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3"/>
          <p:cNvSpPr/>
          <p:nvPr/>
        </p:nvSpPr>
        <p:spPr>
          <a:xfrm>
            <a:off x="6446520" y="2103120"/>
            <a:ext cx="502920" cy="50292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3"/>
          <p:cNvSpPr/>
          <p:nvPr/>
        </p:nvSpPr>
        <p:spPr>
          <a:xfrm>
            <a:off x="6400800" y="2103120"/>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516" name="Google Shape;516;p23"/>
          <p:cNvSpPr/>
          <p:nvPr/>
        </p:nvSpPr>
        <p:spPr>
          <a:xfrm>
            <a:off x="7132320" y="2057400"/>
            <a:ext cx="4206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50"/>
              <a:buFont typeface="Calibri"/>
              <a:buNone/>
            </a:pPr>
            <a:r>
              <a:rPr b="1" i="0" lang="en-US" sz="1450" u="none" cap="none" strike="noStrike">
                <a:solidFill>
                  <a:srgbClr val="16202B"/>
                </a:solidFill>
                <a:latin typeface="Calibri"/>
                <a:ea typeface="Calibri"/>
                <a:cs typeface="Calibri"/>
                <a:sym typeface="Calibri"/>
              </a:rPr>
              <a:t>Embeddings alternativos</a:t>
            </a:r>
            <a:endParaRPr b="0" i="0" sz="1450" u="none" cap="none" strike="noStrike">
              <a:solidFill>
                <a:schemeClr val="dk1"/>
              </a:solidFill>
              <a:latin typeface="Calibri"/>
              <a:ea typeface="Calibri"/>
              <a:cs typeface="Calibri"/>
              <a:sym typeface="Calibri"/>
            </a:endParaRPr>
          </a:p>
        </p:txBody>
      </p:sp>
      <p:sp>
        <p:nvSpPr>
          <p:cNvPr id="517" name="Google Shape;517;p23"/>
          <p:cNvSpPr/>
          <p:nvPr/>
        </p:nvSpPr>
        <p:spPr>
          <a:xfrm>
            <a:off x="6446520" y="2788920"/>
            <a:ext cx="48920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0" lang="en-US" sz="1200" u="none" cap="none" strike="noStrike">
                <a:solidFill>
                  <a:srgbClr val="5B7083"/>
                </a:solidFill>
                <a:latin typeface="Calibri"/>
                <a:ea typeface="Calibri"/>
                <a:cs typeface="Calibri"/>
                <a:sym typeface="Calibri"/>
              </a:rPr>
              <a:t>GloVe, FastText o embeddings contextuales específicos del dominio de Twitter.</a:t>
            </a:r>
            <a:endParaRPr b="0" i="0" sz="1200" u="none" cap="none" strike="noStrike">
              <a:solidFill>
                <a:schemeClr val="dk1"/>
              </a:solidFill>
              <a:latin typeface="Calibri"/>
              <a:ea typeface="Calibri"/>
              <a:cs typeface="Calibri"/>
              <a:sym typeface="Calibri"/>
            </a:endParaRPr>
          </a:p>
        </p:txBody>
      </p:sp>
      <p:sp>
        <p:nvSpPr>
          <p:cNvPr id="518" name="Google Shape;518;p23"/>
          <p:cNvSpPr/>
          <p:nvPr/>
        </p:nvSpPr>
        <p:spPr>
          <a:xfrm>
            <a:off x="548640" y="3977640"/>
            <a:ext cx="5394960" cy="1965960"/>
          </a:xfrm>
          <a:prstGeom prst="roundRect">
            <a:avLst>
              <a:gd fmla="val 372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3"/>
          <p:cNvSpPr/>
          <p:nvPr/>
        </p:nvSpPr>
        <p:spPr>
          <a:xfrm>
            <a:off x="822960" y="4251960"/>
            <a:ext cx="502920" cy="502920"/>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3"/>
          <p:cNvSpPr/>
          <p:nvPr/>
        </p:nvSpPr>
        <p:spPr>
          <a:xfrm>
            <a:off x="777240" y="4251960"/>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521" name="Google Shape;521;p23"/>
          <p:cNvSpPr/>
          <p:nvPr/>
        </p:nvSpPr>
        <p:spPr>
          <a:xfrm>
            <a:off x="1508760" y="4206240"/>
            <a:ext cx="4206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50"/>
              <a:buFont typeface="Calibri"/>
              <a:buNone/>
            </a:pPr>
            <a:r>
              <a:rPr b="1" i="0" lang="en-US" sz="1450" u="none" cap="none" strike="noStrike">
                <a:solidFill>
                  <a:srgbClr val="16202B"/>
                </a:solidFill>
                <a:latin typeface="Calibri"/>
                <a:ea typeface="Calibri"/>
                <a:cs typeface="Calibri"/>
                <a:sym typeface="Calibri"/>
              </a:rPr>
              <a:t>Clasificación multiclase explícita</a:t>
            </a:r>
            <a:endParaRPr b="0" i="0" sz="1450" u="none" cap="none" strike="noStrike">
              <a:solidFill>
                <a:schemeClr val="dk1"/>
              </a:solidFill>
              <a:latin typeface="Calibri"/>
              <a:ea typeface="Calibri"/>
              <a:cs typeface="Calibri"/>
              <a:sym typeface="Calibri"/>
            </a:endParaRPr>
          </a:p>
        </p:txBody>
      </p:sp>
      <p:sp>
        <p:nvSpPr>
          <p:cNvPr id="522" name="Google Shape;522;p23"/>
          <p:cNvSpPr/>
          <p:nvPr/>
        </p:nvSpPr>
        <p:spPr>
          <a:xfrm>
            <a:off x="822960" y="4937760"/>
            <a:ext cx="48920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0" lang="en-US" sz="1200" u="none" cap="none" strike="noStrike">
                <a:solidFill>
                  <a:srgbClr val="5B7083"/>
                </a:solidFill>
                <a:latin typeface="Calibri"/>
                <a:ea typeface="Calibri"/>
                <a:cs typeface="Calibri"/>
                <a:sym typeface="Calibri"/>
              </a:rPr>
              <a:t>Incorporar ejemplos neutrales al entrenamiento (etiquetado manual adicional o pseudo-etiquetas por reglas).</a:t>
            </a:r>
            <a:endParaRPr b="0" i="0" sz="1200" u="none" cap="none" strike="noStrike">
              <a:solidFill>
                <a:schemeClr val="dk1"/>
              </a:solidFill>
              <a:latin typeface="Calibri"/>
              <a:ea typeface="Calibri"/>
              <a:cs typeface="Calibri"/>
              <a:sym typeface="Calibri"/>
            </a:endParaRPr>
          </a:p>
        </p:txBody>
      </p:sp>
      <p:sp>
        <p:nvSpPr>
          <p:cNvPr id="523" name="Google Shape;523;p23"/>
          <p:cNvSpPr/>
          <p:nvPr/>
        </p:nvSpPr>
        <p:spPr>
          <a:xfrm>
            <a:off x="6172200" y="3977640"/>
            <a:ext cx="5394960" cy="1965960"/>
          </a:xfrm>
          <a:prstGeom prst="roundRect">
            <a:avLst>
              <a:gd fmla="val 3721"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3"/>
          <p:cNvSpPr/>
          <p:nvPr/>
        </p:nvSpPr>
        <p:spPr>
          <a:xfrm>
            <a:off x="6446520" y="4251960"/>
            <a:ext cx="502920" cy="502920"/>
          </a:xfrm>
          <a:prstGeom prst="ellipse">
            <a:avLst/>
          </a:prstGeom>
          <a:solidFill>
            <a:srgbClr val="E02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3"/>
          <p:cNvSpPr/>
          <p:nvPr/>
        </p:nvSpPr>
        <p:spPr>
          <a:xfrm>
            <a:off x="6400800" y="4251960"/>
            <a:ext cx="594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526" name="Google Shape;526;p23"/>
          <p:cNvSpPr/>
          <p:nvPr/>
        </p:nvSpPr>
        <p:spPr>
          <a:xfrm>
            <a:off x="7132320" y="4206240"/>
            <a:ext cx="4206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450"/>
              <a:buFont typeface="Calibri"/>
              <a:buNone/>
            </a:pPr>
            <a:r>
              <a:rPr b="1" i="0" lang="en-US" sz="1450" u="none" cap="none" strike="noStrike">
                <a:solidFill>
                  <a:srgbClr val="16202B"/>
                </a:solidFill>
                <a:latin typeface="Calibri"/>
                <a:ea typeface="Calibri"/>
                <a:cs typeface="Calibri"/>
                <a:sym typeface="Calibri"/>
              </a:rPr>
              <a:t>Tuning de hiperparámetros</a:t>
            </a:r>
            <a:endParaRPr b="0" i="0" sz="1450" u="none" cap="none" strike="noStrike">
              <a:solidFill>
                <a:schemeClr val="dk1"/>
              </a:solidFill>
              <a:latin typeface="Calibri"/>
              <a:ea typeface="Calibri"/>
              <a:cs typeface="Calibri"/>
              <a:sym typeface="Calibri"/>
            </a:endParaRPr>
          </a:p>
        </p:txBody>
      </p:sp>
      <p:sp>
        <p:nvSpPr>
          <p:cNvPr id="527" name="Google Shape;527;p23"/>
          <p:cNvSpPr/>
          <p:nvPr/>
        </p:nvSpPr>
        <p:spPr>
          <a:xfrm>
            <a:off x="6446520" y="4937760"/>
            <a:ext cx="48920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083"/>
              </a:buClr>
              <a:buSzPts val="1200"/>
              <a:buFont typeface="Calibri"/>
              <a:buNone/>
            </a:pPr>
            <a:r>
              <a:rPr b="0" i="0" lang="en-US" sz="1200" u="none" cap="none" strike="noStrike">
                <a:solidFill>
                  <a:srgbClr val="5B7083"/>
                </a:solidFill>
                <a:latin typeface="Calibri"/>
                <a:ea typeface="Calibri"/>
                <a:cs typeface="Calibri"/>
                <a:sym typeface="Calibri"/>
              </a:rPr>
              <a:t>Grid/Random Search sobre max_features, ngram_range, vector_size, window y C de la regresión logística.</a:t>
            </a:r>
            <a:endParaRPr b="0" i="0" sz="1200" u="none" cap="none" strike="noStrike">
              <a:solidFill>
                <a:schemeClr val="dk1"/>
              </a:solidFill>
              <a:latin typeface="Calibri"/>
              <a:ea typeface="Calibri"/>
              <a:cs typeface="Calibri"/>
              <a:sym typeface="Calibri"/>
            </a:endParaRPr>
          </a:p>
        </p:txBody>
      </p:sp>
      <p:sp>
        <p:nvSpPr>
          <p:cNvPr id="528" name="Google Shape;528;p23"/>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19</a:t>
            </a:r>
            <a:endParaRPr b="0" i="0" sz="1000" u="none" cap="none" strike="noStrike">
              <a:solidFill>
                <a:schemeClr val="dk1"/>
              </a:solidFill>
              <a:latin typeface="Calibri"/>
              <a:ea typeface="Calibri"/>
              <a:cs typeface="Calibri"/>
              <a:sym typeface="Calibri"/>
            </a:endParaRPr>
          </a:p>
        </p:txBody>
      </p:sp>
      <p:sp>
        <p:nvSpPr>
          <p:cNvPr id="529" name="Google Shape;529;p23"/>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A"/>
        </a:solidFill>
      </p:bgPr>
    </p:bg>
    <p:spTree>
      <p:nvGrpSpPr>
        <p:cNvPr id="534" name="Shape 534"/>
        <p:cNvGrpSpPr/>
        <p:nvPr/>
      </p:nvGrpSpPr>
      <p:grpSpPr>
        <a:xfrm>
          <a:off x="0" y="0"/>
          <a:ext cx="0" cy="0"/>
          <a:chOff x="0" y="0"/>
          <a:chExt cx="0" cy="0"/>
        </a:xfrm>
      </p:grpSpPr>
      <p:sp>
        <p:nvSpPr>
          <p:cNvPr id="535" name="Google Shape;535;p24"/>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CONCLUSIONES</a:t>
            </a:r>
            <a:endParaRPr b="0" i="0" sz="1200" u="none" cap="none" strike="noStrike">
              <a:solidFill>
                <a:schemeClr val="dk1"/>
              </a:solidFill>
              <a:latin typeface="Calibri"/>
              <a:ea typeface="Calibri"/>
              <a:cs typeface="Calibri"/>
              <a:sym typeface="Calibri"/>
            </a:endParaRPr>
          </a:p>
        </p:txBody>
      </p:sp>
      <p:sp>
        <p:nvSpPr>
          <p:cNvPr id="536" name="Google Shape;536;p24"/>
          <p:cNvSpPr/>
          <p:nvPr/>
        </p:nvSpPr>
        <p:spPr>
          <a:xfrm>
            <a:off x="548640" y="731520"/>
            <a:ext cx="9144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Conclusiones clave</a:t>
            </a:r>
            <a:endParaRPr b="0" i="0" sz="3000" u="none" cap="none" strike="noStrike">
              <a:solidFill>
                <a:schemeClr val="dk1"/>
              </a:solidFill>
              <a:latin typeface="Calibri"/>
              <a:ea typeface="Calibri"/>
              <a:cs typeface="Calibri"/>
              <a:sym typeface="Calibri"/>
            </a:endParaRPr>
          </a:p>
        </p:txBody>
      </p:sp>
      <p:sp>
        <p:nvSpPr>
          <p:cNvPr id="537" name="Google Shape;537;p24"/>
          <p:cNvSpPr/>
          <p:nvPr/>
        </p:nvSpPr>
        <p:spPr>
          <a:xfrm>
            <a:off x="548640" y="1691640"/>
            <a:ext cx="411480" cy="4114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4"/>
          <p:cNvSpPr/>
          <p:nvPr/>
        </p:nvSpPr>
        <p:spPr>
          <a:xfrm>
            <a:off x="502920" y="169164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539" name="Google Shape;539;p24"/>
          <p:cNvSpPr/>
          <p:nvPr/>
        </p:nvSpPr>
        <p:spPr>
          <a:xfrm>
            <a:off x="1188720" y="1618488"/>
            <a:ext cx="1024128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7EEF5"/>
              </a:buClr>
              <a:buSzPts val="1400"/>
              <a:buFont typeface="Calibri"/>
              <a:buNone/>
            </a:pPr>
            <a:r>
              <a:rPr b="0" i="0" lang="en-US" sz="1400" u="none" cap="none" strike="noStrike">
                <a:solidFill>
                  <a:srgbClr val="E7EEF5"/>
                </a:solidFill>
                <a:latin typeface="Calibri"/>
                <a:ea typeface="Calibri"/>
                <a:cs typeface="Calibri"/>
                <a:sym typeface="Calibri"/>
              </a:rPr>
              <a:t>El "mejor modelo" por accuracy fue TextBlob (pre-entrenado) — no porque haga mejor NLP, sino porque el train de 1.6M nunca tuvo ejemplos neutrales y los tres modelos propios heredan ese punto ciego.</a:t>
            </a:r>
            <a:endParaRPr b="0" i="0" sz="1400" u="none" cap="none" strike="noStrike">
              <a:solidFill>
                <a:schemeClr val="dk1"/>
              </a:solidFill>
              <a:latin typeface="Calibri"/>
              <a:ea typeface="Calibri"/>
              <a:cs typeface="Calibri"/>
              <a:sym typeface="Calibri"/>
            </a:endParaRPr>
          </a:p>
        </p:txBody>
      </p:sp>
      <p:sp>
        <p:nvSpPr>
          <p:cNvPr id="540" name="Google Shape;540;p24"/>
          <p:cNvSpPr/>
          <p:nvPr/>
        </p:nvSpPr>
        <p:spPr>
          <a:xfrm>
            <a:off x="548640" y="2834640"/>
            <a:ext cx="411480" cy="4114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4"/>
          <p:cNvSpPr/>
          <p:nvPr/>
        </p:nvSpPr>
        <p:spPr>
          <a:xfrm>
            <a:off x="502920" y="283464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542" name="Google Shape;542;p24"/>
          <p:cNvSpPr/>
          <p:nvPr/>
        </p:nvSpPr>
        <p:spPr>
          <a:xfrm>
            <a:off x="1188720" y="2761488"/>
            <a:ext cx="1024128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7EEF5"/>
              </a:buClr>
              <a:buSzPts val="1400"/>
              <a:buFont typeface="Calibri"/>
              <a:buNone/>
            </a:pPr>
            <a:r>
              <a:rPr b="0" i="0" lang="en-US" sz="1400" u="none" cap="none" strike="noStrike">
                <a:solidFill>
                  <a:srgbClr val="E7EEF5"/>
                </a:solidFill>
                <a:latin typeface="Calibri"/>
                <a:ea typeface="Calibri"/>
                <a:cs typeface="Calibri"/>
                <a:sym typeface="Calibri"/>
              </a:rPr>
              <a:t>El espacio de embeddings de Word2Vec sí capturó estructura semántica coherente: similitud coseno y analogías separan correctamente sinónimos, antónimos y emociones opuestas.</a:t>
            </a:r>
            <a:endParaRPr b="0" i="0" sz="1400" u="none" cap="none" strike="noStrike">
              <a:solidFill>
                <a:schemeClr val="dk1"/>
              </a:solidFill>
              <a:latin typeface="Calibri"/>
              <a:ea typeface="Calibri"/>
              <a:cs typeface="Calibri"/>
              <a:sym typeface="Calibri"/>
            </a:endParaRPr>
          </a:p>
        </p:txBody>
      </p:sp>
      <p:sp>
        <p:nvSpPr>
          <p:cNvPr id="543" name="Google Shape;543;p24"/>
          <p:cNvSpPr/>
          <p:nvPr/>
        </p:nvSpPr>
        <p:spPr>
          <a:xfrm>
            <a:off x="548640" y="3977640"/>
            <a:ext cx="411480" cy="4114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4"/>
          <p:cNvSpPr/>
          <p:nvPr/>
        </p:nvSpPr>
        <p:spPr>
          <a:xfrm>
            <a:off x="502920" y="3977640"/>
            <a:ext cx="502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45" name="Google Shape;545;p24"/>
          <p:cNvSpPr/>
          <p:nvPr/>
        </p:nvSpPr>
        <p:spPr>
          <a:xfrm>
            <a:off x="1188720" y="3904488"/>
            <a:ext cx="1024128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7EEF5"/>
              </a:buClr>
              <a:buSzPts val="1400"/>
              <a:buFont typeface="Calibri"/>
              <a:buNone/>
            </a:pPr>
            <a:r>
              <a:rPr b="0" i="0" lang="en-US" sz="1400" u="none" cap="none" strike="noStrike">
                <a:solidFill>
                  <a:srgbClr val="E7EEF5"/>
                </a:solidFill>
                <a:latin typeface="Calibri"/>
                <a:ea typeface="Calibri"/>
                <a:cs typeface="Calibri"/>
                <a:sym typeface="Calibri"/>
              </a:rPr>
              <a:t>La principal palanca de mejora no es el algoritmo sino los datos: incorporar la clase neutral al entrenamiento probablemente tenga más impacto que cambiar de modelo.</a:t>
            </a:r>
            <a:endParaRPr b="0" i="0" sz="1400" u="none" cap="none" strike="noStrike">
              <a:solidFill>
                <a:schemeClr val="dk1"/>
              </a:solidFill>
              <a:latin typeface="Calibri"/>
              <a:ea typeface="Calibri"/>
              <a:cs typeface="Calibri"/>
              <a:sym typeface="Calibri"/>
            </a:endParaRPr>
          </a:p>
        </p:txBody>
      </p:sp>
      <p:sp>
        <p:nvSpPr>
          <p:cNvPr id="546" name="Google Shape;546;p24"/>
          <p:cNvSpPr/>
          <p:nvPr/>
        </p:nvSpPr>
        <p:spPr>
          <a:xfrm>
            <a:off x="1188720" y="5047488"/>
            <a:ext cx="1024128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7EEF5"/>
              </a:buClr>
              <a:buSzPts val="1400"/>
              <a:buFont typeface="Calibri"/>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1F3A"/>
        </a:solidFill>
      </p:bgPr>
    </p:bg>
    <p:spTree>
      <p:nvGrpSpPr>
        <p:cNvPr id="551" name="Shape 551"/>
        <p:cNvGrpSpPr/>
        <p:nvPr/>
      </p:nvGrpSpPr>
      <p:grpSpPr>
        <a:xfrm>
          <a:off x="0" y="0"/>
          <a:ext cx="0" cy="0"/>
          <a:chOff x="0" y="0"/>
          <a:chExt cx="0" cy="0"/>
        </a:xfrm>
      </p:grpSpPr>
      <p:sp>
        <p:nvSpPr>
          <p:cNvPr id="552" name="Google Shape;552;p25"/>
          <p:cNvSpPr/>
          <p:nvPr/>
        </p:nvSpPr>
        <p:spPr>
          <a:xfrm>
            <a:off x="-1371600" y="3840480"/>
            <a:ext cx="4114800" cy="4114800"/>
          </a:xfrm>
          <a:prstGeom prst="ellipse">
            <a:avLst/>
          </a:prstGeom>
          <a:solidFill>
            <a:srgbClr val="13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5"/>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06 · MATERIAL DE APOYO</a:t>
            </a:r>
            <a:endParaRPr b="0" i="0" sz="1200" u="none" cap="none" strike="noStrike">
              <a:solidFill>
                <a:schemeClr val="dk1"/>
              </a:solidFill>
              <a:latin typeface="Calibri"/>
              <a:ea typeface="Calibri"/>
              <a:cs typeface="Calibri"/>
              <a:sym typeface="Calibri"/>
            </a:endParaRPr>
          </a:p>
        </p:txBody>
      </p:sp>
      <p:sp>
        <p:nvSpPr>
          <p:cNvPr id="554" name="Google Shape;554;p25"/>
          <p:cNvSpPr/>
          <p:nvPr/>
        </p:nvSpPr>
        <p:spPr>
          <a:xfrm>
            <a:off x="548640" y="2743200"/>
            <a:ext cx="105156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mbria"/>
              <a:buNone/>
            </a:pPr>
            <a:r>
              <a:rPr b="1" i="0" lang="en-US" sz="3600" u="none" cap="none" strike="noStrike">
                <a:solidFill>
                  <a:srgbClr val="FFFFFF"/>
                </a:solidFill>
                <a:latin typeface="Cambria"/>
                <a:ea typeface="Cambria"/>
                <a:cs typeface="Cambria"/>
                <a:sym typeface="Cambria"/>
              </a:rPr>
              <a:t>Preguntas y respuestas anticipadas</a:t>
            </a:r>
            <a:endParaRPr b="0" i="0" sz="3600" u="none" cap="none" strike="noStrike">
              <a:solidFill>
                <a:schemeClr val="dk1"/>
              </a:solidFill>
              <a:latin typeface="Calibri"/>
              <a:ea typeface="Calibri"/>
              <a:cs typeface="Calibri"/>
              <a:sym typeface="Calibri"/>
            </a:endParaRPr>
          </a:p>
        </p:txBody>
      </p:sp>
      <p:sp>
        <p:nvSpPr>
          <p:cNvPr id="555" name="Google Shape;555;p25"/>
          <p:cNvSpPr/>
          <p:nvPr/>
        </p:nvSpPr>
        <p:spPr>
          <a:xfrm>
            <a:off x="548640" y="3749040"/>
            <a:ext cx="9144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500"/>
              <a:buFont typeface="Calibri"/>
              <a:buNone/>
            </a:pPr>
            <a:r>
              <a:rPr b="0" i="1" lang="en-US" sz="1500" u="none" cap="none" strike="noStrike">
                <a:solidFill>
                  <a:srgbClr val="9FB3C8"/>
                </a:solidFill>
                <a:latin typeface="Calibri"/>
                <a:ea typeface="Calibri"/>
                <a:cs typeface="Calibri"/>
                <a:sym typeface="Calibri"/>
              </a:rPr>
              <a:t>8 preguntas que la cátedra podría hacer, con la respuesta ya preparada.</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7FA"/>
        </a:solidFill>
      </p:bgPr>
    </p:bg>
    <p:spTree>
      <p:nvGrpSpPr>
        <p:cNvPr id="560" name="Shape 560"/>
        <p:cNvGrpSpPr/>
        <p:nvPr/>
      </p:nvGrpSpPr>
      <p:grpSpPr>
        <a:xfrm>
          <a:off x="0" y="0"/>
          <a:ext cx="0" cy="0"/>
          <a:chOff x="0" y="0"/>
          <a:chExt cx="0" cy="0"/>
        </a:xfrm>
      </p:grpSpPr>
      <p:sp>
        <p:nvSpPr>
          <p:cNvPr id="561" name="Google Shape;561;p26"/>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PREGUNTA 1 DE 8</a:t>
            </a:r>
            <a:endParaRPr b="0" i="0" sz="1200" u="none" cap="none" strike="noStrike">
              <a:solidFill>
                <a:schemeClr val="dk1"/>
              </a:solidFill>
              <a:latin typeface="Calibri"/>
              <a:ea typeface="Calibri"/>
              <a:cs typeface="Calibri"/>
              <a:sym typeface="Calibri"/>
            </a:endParaRPr>
          </a:p>
        </p:txBody>
      </p:sp>
      <p:sp>
        <p:nvSpPr>
          <p:cNvPr id="562" name="Google Shape;562;p26"/>
          <p:cNvSpPr/>
          <p:nvPr/>
        </p:nvSpPr>
        <p:spPr>
          <a:xfrm>
            <a:off x="548640" y="1417320"/>
            <a:ext cx="640080" cy="6400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6"/>
          <p:cNvSpPr/>
          <p:nvPr/>
        </p:nvSpPr>
        <p:spPr>
          <a:xfrm>
            <a:off x="502920" y="1417320"/>
            <a:ext cx="7315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a:t>
            </a:r>
            <a:endParaRPr b="0" i="0" sz="2000" u="none" cap="none" strike="noStrike">
              <a:solidFill>
                <a:schemeClr val="dk1"/>
              </a:solidFill>
              <a:latin typeface="Calibri"/>
              <a:ea typeface="Calibri"/>
              <a:cs typeface="Calibri"/>
              <a:sym typeface="Calibri"/>
            </a:endParaRPr>
          </a:p>
        </p:txBody>
      </p:sp>
      <p:sp>
        <p:nvSpPr>
          <p:cNvPr id="564" name="Google Shape;564;p26"/>
          <p:cNvSpPr/>
          <p:nvPr/>
        </p:nvSpPr>
        <p:spPr>
          <a:xfrm>
            <a:off x="1371600" y="1371600"/>
            <a:ext cx="10241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900"/>
              <a:buFont typeface="Cambria"/>
              <a:buNone/>
            </a:pPr>
            <a:r>
              <a:rPr b="1" i="0" lang="en-US" sz="1900" u="none" cap="none" strike="noStrike">
                <a:solidFill>
                  <a:srgbClr val="16202B"/>
                </a:solidFill>
                <a:latin typeface="Cambria"/>
                <a:ea typeface="Cambria"/>
                <a:cs typeface="Cambria"/>
                <a:sym typeface="Cambria"/>
              </a:rPr>
              <a:t>Estos accuracy (57–62%) parecen bajos para Sentiment140. ¿Por qué?</a:t>
            </a:r>
            <a:endParaRPr b="0" i="0" sz="1900" u="none" cap="none" strike="noStrike">
              <a:solidFill>
                <a:schemeClr val="dk1"/>
              </a:solidFill>
              <a:latin typeface="Calibri"/>
              <a:ea typeface="Calibri"/>
              <a:cs typeface="Calibri"/>
              <a:sym typeface="Calibri"/>
            </a:endParaRPr>
          </a:p>
        </p:txBody>
      </p:sp>
      <p:sp>
        <p:nvSpPr>
          <p:cNvPr id="565" name="Google Shape;565;p26"/>
          <p:cNvSpPr/>
          <p:nvPr/>
        </p:nvSpPr>
        <p:spPr>
          <a:xfrm>
            <a:off x="548640" y="2423160"/>
            <a:ext cx="11064240" cy="3794760"/>
          </a:xfrm>
          <a:prstGeom prst="roundRect">
            <a:avLst>
              <a:gd fmla="val 192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6"/>
          <p:cNvSpPr/>
          <p:nvPr/>
        </p:nvSpPr>
        <p:spPr>
          <a:xfrm>
            <a:off x="868680" y="2697480"/>
            <a:ext cx="457200" cy="45720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6"/>
          <p:cNvSpPr/>
          <p:nvPr/>
        </p:nvSpPr>
        <p:spPr>
          <a:xfrm>
            <a:off x="822960" y="269748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a:t>
            </a:r>
            <a:endParaRPr b="0" i="0" sz="1500" u="none" cap="none" strike="noStrike">
              <a:solidFill>
                <a:schemeClr val="dk1"/>
              </a:solidFill>
              <a:latin typeface="Calibri"/>
              <a:ea typeface="Calibri"/>
              <a:cs typeface="Calibri"/>
              <a:sym typeface="Calibri"/>
            </a:endParaRPr>
          </a:p>
        </p:txBody>
      </p:sp>
      <p:sp>
        <p:nvSpPr>
          <p:cNvPr id="568" name="Google Shape;568;p26"/>
          <p:cNvSpPr/>
          <p:nvPr/>
        </p:nvSpPr>
        <p:spPr>
          <a:xfrm>
            <a:off x="1508760" y="2697480"/>
            <a:ext cx="9784080" cy="3383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Es una observación válida: están por debajo del ~78-80% que suele reportarse para TF-IDF + regresión logística sobre este dataset.</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Dos motivos probables: (1) acá se evalúa incluyendo la clase neutral, que la mayoría de los benchmarks publicados excluye (evalúan sólo el subconjunto binario positivo/negativo); (2) si el entrenamiento final corrió sobre una muestra reducida en vez de las 1.6M filas completas, el modelo tiene mucha menos señal para aprender.</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Como referencia: si una porción relevante del test manual es neutral, el techo de accuracy para cualquier modelo que nunca prediga esa clase queda bastante por debajo del 100% — y nuestros modelos están, de hecho, por debajo incluso de ese techo teórico, lo que sugiere margen de mejora entrenando con el corpus completo.</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Acción concreta: confirmar que la corrida reportada corresponde a USE_SAMPLE=False (dataset completo) antes de la entrega final.</a:t>
            </a:r>
            <a:endParaRPr b="0" i="0" sz="1350" u="none" cap="none" strike="noStrike">
              <a:solidFill>
                <a:schemeClr val="dk1"/>
              </a:solidFill>
              <a:latin typeface="Calibri"/>
              <a:ea typeface="Calibri"/>
              <a:cs typeface="Calibri"/>
              <a:sym typeface="Calibri"/>
            </a:endParaRPr>
          </a:p>
        </p:txBody>
      </p:sp>
      <p:sp>
        <p:nvSpPr>
          <p:cNvPr id="569" name="Google Shape;569;p26"/>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20</a:t>
            </a:r>
            <a:endParaRPr b="0" i="0" sz="1000" u="none" cap="none" strike="noStrike">
              <a:solidFill>
                <a:schemeClr val="dk1"/>
              </a:solidFill>
              <a:latin typeface="Calibri"/>
              <a:ea typeface="Calibri"/>
              <a:cs typeface="Calibri"/>
              <a:sym typeface="Calibri"/>
            </a:endParaRPr>
          </a:p>
        </p:txBody>
      </p:sp>
      <p:sp>
        <p:nvSpPr>
          <p:cNvPr id="570" name="Google Shape;570;p26"/>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7FA"/>
        </a:solidFill>
      </p:bgPr>
    </p:bg>
    <p:spTree>
      <p:nvGrpSpPr>
        <p:cNvPr id="575" name="Shape 575"/>
        <p:cNvGrpSpPr/>
        <p:nvPr/>
      </p:nvGrpSpPr>
      <p:grpSpPr>
        <a:xfrm>
          <a:off x="0" y="0"/>
          <a:ext cx="0" cy="0"/>
          <a:chOff x="0" y="0"/>
          <a:chExt cx="0" cy="0"/>
        </a:xfrm>
      </p:grpSpPr>
      <p:sp>
        <p:nvSpPr>
          <p:cNvPr id="576" name="Google Shape;576;p27"/>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PREGUNTA 2 DE 8</a:t>
            </a:r>
            <a:endParaRPr b="0" i="0" sz="1200" u="none" cap="none" strike="noStrike">
              <a:solidFill>
                <a:schemeClr val="dk1"/>
              </a:solidFill>
              <a:latin typeface="Calibri"/>
              <a:ea typeface="Calibri"/>
              <a:cs typeface="Calibri"/>
              <a:sym typeface="Calibri"/>
            </a:endParaRPr>
          </a:p>
        </p:txBody>
      </p:sp>
      <p:sp>
        <p:nvSpPr>
          <p:cNvPr id="577" name="Google Shape;577;p27"/>
          <p:cNvSpPr/>
          <p:nvPr/>
        </p:nvSpPr>
        <p:spPr>
          <a:xfrm>
            <a:off x="548640" y="1417320"/>
            <a:ext cx="640080" cy="6400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7"/>
          <p:cNvSpPr/>
          <p:nvPr/>
        </p:nvSpPr>
        <p:spPr>
          <a:xfrm>
            <a:off x="502920" y="1417320"/>
            <a:ext cx="7315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a:t>
            </a:r>
            <a:endParaRPr b="0" i="0" sz="2000" u="none" cap="none" strike="noStrike">
              <a:solidFill>
                <a:schemeClr val="dk1"/>
              </a:solidFill>
              <a:latin typeface="Calibri"/>
              <a:ea typeface="Calibri"/>
              <a:cs typeface="Calibri"/>
              <a:sym typeface="Calibri"/>
            </a:endParaRPr>
          </a:p>
        </p:txBody>
      </p:sp>
      <p:sp>
        <p:nvSpPr>
          <p:cNvPr id="579" name="Google Shape;579;p27"/>
          <p:cNvSpPr/>
          <p:nvPr/>
        </p:nvSpPr>
        <p:spPr>
          <a:xfrm>
            <a:off x="1371600" y="1371600"/>
            <a:ext cx="10241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900"/>
              <a:buFont typeface="Cambria"/>
              <a:buNone/>
            </a:pPr>
            <a:r>
              <a:rPr b="1" i="0" lang="en-US" sz="1900" u="none" cap="none" strike="noStrike">
                <a:solidFill>
                  <a:srgbClr val="16202B"/>
                </a:solidFill>
                <a:latin typeface="Cambria"/>
                <a:ea typeface="Cambria"/>
                <a:cs typeface="Cambria"/>
                <a:sym typeface="Cambria"/>
              </a:rPr>
              <a:t>¿Por qué el modelo pre-entrenado (TextBlob) superó a los que entrenaron ustedes?</a:t>
            </a:r>
            <a:endParaRPr b="0" i="0" sz="1900" u="none" cap="none" strike="noStrike">
              <a:solidFill>
                <a:schemeClr val="dk1"/>
              </a:solidFill>
              <a:latin typeface="Calibri"/>
              <a:ea typeface="Calibri"/>
              <a:cs typeface="Calibri"/>
              <a:sym typeface="Calibri"/>
            </a:endParaRPr>
          </a:p>
        </p:txBody>
      </p:sp>
      <p:sp>
        <p:nvSpPr>
          <p:cNvPr id="580" name="Google Shape;580;p27"/>
          <p:cNvSpPr/>
          <p:nvPr/>
        </p:nvSpPr>
        <p:spPr>
          <a:xfrm>
            <a:off x="548640" y="2423160"/>
            <a:ext cx="11064240" cy="3794760"/>
          </a:xfrm>
          <a:prstGeom prst="roundRect">
            <a:avLst>
              <a:gd fmla="val 192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7"/>
          <p:cNvSpPr/>
          <p:nvPr/>
        </p:nvSpPr>
        <p:spPr>
          <a:xfrm>
            <a:off x="868680" y="2697480"/>
            <a:ext cx="457200" cy="45720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7"/>
          <p:cNvSpPr/>
          <p:nvPr/>
        </p:nvSpPr>
        <p:spPr>
          <a:xfrm>
            <a:off x="822960" y="269748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a:t>
            </a:r>
            <a:endParaRPr b="0" i="0" sz="1500" u="none" cap="none" strike="noStrike">
              <a:solidFill>
                <a:schemeClr val="dk1"/>
              </a:solidFill>
              <a:latin typeface="Calibri"/>
              <a:ea typeface="Calibri"/>
              <a:cs typeface="Calibri"/>
              <a:sym typeface="Calibri"/>
            </a:endParaRPr>
          </a:p>
        </p:txBody>
      </p:sp>
      <p:sp>
        <p:nvSpPr>
          <p:cNvPr id="583" name="Google Shape;583;p27"/>
          <p:cNvSpPr/>
          <p:nvPr/>
        </p:nvSpPr>
        <p:spPr>
          <a:xfrm>
            <a:off x="1508760" y="2697480"/>
            <a:ext cx="9784080" cy="3383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TextBlob no depende del set de entrenamiento de 1.6M, así que no hereda su punto ciego estructural: la ausencia total de ejemplos neutrales.</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Los tres modelos propios tienen precision y recall = 0.00 en la clase neutral por diseño del experimento, no por un error de implementación o de ajuste.</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Esto no significa que TextBlob 'entienda' mejor el lenguaje de los tweets — es un resultado esperable dado cómo está armado el dataset, no una demostración de superioridad general de los modelos basados en reglas frente a los entrenados con datos.</a:t>
            </a:r>
            <a:endParaRPr b="0" i="0" sz="1350" u="none" cap="none" strike="noStrike">
              <a:solidFill>
                <a:schemeClr val="dk1"/>
              </a:solidFill>
              <a:latin typeface="Calibri"/>
              <a:ea typeface="Calibri"/>
              <a:cs typeface="Calibri"/>
              <a:sym typeface="Calibri"/>
            </a:endParaRPr>
          </a:p>
        </p:txBody>
      </p:sp>
      <p:sp>
        <p:nvSpPr>
          <p:cNvPr id="584" name="Google Shape;584;p27"/>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21</a:t>
            </a:r>
            <a:endParaRPr b="0" i="0" sz="1000" u="none" cap="none" strike="noStrike">
              <a:solidFill>
                <a:schemeClr val="dk1"/>
              </a:solidFill>
              <a:latin typeface="Calibri"/>
              <a:ea typeface="Calibri"/>
              <a:cs typeface="Calibri"/>
              <a:sym typeface="Calibri"/>
            </a:endParaRPr>
          </a:p>
        </p:txBody>
      </p:sp>
      <p:sp>
        <p:nvSpPr>
          <p:cNvPr id="585" name="Google Shape;585;p27"/>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7FA"/>
        </a:solidFill>
      </p:bgPr>
    </p:bg>
    <p:spTree>
      <p:nvGrpSpPr>
        <p:cNvPr id="590" name="Shape 590"/>
        <p:cNvGrpSpPr/>
        <p:nvPr/>
      </p:nvGrpSpPr>
      <p:grpSpPr>
        <a:xfrm>
          <a:off x="0" y="0"/>
          <a:ext cx="0" cy="0"/>
          <a:chOff x="0" y="0"/>
          <a:chExt cx="0" cy="0"/>
        </a:xfrm>
      </p:grpSpPr>
      <p:sp>
        <p:nvSpPr>
          <p:cNvPr id="591" name="Google Shape;591;p28"/>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PREGUNTA 3 DE 8</a:t>
            </a:r>
            <a:endParaRPr b="0" i="0" sz="1200" u="none" cap="none" strike="noStrike">
              <a:solidFill>
                <a:schemeClr val="dk1"/>
              </a:solidFill>
              <a:latin typeface="Calibri"/>
              <a:ea typeface="Calibri"/>
              <a:cs typeface="Calibri"/>
              <a:sym typeface="Calibri"/>
            </a:endParaRPr>
          </a:p>
        </p:txBody>
      </p:sp>
      <p:sp>
        <p:nvSpPr>
          <p:cNvPr id="592" name="Google Shape;592;p28"/>
          <p:cNvSpPr/>
          <p:nvPr/>
        </p:nvSpPr>
        <p:spPr>
          <a:xfrm>
            <a:off x="548640" y="1417320"/>
            <a:ext cx="640080" cy="6400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8"/>
          <p:cNvSpPr/>
          <p:nvPr/>
        </p:nvSpPr>
        <p:spPr>
          <a:xfrm>
            <a:off x="502920" y="1417320"/>
            <a:ext cx="7315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a:t>
            </a:r>
            <a:endParaRPr b="0" i="0" sz="2000" u="none" cap="none" strike="noStrike">
              <a:solidFill>
                <a:schemeClr val="dk1"/>
              </a:solidFill>
              <a:latin typeface="Calibri"/>
              <a:ea typeface="Calibri"/>
              <a:cs typeface="Calibri"/>
              <a:sym typeface="Calibri"/>
            </a:endParaRPr>
          </a:p>
        </p:txBody>
      </p:sp>
      <p:sp>
        <p:nvSpPr>
          <p:cNvPr id="594" name="Google Shape;594;p28"/>
          <p:cNvSpPr/>
          <p:nvPr/>
        </p:nvSpPr>
        <p:spPr>
          <a:xfrm>
            <a:off x="1371600" y="1371600"/>
            <a:ext cx="10241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900"/>
              <a:buFont typeface="Cambria"/>
              <a:buNone/>
            </a:pPr>
            <a:r>
              <a:rPr b="1" i="0" lang="en-US" sz="1900" u="none" cap="none" strike="noStrike">
                <a:solidFill>
                  <a:srgbClr val="16202B"/>
                </a:solidFill>
                <a:latin typeface="Cambria"/>
                <a:ea typeface="Cambria"/>
                <a:cs typeface="Cambria"/>
                <a:sym typeface="Cambria"/>
              </a:rPr>
              <a:t>¿Por qué no entrenaron con ejemplos de la clase neutral?</a:t>
            </a:r>
            <a:endParaRPr b="0" i="0" sz="1900" u="none" cap="none" strike="noStrike">
              <a:solidFill>
                <a:schemeClr val="dk1"/>
              </a:solidFill>
              <a:latin typeface="Calibri"/>
              <a:ea typeface="Calibri"/>
              <a:cs typeface="Calibri"/>
              <a:sym typeface="Calibri"/>
            </a:endParaRPr>
          </a:p>
        </p:txBody>
      </p:sp>
      <p:sp>
        <p:nvSpPr>
          <p:cNvPr id="595" name="Google Shape;595;p28"/>
          <p:cNvSpPr/>
          <p:nvPr/>
        </p:nvSpPr>
        <p:spPr>
          <a:xfrm>
            <a:off x="548640" y="2423160"/>
            <a:ext cx="11064240" cy="3794760"/>
          </a:xfrm>
          <a:prstGeom prst="roundRect">
            <a:avLst>
              <a:gd fmla="val 192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8"/>
          <p:cNvSpPr/>
          <p:nvPr/>
        </p:nvSpPr>
        <p:spPr>
          <a:xfrm>
            <a:off x="868680" y="2697480"/>
            <a:ext cx="457200" cy="45720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8"/>
          <p:cNvSpPr/>
          <p:nvPr/>
        </p:nvSpPr>
        <p:spPr>
          <a:xfrm>
            <a:off x="822960" y="269748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a:t>
            </a:r>
            <a:endParaRPr b="0" i="0" sz="1500" u="none" cap="none" strike="noStrike">
              <a:solidFill>
                <a:schemeClr val="dk1"/>
              </a:solidFill>
              <a:latin typeface="Calibri"/>
              <a:ea typeface="Calibri"/>
              <a:cs typeface="Calibri"/>
              <a:sym typeface="Calibri"/>
            </a:endParaRPr>
          </a:p>
        </p:txBody>
      </p:sp>
      <p:sp>
        <p:nvSpPr>
          <p:cNvPr id="598" name="Google Shape;598;p28"/>
          <p:cNvSpPr/>
          <p:nvPr/>
        </p:nvSpPr>
        <p:spPr>
          <a:xfrm>
            <a:off x="1508760" y="2697480"/>
            <a:ext cx="9784080" cy="3383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Porque no existen en el archivo de entrenamiento: Sentiment140 sólo incluye neutrales en el archivo de test manual (498 tweets), no es una decisión nuestra sino una limitación del dataset original.</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Alternativas para una próxima iteración: generar pseudo-etiquetas neutrales con reglas o umbrales de polaridad sobre el propio train, o incorporar otro corpus etiquetado que sí incluya la clase neutral.</a:t>
            </a:r>
            <a:endParaRPr b="0" i="0" sz="1350" u="none" cap="none" strike="noStrike">
              <a:solidFill>
                <a:schemeClr val="dk1"/>
              </a:solidFill>
              <a:latin typeface="Calibri"/>
              <a:ea typeface="Calibri"/>
              <a:cs typeface="Calibri"/>
              <a:sym typeface="Calibri"/>
            </a:endParaRPr>
          </a:p>
        </p:txBody>
      </p:sp>
      <p:sp>
        <p:nvSpPr>
          <p:cNvPr id="599" name="Google Shape;599;p28"/>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22</a:t>
            </a:r>
            <a:endParaRPr b="0" i="0" sz="1000" u="none" cap="none" strike="noStrike">
              <a:solidFill>
                <a:schemeClr val="dk1"/>
              </a:solidFill>
              <a:latin typeface="Calibri"/>
              <a:ea typeface="Calibri"/>
              <a:cs typeface="Calibri"/>
              <a:sym typeface="Calibri"/>
            </a:endParaRPr>
          </a:p>
        </p:txBody>
      </p:sp>
      <p:sp>
        <p:nvSpPr>
          <p:cNvPr id="600" name="Google Shape;600;p28"/>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7FA"/>
        </a:solidFill>
      </p:bgPr>
    </p:bg>
    <p:spTree>
      <p:nvGrpSpPr>
        <p:cNvPr id="605" name="Shape 605"/>
        <p:cNvGrpSpPr/>
        <p:nvPr/>
      </p:nvGrpSpPr>
      <p:grpSpPr>
        <a:xfrm>
          <a:off x="0" y="0"/>
          <a:ext cx="0" cy="0"/>
          <a:chOff x="0" y="0"/>
          <a:chExt cx="0" cy="0"/>
        </a:xfrm>
      </p:grpSpPr>
      <p:sp>
        <p:nvSpPr>
          <p:cNvPr id="606" name="Google Shape;606;p29"/>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PREGUNTA 4 DE 8</a:t>
            </a:r>
            <a:endParaRPr b="0" i="0" sz="1200" u="none" cap="none" strike="noStrike">
              <a:solidFill>
                <a:schemeClr val="dk1"/>
              </a:solidFill>
              <a:latin typeface="Calibri"/>
              <a:ea typeface="Calibri"/>
              <a:cs typeface="Calibri"/>
              <a:sym typeface="Calibri"/>
            </a:endParaRPr>
          </a:p>
        </p:txBody>
      </p:sp>
      <p:sp>
        <p:nvSpPr>
          <p:cNvPr id="607" name="Google Shape;607;p29"/>
          <p:cNvSpPr/>
          <p:nvPr/>
        </p:nvSpPr>
        <p:spPr>
          <a:xfrm>
            <a:off x="548640" y="1417320"/>
            <a:ext cx="640080" cy="6400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9"/>
          <p:cNvSpPr/>
          <p:nvPr/>
        </p:nvSpPr>
        <p:spPr>
          <a:xfrm>
            <a:off x="502920" y="1417320"/>
            <a:ext cx="7315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a:t>
            </a:r>
            <a:endParaRPr b="0" i="0" sz="2000" u="none" cap="none" strike="noStrike">
              <a:solidFill>
                <a:schemeClr val="dk1"/>
              </a:solidFill>
              <a:latin typeface="Calibri"/>
              <a:ea typeface="Calibri"/>
              <a:cs typeface="Calibri"/>
              <a:sym typeface="Calibri"/>
            </a:endParaRPr>
          </a:p>
        </p:txBody>
      </p:sp>
      <p:sp>
        <p:nvSpPr>
          <p:cNvPr id="609" name="Google Shape;609;p29"/>
          <p:cNvSpPr/>
          <p:nvPr/>
        </p:nvSpPr>
        <p:spPr>
          <a:xfrm>
            <a:off x="1371600" y="1371600"/>
            <a:ext cx="10241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900"/>
              <a:buFont typeface="Cambria"/>
              <a:buNone/>
            </a:pPr>
            <a:r>
              <a:rPr b="1" i="0" lang="en-US" sz="1900" u="none" cap="none" strike="noStrike">
                <a:solidFill>
                  <a:srgbClr val="16202B"/>
                </a:solidFill>
                <a:latin typeface="Cambria"/>
                <a:ea typeface="Cambria"/>
                <a:cs typeface="Cambria"/>
                <a:sym typeface="Cambria"/>
              </a:rPr>
              <a:t>¿Por qué el PPMI entre "good" y "bad" es casi tan alto como entre "good" y "great", si son antónimos?</a:t>
            </a:r>
            <a:endParaRPr b="0" i="0" sz="1900" u="none" cap="none" strike="noStrike">
              <a:solidFill>
                <a:schemeClr val="dk1"/>
              </a:solidFill>
              <a:latin typeface="Calibri"/>
              <a:ea typeface="Calibri"/>
              <a:cs typeface="Calibri"/>
              <a:sym typeface="Calibri"/>
            </a:endParaRPr>
          </a:p>
        </p:txBody>
      </p:sp>
      <p:sp>
        <p:nvSpPr>
          <p:cNvPr id="610" name="Google Shape;610;p29"/>
          <p:cNvSpPr/>
          <p:nvPr/>
        </p:nvSpPr>
        <p:spPr>
          <a:xfrm>
            <a:off x="548640" y="2423160"/>
            <a:ext cx="11064240" cy="3794760"/>
          </a:xfrm>
          <a:prstGeom prst="roundRect">
            <a:avLst>
              <a:gd fmla="val 192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9"/>
          <p:cNvSpPr/>
          <p:nvPr/>
        </p:nvSpPr>
        <p:spPr>
          <a:xfrm>
            <a:off x="868680" y="2697480"/>
            <a:ext cx="457200" cy="45720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9"/>
          <p:cNvSpPr/>
          <p:nvPr/>
        </p:nvSpPr>
        <p:spPr>
          <a:xfrm>
            <a:off x="822960" y="269748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a:t>
            </a:r>
            <a:endParaRPr b="0" i="0" sz="1500" u="none" cap="none" strike="noStrike">
              <a:solidFill>
                <a:schemeClr val="dk1"/>
              </a:solidFill>
              <a:latin typeface="Calibri"/>
              <a:ea typeface="Calibri"/>
              <a:cs typeface="Calibri"/>
              <a:sym typeface="Calibri"/>
            </a:endParaRPr>
          </a:p>
        </p:txBody>
      </p:sp>
      <p:sp>
        <p:nvSpPr>
          <p:cNvPr id="613" name="Google Shape;613;p29"/>
          <p:cNvSpPr/>
          <p:nvPr/>
        </p:nvSpPr>
        <p:spPr>
          <a:xfrm>
            <a:off x="1508760" y="2697480"/>
            <a:ext cx="9784080" cy="3383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Porque PPMI mide co-ocurrencia (si dos palabras aparecen juntas más de lo esperable por azar), no polaridad ni significado.</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"Good" y "bad" son ambas palabras de sentimiento muy frecuentes en el corpus y suelen aparecer juntas en frases contrastivas, como "it's good, not bad".</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La similitud coseno sí distingue la polaridad: good-bad (0.530) es sensiblemente más baja que good-great (0.686). Coseno y PPMI son métricas complementarias, no intercambiables — cada una responde una pregunta distinta.</a:t>
            </a:r>
            <a:endParaRPr b="0" i="0" sz="1350" u="none" cap="none" strike="noStrike">
              <a:solidFill>
                <a:schemeClr val="dk1"/>
              </a:solidFill>
              <a:latin typeface="Calibri"/>
              <a:ea typeface="Calibri"/>
              <a:cs typeface="Calibri"/>
              <a:sym typeface="Calibri"/>
            </a:endParaRPr>
          </a:p>
        </p:txBody>
      </p:sp>
      <p:sp>
        <p:nvSpPr>
          <p:cNvPr id="614" name="Google Shape;614;p29"/>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23</a:t>
            </a:r>
            <a:endParaRPr b="0" i="0" sz="1000" u="none" cap="none" strike="noStrike">
              <a:solidFill>
                <a:schemeClr val="dk1"/>
              </a:solidFill>
              <a:latin typeface="Calibri"/>
              <a:ea typeface="Calibri"/>
              <a:cs typeface="Calibri"/>
              <a:sym typeface="Calibri"/>
            </a:endParaRPr>
          </a:p>
        </p:txBody>
      </p:sp>
      <p:sp>
        <p:nvSpPr>
          <p:cNvPr id="615" name="Google Shape;615;p29"/>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7FA"/>
        </a:solidFill>
      </p:bgPr>
    </p:bg>
    <p:spTree>
      <p:nvGrpSpPr>
        <p:cNvPr id="620" name="Shape 620"/>
        <p:cNvGrpSpPr/>
        <p:nvPr/>
      </p:nvGrpSpPr>
      <p:grpSpPr>
        <a:xfrm>
          <a:off x="0" y="0"/>
          <a:ext cx="0" cy="0"/>
          <a:chOff x="0" y="0"/>
          <a:chExt cx="0" cy="0"/>
        </a:xfrm>
      </p:grpSpPr>
      <p:sp>
        <p:nvSpPr>
          <p:cNvPr id="621" name="Google Shape;621;p30"/>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PREGUNTA 5 DE 8</a:t>
            </a:r>
            <a:endParaRPr b="0" i="0" sz="1200" u="none" cap="none" strike="noStrike">
              <a:solidFill>
                <a:schemeClr val="dk1"/>
              </a:solidFill>
              <a:latin typeface="Calibri"/>
              <a:ea typeface="Calibri"/>
              <a:cs typeface="Calibri"/>
              <a:sym typeface="Calibri"/>
            </a:endParaRPr>
          </a:p>
        </p:txBody>
      </p:sp>
      <p:sp>
        <p:nvSpPr>
          <p:cNvPr id="622" name="Google Shape;622;p30"/>
          <p:cNvSpPr/>
          <p:nvPr/>
        </p:nvSpPr>
        <p:spPr>
          <a:xfrm>
            <a:off x="548640" y="1417320"/>
            <a:ext cx="640080" cy="6400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0"/>
          <p:cNvSpPr/>
          <p:nvPr/>
        </p:nvSpPr>
        <p:spPr>
          <a:xfrm>
            <a:off x="502920" y="1417320"/>
            <a:ext cx="7315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a:t>
            </a:r>
            <a:endParaRPr b="0" i="0" sz="2000" u="none" cap="none" strike="noStrike">
              <a:solidFill>
                <a:schemeClr val="dk1"/>
              </a:solidFill>
              <a:latin typeface="Calibri"/>
              <a:ea typeface="Calibri"/>
              <a:cs typeface="Calibri"/>
              <a:sym typeface="Calibri"/>
            </a:endParaRPr>
          </a:p>
        </p:txBody>
      </p:sp>
      <p:sp>
        <p:nvSpPr>
          <p:cNvPr id="624" name="Google Shape;624;p30"/>
          <p:cNvSpPr/>
          <p:nvPr/>
        </p:nvSpPr>
        <p:spPr>
          <a:xfrm>
            <a:off x="1371600" y="1371600"/>
            <a:ext cx="10241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900"/>
              <a:buFont typeface="Cambria"/>
              <a:buNone/>
            </a:pPr>
            <a:r>
              <a:rPr b="1" i="0" lang="en-US" sz="1900" u="none" cap="none" strike="noStrike">
                <a:solidFill>
                  <a:srgbClr val="16202B"/>
                </a:solidFill>
                <a:latin typeface="Cambria"/>
                <a:ea typeface="Cambria"/>
                <a:cs typeface="Cambria"/>
                <a:sym typeface="Cambria"/>
              </a:rPr>
              <a:t>¿Por qué usaron una muestra (100k / 5k tweets) para PPMI y UMAP en vez de las 1.6M filas completas?</a:t>
            </a:r>
            <a:endParaRPr b="0" i="0" sz="1900" u="none" cap="none" strike="noStrike">
              <a:solidFill>
                <a:schemeClr val="dk1"/>
              </a:solidFill>
              <a:latin typeface="Calibri"/>
              <a:ea typeface="Calibri"/>
              <a:cs typeface="Calibri"/>
              <a:sym typeface="Calibri"/>
            </a:endParaRPr>
          </a:p>
        </p:txBody>
      </p:sp>
      <p:sp>
        <p:nvSpPr>
          <p:cNvPr id="625" name="Google Shape;625;p30"/>
          <p:cNvSpPr/>
          <p:nvPr/>
        </p:nvSpPr>
        <p:spPr>
          <a:xfrm>
            <a:off x="548640" y="2423160"/>
            <a:ext cx="11064240" cy="3794760"/>
          </a:xfrm>
          <a:prstGeom prst="roundRect">
            <a:avLst>
              <a:gd fmla="val 192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0"/>
          <p:cNvSpPr/>
          <p:nvPr/>
        </p:nvSpPr>
        <p:spPr>
          <a:xfrm>
            <a:off x="868680" y="2697480"/>
            <a:ext cx="457200" cy="45720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0"/>
          <p:cNvSpPr/>
          <p:nvPr/>
        </p:nvSpPr>
        <p:spPr>
          <a:xfrm>
            <a:off x="822960" y="269748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a:t>
            </a:r>
            <a:endParaRPr b="0" i="0" sz="1500" u="none" cap="none" strike="noStrike">
              <a:solidFill>
                <a:schemeClr val="dk1"/>
              </a:solidFill>
              <a:latin typeface="Calibri"/>
              <a:ea typeface="Calibri"/>
              <a:cs typeface="Calibri"/>
              <a:sym typeface="Calibri"/>
            </a:endParaRPr>
          </a:p>
        </p:txBody>
      </p:sp>
      <p:sp>
        <p:nvSpPr>
          <p:cNvPr id="628" name="Google Shape;628;p30"/>
          <p:cNvSpPr/>
          <p:nvPr/>
        </p:nvSpPr>
        <p:spPr>
          <a:xfrm>
            <a:off x="1508760" y="2697480"/>
            <a:ext cx="9784080" cy="3383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La consigna exige usar el dataset completo para ENTRENAR Y EVALUAR modelos de clasificación — ese requisito no aplica a métricas de inspección de embeddings como PPMI o a visualizaciones como UMAP.</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La matriz de co-ocurrencias tiene tamaño vocabulario × vocabulario: construirla sobre 1.6M de tweets sería inviable en memoria en un entorno como Colab.</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Una muestra de 100k (PPMI) / 5k (UMAP) ya aporta suficiente señal estadística para el análisis cualitativo que se busca en estos pasos.</a:t>
            </a:r>
            <a:endParaRPr b="0" i="0" sz="1350" u="none" cap="none" strike="noStrike">
              <a:solidFill>
                <a:schemeClr val="dk1"/>
              </a:solidFill>
              <a:latin typeface="Calibri"/>
              <a:ea typeface="Calibri"/>
              <a:cs typeface="Calibri"/>
              <a:sym typeface="Calibri"/>
            </a:endParaRPr>
          </a:p>
        </p:txBody>
      </p:sp>
      <p:sp>
        <p:nvSpPr>
          <p:cNvPr id="629" name="Google Shape;629;p30"/>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24</a:t>
            </a:r>
            <a:endParaRPr b="0" i="0" sz="1000" u="none" cap="none" strike="noStrike">
              <a:solidFill>
                <a:schemeClr val="dk1"/>
              </a:solidFill>
              <a:latin typeface="Calibri"/>
              <a:ea typeface="Calibri"/>
              <a:cs typeface="Calibri"/>
              <a:sym typeface="Calibri"/>
            </a:endParaRPr>
          </a:p>
        </p:txBody>
      </p:sp>
      <p:sp>
        <p:nvSpPr>
          <p:cNvPr id="630" name="Google Shape;630;p30"/>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7FA"/>
        </a:solidFill>
      </p:bgPr>
    </p:bg>
    <p:spTree>
      <p:nvGrpSpPr>
        <p:cNvPr id="635" name="Shape 635"/>
        <p:cNvGrpSpPr/>
        <p:nvPr/>
      </p:nvGrpSpPr>
      <p:grpSpPr>
        <a:xfrm>
          <a:off x="0" y="0"/>
          <a:ext cx="0" cy="0"/>
          <a:chOff x="0" y="0"/>
          <a:chExt cx="0" cy="0"/>
        </a:xfrm>
      </p:grpSpPr>
      <p:sp>
        <p:nvSpPr>
          <p:cNvPr id="636" name="Google Shape;636;p31"/>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PREGUNTA 6 DE 8</a:t>
            </a:r>
            <a:endParaRPr b="0" i="0" sz="1200" u="none" cap="none" strike="noStrike">
              <a:solidFill>
                <a:schemeClr val="dk1"/>
              </a:solidFill>
              <a:latin typeface="Calibri"/>
              <a:ea typeface="Calibri"/>
              <a:cs typeface="Calibri"/>
              <a:sym typeface="Calibri"/>
            </a:endParaRPr>
          </a:p>
        </p:txBody>
      </p:sp>
      <p:sp>
        <p:nvSpPr>
          <p:cNvPr id="637" name="Google Shape;637;p31"/>
          <p:cNvSpPr/>
          <p:nvPr/>
        </p:nvSpPr>
        <p:spPr>
          <a:xfrm>
            <a:off x="548640" y="1417320"/>
            <a:ext cx="640080" cy="6400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1"/>
          <p:cNvSpPr/>
          <p:nvPr/>
        </p:nvSpPr>
        <p:spPr>
          <a:xfrm>
            <a:off x="502920" y="1417320"/>
            <a:ext cx="7315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a:t>
            </a:r>
            <a:endParaRPr b="0" i="0" sz="2000" u="none" cap="none" strike="noStrike">
              <a:solidFill>
                <a:schemeClr val="dk1"/>
              </a:solidFill>
              <a:latin typeface="Calibri"/>
              <a:ea typeface="Calibri"/>
              <a:cs typeface="Calibri"/>
              <a:sym typeface="Calibri"/>
            </a:endParaRPr>
          </a:p>
        </p:txBody>
      </p:sp>
      <p:sp>
        <p:nvSpPr>
          <p:cNvPr id="639" name="Google Shape;639;p31"/>
          <p:cNvSpPr/>
          <p:nvPr/>
        </p:nvSpPr>
        <p:spPr>
          <a:xfrm>
            <a:off x="1371600" y="1371600"/>
            <a:ext cx="10241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900"/>
              <a:buFont typeface="Cambria"/>
              <a:buNone/>
            </a:pPr>
            <a:r>
              <a:rPr b="1" i="0" lang="en-US" sz="1900" u="none" cap="none" strike="noStrike">
                <a:solidFill>
                  <a:srgbClr val="16202B"/>
                </a:solidFill>
                <a:latin typeface="Cambria"/>
                <a:ea typeface="Cambria"/>
                <a:cs typeface="Cambria"/>
                <a:sym typeface="Cambria"/>
              </a:rPr>
              <a:t>¿Por qué eligieron Skip-gram y no CBOW para entrenar el Word2Vec?</a:t>
            </a:r>
            <a:endParaRPr b="0" i="0" sz="1900" u="none" cap="none" strike="noStrike">
              <a:solidFill>
                <a:schemeClr val="dk1"/>
              </a:solidFill>
              <a:latin typeface="Calibri"/>
              <a:ea typeface="Calibri"/>
              <a:cs typeface="Calibri"/>
              <a:sym typeface="Calibri"/>
            </a:endParaRPr>
          </a:p>
        </p:txBody>
      </p:sp>
      <p:sp>
        <p:nvSpPr>
          <p:cNvPr id="640" name="Google Shape;640;p31"/>
          <p:cNvSpPr/>
          <p:nvPr/>
        </p:nvSpPr>
        <p:spPr>
          <a:xfrm>
            <a:off x="548640" y="2423160"/>
            <a:ext cx="11064240" cy="3794760"/>
          </a:xfrm>
          <a:prstGeom prst="roundRect">
            <a:avLst>
              <a:gd fmla="val 192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1"/>
          <p:cNvSpPr/>
          <p:nvPr/>
        </p:nvSpPr>
        <p:spPr>
          <a:xfrm>
            <a:off x="868680" y="2697480"/>
            <a:ext cx="457200" cy="45720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1"/>
          <p:cNvSpPr/>
          <p:nvPr/>
        </p:nvSpPr>
        <p:spPr>
          <a:xfrm>
            <a:off x="822960" y="269748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a:t>
            </a:r>
            <a:endParaRPr b="0" i="0" sz="1500" u="none" cap="none" strike="noStrike">
              <a:solidFill>
                <a:schemeClr val="dk1"/>
              </a:solidFill>
              <a:latin typeface="Calibri"/>
              <a:ea typeface="Calibri"/>
              <a:cs typeface="Calibri"/>
              <a:sym typeface="Calibri"/>
            </a:endParaRPr>
          </a:p>
        </p:txBody>
      </p:sp>
      <p:sp>
        <p:nvSpPr>
          <p:cNvPr id="643" name="Google Shape;643;p31"/>
          <p:cNvSpPr/>
          <p:nvPr/>
        </p:nvSpPr>
        <p:spPr>
          <a:xfrm>
            <a:off x="1508760" y="2697480"/>
            <a:ext cx="9784080" cy="3383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Skip-gram tiende a aprender mejor relaciones semánticas (por ejemplo, que "cat" está cerca de "pet"), que es justo lo que se necesita para las analogías y la similitud coseno que pide la consigna.</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CBOW entrena más rápido, pero tiende a ser mejor para relaciones morfológicas ("cat" ~ "cats") que para relaciones de significado.</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Se priorizó calidad semántica del espacio de embeddings por sobre velocidad de entrenamiento, dado que el corpus (1.6M de tweets) es lo suficientemente grande como para que el costo extra de Skip-gram sea asumible.</a:t>
            </a:r>
            <a:endParaRPr b="0" i="0" sz="1350" u="none" cap="none" strike="noStrike">
              <a:solidFill>
                <a:schemeClr val="dk1"/>
              </a:solidFill>
              <a:latin typeface="Calibri"/>
              <a:ea typeface="Calibri"/>
              <a:cs typeface="Calibri"/>
              <a:sym typeface="Calibri"/>
            </a:endParaRPr>
          </a:p>
        </p:txBody>
      </p:sp>
      <p:sp>
        <p:nvSpPr>
          <p:cNvPr id="644" name="Google Shape;644;p31"/>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25</a:t>
            </a:r>
            <a:endParaRPr b="0" i="0" sz="1000" u="none" cap="none" strike="noStrike">
              <a:solidFill>
                <a:schemeClr val="dk1"/>
              </a:solidFill>
              <a:latin typeface="Calibri"/>
              <a:ea typeface="Calibri"/>
              <a:cs typeface="Calibri"/>
              <a:sym typeface="Calibri"/>
            </a:endParaRPr>
          </a:p>
        </p:txBody>
      </p:sp>
      <p:sp>
        <p:nvSpPr>
          <p:cNvPr id="645" name="Google Shape;645;p31"/>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7FA"/>
        </a:solidFill>
      </p:bgPr>
    </p:bg>
    <p:spTree>
      <p:nvGrpSpPr>
        <p:cNvPr id="650" name="Shape 650"/>
        <p:cNvGrpSpPr/>
        <p:nvPr/>
      </p:nvGrpSpPr>
      <p:grpSpPr>
        <a:xfrm>
          <a:off x="0" y="0"/>
          <a:ext cx="0" cy="0"/>
          <a:chOff x="0" y="0"/>
          <a:chExt cx="0" cy="0"/>
        </a:xfrm>
      </p:grpSpPr>
      <p:sp>
        <p:nvSpPr>
          <p:cNvPr id="651" name="Google Shape;651;p32"/>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PREGUNTA 7 DE 8</a:t>
            </a:r>
            <a:endParaRPr b="0" i="0" sz="1200" u="none" cap="none" strike="noStrike">
              <a:solidFill>
                <a:schemeClr val="dk1"/>
              </a:solidFill>
              <a:latin typeface="Calibri"/>
              <a:ea typeface="Calibri"/>
              <a:cs typeface="Calibri"/>
              <a:sym typeface="Calibri"/>
            </a:endParaRPr>
          </a:p>
        </p:txBody>
      </p:sp>
      <p:sp>
        <p:nvSpPr>
          <p:cNvPr id="652" name="Google Shape;652;p32"/>
          <p:cNvSpPr/>
          <p:nvPr/>
        </p:nvSpPr>
        <p:spPr>
          <a:xfrm>
            <a:off x="548640" y="1417320"/>
            <a:ext cx="640080" cy="6400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2"/>
          <p:cNvSpPr/>
          <p:nvPr/>
        </p:nvSpPr>
        <p:spPr>
          <a:xfrm>
            <a:off x="502920" y="1417320"/>
            <a:ext cx="7315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a:t>
            </a:r>
            <a:endParaRPr b="0" i="0" sz="2000" u="none" cap="none" strike="noStrike">
              <a:solidFill>
                <a:schemeClr val="dk1"/>
              </a:solidFill>
              <a:latin typeface="Calibri"/>
              <a:ea typeface="Calibri"/>
              <a:cs typeface="Calibri"/>
              <a:sym typeface="Calibri"/>
            </a:endParaRPr>
          </a:p>
        </p:txBody>
      </p:sp>
      <p:sp>
        <p:nvSpPr>
          <p:cNvPr id="654" name="Google Shape;654;p32"/>
          <p:cNvSpPr/>
          <p:nvPr/>
        </p:nvSpPr>
        <p:spPr>
          <a:xfrm>
            <a:off x="1371600" y="1371600"/>
            <a:ext cx="10241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900"/>
              <a:buFont typeface="Cambria"/>
              <a:buNone/>
            </a:pPr>
            <a:r>
              <a:rPr b="1" i="0" lang="en-US" sz="1900" u="none" cap="none" strike="noStrike">
                <a:solidFill>
                  <a:srgbClr val="16202B"/>
                </a:solidFill>
                <a:latin typeface="Cambria"/>
                <a:ea typeface="Cambria"/>
                <a:cs typeface="Cambria"/>
                <a:sym typeface="Cambria"/>
              </a:rPr>
              <a:t>¿Por qué usaron SGDClassifier en vez de una LogisticRegression 'estándar'?</a:t>
            </a:r>
            <a:endParaRPr b="0" i="0" sz="1900" u="none" cap="none" strike="noStrike">
              <a:solidFill>
                <a:schemeClr val="dk1"/>
              </a:solidFill>
              <a:latin typeface="Calibri"/>
              <a:ea typeface="Calibri"/>
              <a:cs typeface="Calibri"/>
              <a:sym typeface="Calibri"/>
            </a:endParaRPr>
          </a:p>
        </p:txBody>
      </p:sp>
      <p:sp>
        <p:nvSpPr>
          <p:cNvPr id="655" name="Google Shape;655;p32"/>
          <p:cNvSpPr/>
          <p:nvPr/>
        </p:nvSpPr>
        <p:spPr>
          <a:xfrm>
            <a:off x="548640" y="2423160"/>
            <a:ext cx="11064240" cy="3794760"/>
          </a:xfrm>
          <a:prstGeom prst="roundRect">
            <a:avLst>
              <a:gd fmla="val 192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2"/>
          <p:cNvSpPr/>
          <p:nvPr/>
        </p:nvSpPr>
        <p:spPr>
          <a:xfrm>
            <a:off x="868680" y="2697480"/>
            <a:ext cx="457200" cy="45720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2"/>
          <p:cNvSpPr/>
          <p:nvPr/>
        </p:nvSpPr>
        <p:spPr>
          <a:xfrm>
            <a:off x="822960" y="269748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a:t>
            </a:r>
            <a:endParaRPr b="0" i="0" sz="1500" u="none" cap="none" strike="noStrike">
              <a:solidFill>
                <a:schemeClr val="dk1"/>
              </a:solidFill>
              <a:latin typeface="Calibri"/>
              <a:ea typeface="Calibri"/>
              <a:cs typeface="Calibri"/>
              <a:sym typeface="Calibri"/>
            </a:endParaRPr>
          </a:p>
        </p:txBody>
      </p:sp>
      <p:sp>
        <p:nvSpPr>
          <p:cNvPr id="658" name="Google Shape;658;p32"/>
          <p:cNvSpPr/>
          <p:nvPr/>
        </p:nvSpPr>
        <p:spPr>
          <a:xfrm>
            <a:off x="1508760" y="2697480"/>
            <a:ext cx="9784080" cy="3383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SGDClassifier con loss="log_loss" es, matemáticamente, una regresión logística — pero entrenada por descenso de gradiente estocástico (por lotes) en vez de optimizarse sobre toda la matriz de una sola vez.</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El solver por defecto de LogisticRegression (lbfgs) necesita mantener toda la matriz en memoria e iterar sobre ella completa, lo que es mucho más lento a la escala de 1.6M de filas por 100.000 columnas de TF-IDF.</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SGD escala considerablemente mejor en tiempo y memoria para este volumen de datos, sin cambiar la naturaleza del modelo subyacente.</a:t>
            </a:r>
            <a:endParaRPr b="0" i="0" sz="1350" u="none" cap="none" strike="noStrike">
              <a:solidFill>
                <a:schemeClr val="dk1"/>
              </a:solidFill>
              <a:latin typeface="Calibri"/>
              <a:ea typeface="Calibri"/>
              <a:cs typeface="Calibri"/>
              <a:sym typeface="Calibri"/>
            </a:endParaRPr>
          </a:p>
        </p:txBody>
      </p:sp>
      <p:sp>
        <p:nvSpPr>
          <p:cNvPr id="659" name="Google Shape;659;p32"/>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26</a:t>
            </a:r>
            <a:endParaRPr b="0" i="0" sz="1000" u="none" cap="none" strike="noStrike">
              <a:solidFill>
                <a:schemeClr val="dk1"/>
              </a:solidFill>
              <a:latin typeface="Calibri"/>
              <a:ea typeface="Calibri"/>
              <a:cs typeface="Calibri"/>
              <a:sym typeface="Calibri"/>
            </a:endParaRPr>
          </a:p>
        </p:txBody>
      </p:sp>
      <p:sp>
        <p:nvSpPr>
          <p:cNvPr id="660" name="Google Shape;660;p32"/>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7FA"/>
        </a:solidFill>
      </p:bgPr>
    </p:bg>
    <p:spTree>
      <p:nvGrpSpPr>
        <p:cNvPr id="665" name="Shape 665"/>
        <p:cNvGrpSpPr/>
        <p:nvPr/>
      </p:nvGrpSpPr>
      <p:grpSpPr>
        <a:xfrm>
          <a:off x="0" y="0"/>
          <a:ext cx="0" cy="0"/>
          <a:chOff x="0" y="0"/>
          <a:chExt cx="0" cy="0"/>
        </a:xfrm>
      </p:grpSpPr>
      <p:sp>
        <p:nvSpPr>
          <p:cNvPr id="666" name="Google Shape;666;p33"/>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BF0"/>
              </a:buClr>
              <a:buSzPts val="1200"/>
              <a:buFont typeface="Calibri"/>
              <a:buNone/>
            </a:pPr>
            <a:r>
              <a:rPr b="1" i="0" lang="en-US" sz="1200" u="none" cap="none" strike="noStrike">
                <a:solidFill>
                  <a:srgbClr val="1D9BF0"/>
                </a:solidFill>
                <a:latin typeface="Calibri"/>
                <a:ea typeface="Calibri"/>
                <a:cs typeface="Calibri"/>
                <a:sym typeface="Calibri"/>
              </a:rPr>
              <a:t>PREGUNTA 8 DE 8</a:t>
            </a:r>
            <a:endParaRPr b="0" i="0" sz="1200" u="none" cap="none" strike="noStrike">
              <a:solidFill>
                <a:schemeClr val="dk1"/>
              </a:solidFill>
              <a:latin typeface="Calibri"/>
              <a:ea typeface="Calibri"/>
              <a:cs typeface="Calibri"/>
              <a:sym typeface="Calibri"/>
            </a:endParaRPr>
          </a:p>
        </p:txBody>
      </p:sp>
      <p:sp>
        <p:nvSpPr>
          <p:cNvPr id="667" name="Google Shape;667;p33"/>
          <p:cNvSpPr/>
          <p:nvPr/>
        </p:nvSpPr>
        <p:spPr>
          <a:xfrm>
            <a:off x="548640" y="1417320"/>
            <a:ext cx="640080" cy="640080"/>
          </a:xfrm>
          <a:prstGeom prst="ellipse">
            <a:avLst/>
          </a:prstGeom>
          <a:solidFill>
            <a:srgbClr val="1D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3"/>
          <p:cNvSpPr/>
          <p:nvPr/>
        </p:nvSpPr>
        <p:spPr>
          <a:xfrm>
            <a:off x="502920" y="1417320"/>
            <a:ext cx="7315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a:t>
            </a:r>
            <a:endParaRPr b="0" i="0" sz="2000" u="none" cap="none" strike="noStrike">
              <a:solidFill>
                <a:schemeClr val="dk1"/>
              </a:solidFill>
              <a:latin typeface="Calibri"/>
              <a:ea typeface="Calibri"/>
              <a:cs typeface="Calibri"/>
              <a:sym typeface="Calibri"/>
            </a:endParaRPr>
          </a:p>
        </p:txBody>
      </p:sp>
      <p:sp>
        <p:nvSpPr>
          <p:cNvPr id="669" name="Google Shape;669;p33"/>
          <p:cNvSpPr/>
          <p:nvPr/>
        </p:nvSpPr>
        <p:spPr>
          <a:xfrm>
            <a:off x="1371600" y="1371600"/>
            <a:ext cx="10241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B"/>
              </a:buClr>
              <a:buSzPts val="1900"/>
              <a:buFont typeface="Cambria"/>
              <a:buNone/>
            </a:pPr>
            <a:r>
              <a:rPr b="1" i="0" lang="en-US" sz="1900" u="none" cap="none" strike="noStrike">
                <a:solidFill>
                  <a:srgbClr val="16202B"/>
                </a:solidFill>
                <a:latin typeface="Cambria"/>
                <a:ea typeface="Cambria"/>
                <a:cs typeface="Cambria"/>
                <a:sym typeface="Cambria"/>
              </a:rPr>
              <a:t>Si tuvieran más tiempo o recursos, ¿qué harían distinto?</a:t>
            </a:r>
            <a:endParaRPr b="0" i="0" sz="1900" u="none" cap="none" strike="noStrike">
              <a:solidFill>
                <a:schemeClr val="dk1"/>
              </a:solidFill>
              <a:latin typeface="Calibri"/>
              <a:ea typeface="Calibri"/>
              <a:cs typeface="Calibri"/>
              <a:sym typeface="Calibri"/>
            </a:endParaRPr>
          </a:p>
        </p:txBody>
      </p:sp>
      <p:sp>
        <p:nvSpPr>
          <p:cNvPr id="670" name="Google Shape;670;p33"/>
          <p:cNvSpPr/>
          <p:nvPr/>
        </p:nvSpPr>
        <p:spPr>
          <a:xfrm>
            <a:off x="548640" y="2423160"/>
            <a:ext cx="11064240" cy="3794760"/>
          </a:xfrm>
          <a:prstGeom prst="roundRect">
            <a:avLst>
              <a:gd fmla="val 1928" name="adj"/>
            </a:avLst>
          </a:prstGeom>
          <a:solidFill>
            <a:srgbClr val="FFFFFF"/>
          </a:solidFill>
          <a:ln>
            <a:noFill/>
          </a:ln>
          <a:effectLst>
            <a:outerShdw blurRad="127000" rotWithShape="0" algn="bl" dir="5400000" dist="38100">
              <a:srgbClr val="1B2733">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3"/>
          <p:cNvSpPr/>
          <p:nvPr/>
        </p:nvSpPr>
        <p:spPr>
          <a:xfrm>
            <a:off x="868680" y="2697480"/>
            <a:ext cx="457200" cy="457200"/>
          </a:xfrm>
          <a:prstGeom prst="ellipse">
            <a:avLst/>
          </a:prstGeom>
          <a:solidFill>
            <a:srgbClr val="00B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3"/>
          <p:cNvSpPr/>
          <p:nvPr/>
        </p:nvSpPr>
        <p:spPr>
          <a:xfrm>
            <a:off x="822960" y="2697480"/>
            <a:ext cx="548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a:t>
            </a:r>
            <a:endParaRPr b="0" i="0" sz="1500" u="none" cap="none" strike="noStrike">
              <a:solidFill>
                <a:schemeClr val="dk1"/>
              </a:solidFill>
              <a:latin typeface="Calibri"/>
              <a:ea typeface="Calibri"/>
              <a:cs typeface="Calibri"/>
              <a:sym typeface="Calibri"/>
            </a:endParaRPr>
          </a:p>
        </p:txBody>
      </p:sp>
      <p:sp>
        <p:nvSpPr>
          <p:cNvPr id="673" name="Google Shape;673;p33"/>
          <p:cNvSpPr/>
          <p:nvPr/>
        </p:nvSpPr>
        <p:spPr>
          <a:xfrm>
            <a:off x="1508760" y="2697480"/>
            <a:ext cx="9784080" cy="3383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Confirmar y, si hace falta, relanzar el entrenamiento final sobre el 1.6M completo (no una muestra), verificando que el accuracy suba hacia el rango esperado (~78-80%).</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Incorporar la clase neutral al entrenamiento, aunque sea con pseudo-etiquetas, para que los modelos propios dejen de tener un punto ciego estructural.</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Probar un modelo basado en Transformers (BERT/RoBERTa), que captura contexto, negaciones y sarcasmo mucho mejor que un promedio de embeddings o un vectorizador de bolsa de palabras.</a:t>
            </a:r>
            <a:endParaRPr b="0" i="0" sz="135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6202B"/>
              </a:buClr>
              <a:buSzPts val="1350"/>
              <a:buFont typeface="Calibri"/>
              <a:buChar char="▪"/>
            </a:pPr>
            <a:r>
              <a:rPr b="0" i="0" lang="en-US" sz="1350" u="none" cap="none" strike="noStrike">
                <a:solidFill>
                  <a:srgbClr val="16202B"/>
                </a:solidFill>
                <a:latin typeface="Calibri"/>
                <a:ea typeface="Calibri"/>
                <a:cs typeface="Calibri"/>
                <a:sym typeface="Calibri"/>
              </a:rPr>
              <a:t>Tunear hiperparámetros (max_features, ngram_range, vector_size, window, C) con Grid/Random Search en vez de valores elegidos a mano.</a:t>
            </a:r>
            <a:endParaRPr b="0" i="0" sz="1350" u="none" cap="none" strike="noStrike">
              <a:solidFill>
                <a:schemeClr val="dk1"/>
              </a:solidFill>
              <a:latin typeface="Calibri"/>
              <a:ea typeface="Calibri"/>
              <a:cs typeface="Calibri"/>
              <a:sym typeface="Calibri"/>
            </a:endParaRPr>
          </a:p>
        </p:txBody>
      </p:sp>
      <p:sp>
        <p:nvSpPr>
          <p:cNvPr id="674" name="Google Shape;674;p33"/>
          <p:cNvSpPr/>
          <p:nvPr/>
        </p:nvSpPr>
        <p:spPr>
          <a:xfrm>
            <a:off x="11368735" y="64008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27</a:t>
            </a:r>
            <a:endParaRPr b="0" i="0" sz="1000" u="none" cap="none" strike="noStrike">
              <a:solidFill>
                <a:schemeClr val="dk1"/>
              </a:solidFill>
              <a:latin typeface="Calibri"/>
              <a:ea typeface="Calibri"/>
              <a:cs typeface="Calibri"/>
              <a:sym typeface="Calibri"/>
            </a:endParaRPr>
          </a:p>
        </p:txBody>
      </p:sp>
      <p:sp>
        <p:nvSpPr>
          <p:cNvPr id="675" name="Google Shape;675;p33"/>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A0B3"/>
              </a:buClr>
              <a:buSzPts val="1000"/>
              <a:buFont typeface="Calibri"/>
              <a:buNone/>
            </a:pPr>
            <a:r>
              <a:rPr b="0" i="0" lang="en-US" sz="1000" u="none" cap="none" strike="noStrike">
                <a:solidFill>
                  <a:srgbClr val="8CA0B3"/>
                </a:solidFill>
                <a:latin typeface="Calibri"/>
                <a:ea typeface="Calibri"/>
                <a:cs typeface="Calibri"/>
                <a:sym typeface="Calibri"/>
              </a:rPr>
              <a:t>Sentiment140 · Segundo Sprint NLP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